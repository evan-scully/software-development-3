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91" r:id="rId21"/>
    <p:sldId id="276" r:id="rId22"/>
    <p:sldId id="277" r:id="rId23"/>
    <p:sldId id="278" r:id="rId24"/>
    <p:sldId id="279" r:id="rId25"/>
    <p:sldId id="280" r:id="rId26"/>
    <p:sldId id="292" r:id="rId27"/>
    <p:sldId id="293" r:id="rId28"/>
    <p:sldId id="281" r:id="rId29"/>
    <p:sldId id="282" r:id="rId30"/>
    <p:sldId id="283" r:id="rId31"/>
    <p:sldId id="284" r:id="rId32"/>
    <p:sldId id="285" r:id="rId33"/>
    <p:sldId id="286" r:id="rId34"/>
    <p:sldId id="294" r:id="rId35"/>
    <p:sldId id="295" r:id="rId36"/>
    <p:sldId id="287" r:id="rId37"/>
    <p:sldId id="288" r:id="rId38"/>
    <p:sldId id="289" r:id="rId39"/>
    <p:sldId id="290" r:id="rId40"/>
    <p:sldId id="296" r:id="rId41"/>
    <p:sldId id="297" r:id="rId42"/>
    <p:sldId id="298" r:id="rId43"/>
    <p:sldId id="29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483C3-9AF7-D508-038A-4FA6450B99E6}" v="291" dt="2019-09-12T13:03:43.977"/>
    <p1510:client id="{5DDB0C49-E6A2-3BC8-41C5-63EA28D19D35}" v="9" dt="2019-09-12T11:42:05.324"/>
    <p1510:client id="{EE03AD5F-D4FE-4813-923D-2EDDEAADE3D0}" v="1" dt="2020-09-25T10:07:44.9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a Curran" userId="S::mcurran@ait.ie::85a4fcd9-8298-441f-985a-93cb1fe6f819" providerId="AD" clId="Web-{1DF483C3-9AF7-D508-038A-4FA6450B99E6}"/>
    <pc:docChg chg="modSld">
      <pc:chgData name="Martina Curran" userId="S::mcurran@ait.ie::85a4fcd9-8298-441f-985a-93cb1fe6f819" providerId="AD" clId="Web-{1DF483C3-9AF7-D508-038A-4FA6450B99E6}" dt="2019-09-12T13:03:43.540" v="285" actId="20577"/>
      <pc:docMkLst>
        <pc:docMk/>
      </pc:docMkLst>
      <pc:sldChg chg="delSp modSp">
        <pc:chgData name="Martina Curran" userId="S::mcurran@ait.ie::85a4fcd9-8298-441f-985a-93cb1fe6f819" providerId="AD" clId="Web-{1DF483C3-9AF7-D508-038A-4FA6450B99E6}" dt="2019-09-12T13:02:39.697" v="250" actId="1076"/>
        <pc:sldMkLst>
          <pc:docMk/>
          <pc:sldMk cId="3158125261" sldId="296"/>
        </pc:sldMkLst>
        <pc:spChg chg="mod">
          <ac:chgData name="Martina Curran" userId="S::mcurran@ait.ie::85a4fcd9-8298-441f-985a-93cb1fe6f819" providerId="AD" clId="Web-{1DF483C3-9AF7-D508-038A-4FA6450B99E6}" dt="2019-09-12T13:00:16.729" v="83" actId="20577"/>
          <ac:spMkLst>
            <pc:docMk/>
            <pc:sldMk cId="3158125261" sldId="296"/>
            <ac:spMk id="2" creationId="{134E117F-8AF0-4DD8-BA46-AAC584EAF020}"/>
          </ac:spMkLst>
        </pc:spChg>
        <pc:spChg chg="mod">
          <ac:chgData name="Martina Curran" userId="S::mcurran@ait.ie::85a4fcd9-8298-441f-985a-93cb1fe6f819" providerId="AD" clId="Web-{1DF483C3-9AF7-D508-038A-4FA6450B99E6}" dt="2019-09-12T13:02:36.134" v="248" actId="20577"/>
          <ac:spMkLst>
            <pc:docMk/>
            <pc:sldMk cId="3158125261" sldId="296"/>
            <ac:spMk id="3" creationId="{F56A8472-B1F6-470A-AA4C-50B5664E5238}"/>
          </ac:spMkLst>
        </pc:spChg>
        <pc:spChg chg="del mod">
          <ac:chgData name="Martina Curran" userId="S::mcurran@ait.ie::85a4fcd9-8298-441f-985a-93cb1fe6f819" providerId="AD" clId="Web-{1DF483C3-9AF7-D508-038A-4FA6450B99E6}" dt="2019-09-12T12:58:34.293" v="3"/>
          <ac:spMkLst>
            <pc:docMk/>
            <pc:sldMk cId="3158125261" sldId="296"/>
            <ac:spMk id="5" creationId="{2A11E7B8-73D2-4B98-B20B-E8E5D8FD583D}"/>
          </ac:spMkLst>
        </pc:spChg>
        <pc:spChg chg="mod">
          <ac:chgData name="Martina Curran" userId="S::mcurran@ait.ie::85a4fcd9-8298-441f-985a-93cb1fe6f819" providerId="AD" clId="Web-{1DF483C3-9AF7-D508-038A-4FA6450B99E6}" dt="2019-09-12T12:58:39.231" v="4" actId="14100"/>
          <ac:spMkLst>
            <pc:docMk/>
            <pc:sldMk cId="3158125261" sldId="296"/>
            <ac:spMk id="6" creationId="{76F0315A-D5CC-47C2-B45F-067300AB4051}"/>
          </ac:spMkLst>
        </pc:spChg>
        <pc:spChg chg="del">
          <ac:chgData name="Martina Curran" userId="S::mcurran@ait.ie::85a4fcd9-8298-441f-985a-93cb1fe6f819" providerId="AD" clId="Web-{1DF483C3-9AF7-D508-038A-4FA6450B99E6}" dt="2019-09-12T12:58:22.793" v="0"/>
          <ac:spMkLst>
            <pc:docMk/>
            <pc:sldMk cId="3158125261" sldId="296"/>
            <ac:spMk id="7" creationId="{76DDA38E-0E51-4797-A5D9-3D8B9D8782EB}"/>
          </ac:spMkLst>
        </pc:spChg>
        <pc:picChg chg="mod">
          <ac:chgData name="Martina Curran" userId="S::mcurran@ait.ie::85a4fcd9-8298-441f-985a-93cb1fe6f819" providerId="AD" clId="Web-{1DF483C3-9AF7-D508-038A-4FA6450B99E6}" dt="2019-09-12T13:02:39.697" v="250" actId="1076"/>
          <ac:picMkLst>
            <pc:docMk/>
            <pc:sldMk cId="3158125261" sldId="296"/>
            <ac:picMk id="4" creationId="{899F99CA-BAC8-4084-9FDD-144064254079}"/>
          </ac:picMkLst>
        </pc:picChg>
      </pc:sldChg>
      <pc:sldChg chg="modSp">
        <pc:chgData name="Martina Curran" userId="S::mcurran@ait.ie::85a4fcd9-8298-441f-985a-93cb1fe6f819" providerId="AD" clId="Web-{1DF483C3-9AF7-D508-038A-4FA6450B99E6}" dt="2019-09-12T12:58:56.824" v="21" actId="20577"/>
        <pc:sldMkLst>
          <pc:docMk/>
          <pc:sldMk cId="3264633370" sldId="297"/>
        </pc:sldMkLst>
        <pc:spChg chg="mod">
          <ac:chgData name="Martina Curran" userId="S::mcurran@ait.ie::85a4fcd9-8298-441f-985a-93cb1fe6f819" providerId="AD" clId="Web-{1DF483C3-9AF7-D508-038A-4FA6450B99E6}" dt="2019-09-12T12:58:56.824" v="21" actId="20577"/>
          <ac:spMkLst>
            <pc:docMk/>
            <pc:sldMk cId="3264633370" sldId="297"/>
            <ac:spMk id="2" creationId="{337ACB77-E695-425F-BB49-7C5191576A0B}"/>
          </ac:spMkLst>
        </pc:spChg>
      </pc:sldChg>
      <pc:sldChg chg="delSp modSp">
        <pc:chgData name="Martina Curran" userId="S::mcurran@ait.ie::85a4fcd9-8298-441f-985a-93cb1fe6f819" providerId="AD" clId="Web-{1DF483C3-9AF7-D508-038A-4FA6450B99E6}" dt="2019-09-12T13:03:35.196" v="270" actId="20577"/>
        <pc:sldMkLst>
          <pc:docMk/>
          <pc:sldMk cId="3312724017" sldId="298"/>
        </pc:sldMkLst>
        <pc:spChg chg="mod">
          <ac:chgData name="Martina Curran" userId="S::mcurran@ait.ie::85a4fcd9-8298-441f-985a-93cb1fe6f819" providerId="AD" clId="Web-{1DF483C3-9AF7-D508-038A-4FA6450B99E6}" dt="2019-09-12T13:03:35.196" v="270" actId="20577"/>
          <ac:spMkLst>
            <pc:docMk/>
            <pc:sldMk cId="3312724017" sldId="298"/>
            <ac:spMk id="2" creationId="{DEDD4C09-1910-45DD-9307-9005C9C1EEDC}"/>
          </ac:spMkLst>
        </pc:spChg>
        <pc:spChg chg="del">
          <ac:chgData name="Martina Curran" userId="S::mcurran@ait.ie::85a4fcd9-8298-441f-985a-93cb1fe6f819" providerId="AD" clId="Web-{1DF483C3-9AF7-D508-038A-4FA6450B99E6}" dt="2019-09-12T13:03:15.071" v="251"/>
          <ac:spMkLst>
            <pc:docMk/>
            <pc:sldMk cId="3312724017" sldId="298"/>
            <ac:spMk id="3" creationId="{FA30902E-5D46-4069-9D88-C4CA16CF3721}"/>
          </ac:spMkLst>
        </pc:spChg>
      </pc:sldChg>
      <pc:sldChg chg="modSp">
        <pc:chgData name="Martina Curran" userId="S::mcurran@ait.ie::85a4fcd9-8298-441f-985a-93cb1fe6f819" providerId="AD" clId="Web-{1DF483C3-9AF7-D508-038A-4FA6450B99E6}" dt="2019-09-12T13:03:41.055" v="283" actId="20577"/>
        <pc:sldMkLst>
          <pc:docMk/>
          <pc:sldMk cId="2697797068" sldId="299"/>
        </pc:sldMkLst>
        <pc:spChg chg="mod">
          <ac:chgData name="Martina Curran" userId="S::mcurran@ait.ie::85a4fcd9-8298-441f-985a-93cb1fe6f819" providerId="AD" clId="Web-{1DF483C3-9AF7-D508-038A-4FA6450B99E6}" dt="2019-09-12T13:03:41.055" v="283" actId="20577"/>
          <ac:spMkLst>
            <pc:docMk/>
            <pc:sldMk cId="2697797068" sldId="299"/>
            <ac:spMk id="2" creationId="{8E0FF83E-7CE2-4BAB-8EFB-549ACD35F711}"/>
          </ac:spMkLst>
        </pc:spChg>
      </pc:sldChg>
    </pc:docChg>
  </pc:docChgLst>
  <pc:docChgLst>
    <pc:chgData name="Martina Curran" userId="S::mcurran@ait.ie::85a4fcd9-8298-441f-985a-93cb1fe6f819" providerId="AD" clId="Web-{5DDB0C49-E6A2-3BC8-41C5-63EA28D19D35}"/>
    <pc:docChg chg="addSld modSld">
      <pc:chgData name="Martina Curran" userId="S::mcurran@ait.ie::85a4fcd9-8298-441f-985a-93cb1fe6f819" providerId="AD" clId="Web-{5DDB0C49-E6A2-3BC8-41C5-63EA28D19D35}" dt="2019-09-12T11:42:05.324" v="7" actId="1076"/>
      <pc:docMkLst>
        <pc:docMk/>
      </pc:docMkLst>
      <pc:sldChg chg="addSp delSp modSp new">
        <pc:chgData name="Martina Curran" userId="S::mcurran@ait.ie::85a4fcd9-8298-441f-985a-93cb1fe6f819" providerId="AD" clId="Web-{5DDB0C49-E6A2-3BC8-41C5-63EA28D19D35}" dt="2019-09-12T11:42:05.324" v="7" actId="1076"/>
        <pc:sldMkLst>
          <pc:docMk/>
          <pc:sldMk cId="2697797068" sldId="299"/>
        </pc:sldMkLst>
        <pc:spChg chg="del">
          <ac:chgData name="Martina Curran" userId="S::mcurran@ait.ie::85a4fcd9-8298-441f-985a-93cb1fe6f819" providerId="AD" clId="Web-{5DDB0C49-E6A2-3BC8-41C5-63EA28D19D35}" dt="2019-09-12T11:41:41.121" v="1"/>
          <ac:spMkLst>
            <pc:docMk/>
            <pc:sldMk cId="2697797068" sldId="299"/>
            <ac:spMk id="3" creationId="{37058E93-342C-4760-8E00-99A266CC06AE}"/>
          </ac:spMkLst>
        </pc:spChg>
        <pc:spChg chg="add del mod">
          <ac:chgData name="Martina Curran" userId="S::mcurran@ait.ie::85a4fcd9-8298-441f-985a-93cb1fe6f819" providerId="AD" clId="Web-{5DDB0C49-E6A2-3BC8-41C5-63EA28D19D35}" dt="2019-09-12T11:41:57.808" v="3"/>
          <ac:spMkLst>
            <pc:docMk/>
            <pc:sldMk cId="2697797068" sldId="299"/>
            <ac:spMk id="7" creationId="{C695B44C-3D3B-4622-AACF-23EEB08CAC65}"/>
          </ac:spMkLst>
        </pc:spChg>
        <pc:picChg chg="add del mod ord">
          <ac:chgData name="Martina Curran" userId="S::mcurran@ait.ie::85a4fcd9-8298-441f-985a-93cb1fe6f819" providerId="AD" clId="Web-{5DDB0C49-E6A2-3BC8-41C5-63EA28D19D35}" dt="2019-09-12T11:41:43.027" v="2"/>
          <ac:picMkLst>
            <pc:docMk/>
            <pc:sldMk cId="2697797068" sldId="299"/>
            <ac:picMk id="4" creationId="{73314AF2-4628-4006-9648-47B047A2CFCE}"/>
          </ac:picMkLst>
        </pc:picChg>
        <pc:picChg chg="add mod ord">
          <ac:chgData name="Martina Curran" userId="S::mcurran@ait.ie::85a4fcd9-8298-441f-985a-93cb1fe6f819" providerId="AD" clId="Web-{5DDB0C49-E6A2-3BC8-41C5-63EA28D19D35}" dt="2019-09-12T11:42:05.324" v="7" actId="1076"/>
          <ac:picMkLst>
            <pc:docMk/>
            <pc:sldMk cId="2697797068" sldId="299"/>
            <ac:picMk id="8" creationId="{9EB5CB65-0356-4581-AD70-10A670BFE925}"/>
          </ac:picMkLst>
        </pc:picChg>
      </pc:sldChg>
    </pc:docChg>
  </pc:docChgLst>
  <pc:docChgLst>
    <pc:chgData name="Martina Curran" userId="S::mcurran@ait.ie::85a4fcd9-8298-441f-985a-93cb1fe6f819" providerId="AD" clId="Web-{EE03AD5F-D4FE-4813-923D-2EDDEAADE3D0}"/>
    <pc:docChg chg="modSld">
      <pc:chgData name="Martina Curran" userId="S::mcurran@ait.ie::85a4fcd9-8298-441f-985a-93cb1fe6f819" providerId="AD" clId="Web-{EE03AD5F-D4FE-4813-923D-2EDDEAADE3D0}" dt="2020-09-25T10:07:44.948" v="0" actId="14100"/>
      <pc:docMkLst>
        <pc:docMk/>
      </pc:docMkLst>
      <pc:sldChg chg="modSp">
        <pc:chgData name="Martina Curran" userId="S::mcurran@ait.ie::85a4fcd9-8298-441f-985a-93cb1fe6f819" providerId="AD" clId="Web-{EE03AD5F-D4FE-4813-923D-2EDDEAADE3D0}" dt="2020-09-25T10:07:44.948" v="0" actId="14100"/>
        <pc:sldMkLst>
          <pc:docMk/>
          <pc:sldMk cId="3264633370" sldId="297"/>
        </pc:sldMkLst>
        <pc:picChg chg="mod">
          <ac:chgData name="Martina Curran" userId="S::mcurran@ait.ie::85a4fcd9-8298-441f-985a-93cb1fe6f819" providerId="AD" clId="Web-{EE03AD5F-D4FE-4813-923D-2EDDEAADE3D0}" dt="2020-09-25T10:07:44.948" v="0" actId="14100"/>
          <ac:picMkLst>
            <pc:docMk/>
            <pc:sldMk cId="3264633370" sldId="297"/>
            <ac:picMk id="4" creationId="{26B6F515-36BA-43A3-9BDD-FA4D634133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D15A6-0673-4BAE-AA6E-834F52DAB3B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DA770-2EBF-4322-82CC-0FB41062A66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0986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DA770-2EBF-4322-82CC-0FB41062A663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771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1678-2D86-4DAE-847A-55B8AAA65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1B2CF-975D-4351-9694-6F1AFAA44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B876B-2BBD-4769-833E-D503374B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2A31-A755-4B89-9E8A-DC2074EA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F5046-4908-4092-97DA-BB710C05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57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9EF-45DF-43CB-B92F-7BBD6ACA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D277-84F6-428A-B396-8687052E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A558-0664-448D-BA15-FCA859AD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2868-56D3-4FDB-8897-19830FC2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A271-070A-4321-9A04-B951AC63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73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AB5C-EBFD-4E56-8963-D648BF2B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890B5-7649-4B23-828C-C28C84C7F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5F4E-409A-4954-899A-0C545322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4AC6F-9ECE-48D8-8ABD-54D5DB0B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6D47-CB26-4D81-897F-F840B153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789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16C9-C584-4BDD-88DF-DDC3FCE4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686E-1BD6-4FC9-BE5C-94C3CC27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3F51-9A68-42D5-B79F-2CEB3217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BC281-9E06-4C6B-A2D5-2267188F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E3BFB-7E00-48D5-849C-CDB782A7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D561-473C-4AC5-928F-29F225D0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4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055D-0FF3-4678-B9AE-A46C620B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F3C1A-4C0E-4EB8-96B8-8A8F0F77A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04207-17C4-459A-A3C8-007ED7040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13C8-58F1-44FB-BDFB-65977225F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CD19A-A846-4C99-8BD3-8911AD267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A3DFA-FCA8-403E-8164-3A9F5260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CD9E3-A548-464D-8063-249E902F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5957-7643-4F72-A1FC-14E62C7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6596-C70F-4B23-8192-74234FE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A9698-A2D2-4EA9-BEE3-21DEEB67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ACFD-DA4F-408B-A623-5B451F27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B1EEC-3EB0-4701-AFE6-AD468C9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44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6EEC7-E653-4288-B1A7-C2CAFFA8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6EFED-B925-4903-9BA0-526E6D6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5E58-B2CE-41DD-861C-2220E22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083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061E-BE60-4B35-9006-7C13398F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7D56-040E-47CA-8F46-0A16F7E1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EDAA-7971-4D0F-88CF-DDAC0997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7E2D-9D6C-4977-87F1-0C7B116F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4070-92C5-41D2-92E1-A90384A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36A9-8D9C-497E-8E13-272C4BF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137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2A43-46DA-492B-9F3B-CCCC16B3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E27B6-2EDE-45AA-9C71-EE637E536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5422-60E5-4EB9-BA9B-749EAB1ED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7829-CFAD-444D-9F28-09A1BC8A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95C8D-44E8-45E0-92B0-CD0D7D53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551FF-4C4C-433A-B1F1-B286ADB0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774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684D-CEF2-4F8F-AB87-8998E84F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EDC20-95A1-40ED-A4C8-801477970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F649-EEF3-4D9F-9ADA-DAB0EEEC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3AD7-B3D6-47F2-86A2-40B9BF3B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D4E4-3868-40AF-A75B-C12657A8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D7399-0E97-4804-9311-75631F187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05F4-E523-4848-AAB8-4341BEAEE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6C01-7D91-432F-B037-5422A2F5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7E6F-89F0-42FA-AACC-D211E5F3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E5C9-5637-46EA-9E55-1C3C132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124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2E40E-CD1F-4D6A-A5C0-6AB99C16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7F4A-CFF7-4801-B83C-7281DFA0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08A6-8026-43C5-A6DF-205DA7431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5572E-433B-4C3C-9216-427A579344CD}" type="datetimeFigureOut">
              <a:rPr lang="en-IE" smtClean="0"/>
              <a:t>25/09/2020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329E-D46A-4C6D-8C77-B38E8641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45A8-7D25-4353-B61B-79E8C939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751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D82C-2767-4733-92AF-759DBF7BA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/>
              <a:t>Software Development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E9A08-CC23-4E26-9F82-CC9B76F72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/>
              <a:t>Collections and Generics</a:t>
            </a:r>
          </a:p>
        </p:txBody>
      </p:sp>
    </p:spTree>
    <p:extLst>
      <p:ext uri="{BB962C8B-B14F-4D97-AF65-F5344CB8AC3E}">
        <p14:creationId xmlns:p14="http://schemas.microsoft.com/office/powerpoint/2010/main" val="256326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ED44-BAFE-41D3-B815-37ECA665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Java Collections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0672-107D-42C6-A01E-BAA9D72D3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Originally Java had Arrays, Vectors and </a:t>
            </a:r>
            <a:r>
              <a:rPr lang="en-IE" err="1"/>
              <a:t>Hashtables</a:t>
            </a:r>
            <a:endParaRPr lang="en-IE"/>
          </a:p>
          <a:p>
            <a:endParaRPr lang="en-IE"/>
          </a:p>
          <a:p>
            <a:r>
              <a:rPr lang="en-IE"/>
              <a:t>All different methods (</a:t>
            </a:r>
            <a:r>
              <a:rPr lang="en-IE" err="1"/>
              <a:t>addElement</a:t>
            </a:r>
            <a:r>
              <a:rPr lang="en-IE"/>
              <a:t>(), put() )</a:t>
            </a:r>
          </a:p>
          <a:p>
            <a:endParaRPr lang="en-IE"/>
          </a:p>
          <a:p>
            <a:r>
              <a:rPr lang="en-IE"/>
              <a:t>No common interface</a:t>
            </a:r>
          </a:p>
          <a:p>
            <a:endParaRPr lang="en-IE"/>
          </a:p>
          <a:p>
            <a:pPr marL="0" indent="0">
              <a:buNone/>
            </a:pPr>
            <a:endParaRPr lang="en-IE"/>
          </a:p>
          <a:p>
            <a:endParaRPr lang="en-IE"/>
          </a:p>
          <a:p>
            <a:pPr marL="0" indent="0">
              <a:buNone/>
            </a:pP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381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F4E5-E3B9-4B94-B0ED-B2810EEF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Collections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CD7D1-7FA9-4D94-A919-2A75DF1AA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E"/>
              <a:t>The collections framework was designed to meet several goals.</a:t>
            </a:r>
          </a:p>
          <a:p>
            <a:pPr>
              <a:defRPr/>
            </a:pPr>
            <a:endParaRPr lang="en-IE"/>
          </a:p>
          <a:p>
            <a:pPr marL="800100" lvl="1" indent="-342900">
              <a:defRPr/>
            </a:pPr>
            <a:r>
              <a:rPr lang="en-IE"/>
              <a:t>The framework is high-performance. The implementations for the fundamental collections (dynamic arrays, linked lists, trees, and </a:t>
            </a:r>
            <a:r>
              <a:rPr lang="en-IE" err="1"/>
              <a:t>hashtables</a:t>
            </a:r>
            <a:r>
              <a:rPr lang="en-IE"/>
              <a:t>) are highly efficient.</a:t>
            </a:r>
          </a:p>
          <a:p>
            <a:pPr marL="800100" lvl="1" indent="-342900">
              <a:defRPr/>
            </a:pPr>
            <a:endParaRPr lang="en-IE"/>
          </a:p>
          <a:p>
            <a:pPr marL="800100" lvl="1" indent="-342900">
              <a:defRPr/>
            </a:pPr>
            <a:r>
              <a:rPr lang="en-IE"/>
              <a:t>The framework allows different types of collections to work in a similar manner and with a high degree of interoperability. Consistent API – </a:t>
            </a:r>
            <a:r>
              <a:rPr lang="en-IE" b="1"/>
              <a:t>some</a:t>
            </a:r>
            <a:r>
              <a:rPr lang="en-IE"/>
              <a:t> common set of methods</a:t>
            </a:r>
          </a:p>
          <a:p>
            <a:pPr lvl="1">
              <a:defRPr/>
            </a:pPr>
            <a:endParaRPr lang="en-IE"/>
          </a:p>
          <a:p>
            <a:pPr marL="800100" lvl="1" indent="-342900">
              <a:defRPr/>
            </a:pPr>
            <a:r>
              <a:rPr lang="en-IE"/>
              <a:t>Extending and/or adapting a collection is easy.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454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F490-4ED1-47B1-9BBE-DDE52645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Collections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7559-9A8C-4F2E-92F8-151422DBE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Provides a unified architecture to store and manipulate a group of objects.</a:t>
            </a:r>
          </a:p>
          <a:p>
            <a:endParaRPr lang="en-IE"/>
          </a:p>
          <a:p>
            <a:r>
              <a:rPr lang="en-IE"/>
              <a:t>A Java collection framework includes the following:</a:t>
            </a:r>
          </a:p>
          <a:p>
            <a:pPr lvl="1"/>
            <a:r>
              <a:rPr lang="en-IE" sz="2800"/>
              <a:t>Interfaces</a:t>
            </a:r>
          </a:p>
          <a:p>
            <a:pPr lvl="1"/>
            <a:r>
              <a:rPr lang="en-IE" sz="2800"/>
              <a:t>Classes</a:t>
            </a:r>
          </a:p>
          <a:p>
            <a:pPr lvl="1"/>
            <a:r>
              <a:rPr lang="en-IE" sz="2800"/>
              <a:t>Algorithm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2925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5A5A-8B2B-4658-A213-B0564BB4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B8480-D05A-46AB-BC42-FE7E4E15B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abstract data types that represent collections (more on this later)</a:t>
            </a:r>
          </a:p>
          <a:p>
            <a:endParaRPr lang="en-IE"/>
          </a:p>
          <a:p>
            <a:r>
              <a:rPr lang="en-IE"/>
              <a:t>Allow Java collections to be manipulated independently from the details of their representation.</a:t>
            </a:r>
          </a:p>
          <a:p>
            <a:endParaRPr lang="en-IE"/>
          </a:p>
          <a:p>
            <a:r>
              <a:rPr lang="en-IE"/>
              <a:t>Form a hierarchy in object-oriented programming languages.</a:t>
            </a:r>
          </a:p>
          <a:p>
            <a:endParaRPr lang="en-IE"/>
          </a:p>
          <a:p>
            <a:r>
              <a:rPr lang="en-IE"/>
              <a:t>E.g. List, Set</a:t>
            </a:r>
          </a:p>
        </p:txBody>
      </p:sp>
    </p:spTree>
    <p:extLst>
      <p:ext uri="{BB962C8B-B14F-4D97-AF65-F5344CB8AC3E}">
        <p14:creationId xmlns:p14="http://schemas.microsoft.com/office/powerpoint/2010/main" val="126182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6087-4366-435A-BFDC-D0C8B3B3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DB179-06B7-4713-B7E8-AC5FEFBC6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Concrete implementation of the collection interfaces.</a:t>
            </a:r>
          </a:p>
          <a:p>
            <a:endParaRPr lang="en-IE"/>
          </a:p>
          <a:p>
            <a:r>
              <a:rPr lang="en-IE"/>
              <a:t>Refers to the data structures that are used again and again.</a:t>
            </a:r>
          </a:p>
          <a:p>
            <a:endParaRPr lang="en-IE"/>
          </a:p>
          <a:p>
            <a:r>
              <a:rPr lang="en-IE"/>
              <a:t>E.g. </a:t>
            </a:r>
            <a:r>
              <a:rPr lang="en-IE" err="1"/>
              <a:t>ArrayList</a:t>
            </a:r>
            <a:r>
              <a:rPr lang="en-IE"/>
              <a:t>, LinkedList, HashSet, </a:t>
            </a:r>
            <a:r>
              <a:rPr lang="en-IE" err="1"/>
              <a:t>LinkedHashSet</a:t>
            </a:r>
            <a:endParaRPr lang="en-IE"/>
          </a:p>
          <a:p>
            <a:endParaRPr lang="en-IE"/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6815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C9DE0-331A-42CE-BB50-234F890D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847C8-0E22-42BA-9539-056D8500B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/>
              <a:t>Methods which are used to perform operations on objects that implement collection interfaces</a:t>
            </a:r>
          </a:p>
          <a:p>
            <a:endParaRPr lang="en-IE"/>
          </a:p>
          <a:p>
            <a:r>
              <a:rPr lang="en-IE"/>
              <a:t>E.g. searching and sorting</a:t>
            </a:r>
          </a:p>
          <a:p>
            <a:endParaRPr lang="en-IE"/>
          </a:p>
          <a:p>
            <a:r>
              <a:rPr lang="en-IE"/>
              <a:t>Algorithms are polymorphic in nature </a:t>
            </a:r>
          </a:p>
          <a:p>
            <a:pPr lvl="1"/>
            <a:r>
              <a:rPr lang="en-IE"/>
              <a:t>the same method can be used on many different implementations of the appropriate collection interface</a:t>
            </a:r>
          </a:p>
          <a:p>
            <a:pPr lvl="1"/>
            <a:r>
              <a:rPr lang="en-IE"/>
              <a:t>algorithms are reusable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29545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A5AC-7002-458C-B990-15C61CD0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Hierarchy (Interfaces Only)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E2D4AB-1DF6-4B65-805E-886BCD0AB2B6}"/>
              </a:ext>
            </a:extLst>
          </p:cNvPr>
          <p:cNvSpPr/>
          <p:nvPr/>
        </p:nvSpPr>
        <p:spPr>
          <a:xfrm>
            <a:off x="2023404" y="1459865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Collection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9508C-9966-47D3-9D1D-C6A5B3F4F945}"/>
              </a:ext>
            </a:extLst>
          </p:cNvPr>
          <p:cNvSpPr/>
          <p:nvPr/>
        </p:nvSpPr>
        <p:spPr>
          <a:xfrm>
            <a:off x="968326" y="2512097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002A65-72D5-48D6-900C-C491E99E4EA5}"/>
              </a:ext>
            </a:extLst>
          </p:cNvPr>
          <p:cNvSpPr/>
          <p:nvPr/>
        </p:nvSpPr>
        <p:spPr>
          <a:xfrm>
            <a:off x="3289495" y="2512097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792C0-E541-4086-B63B-75581079917C}"/>
              </a:ext>
            </a:extLst>
          </p:cNvPr>
          <p:cNvSpPr/>
          <p:nvPr/>
        </p:nvSpPr>
        <p:spPr>
          <a:xfrm>
            <a:off x="3289495" y="4705643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err="1"/>
              <a:t>SortedSet</a:t>
            </a:r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86737E-ABB7-4936-976C-1574C1CA2D7F}"/>
              </a:ext>
            </a:extLst>
          </p:cNvPr>
          <p:cNvSpPr/>
          <p:nvPr/>
        </p:nvSpPr>
        <p:spPr>
          <a:xfrm>
            <a:off x="8396068" y="1459865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Map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B17123-115D-48A4-8376-F0003FD5AA88}"/>
              </a:ext>
            </a:extLst>
          </p:cNvPr>
          <p:cNvSpPr/>
          <p:nvPr/>
        </p:nvSpPr>
        <p:spPr>
          <a:xfrm>
            <a:off x="9282332" y="2616810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err="1"/>
              <a:t>SortedMap</a:t>
            </a:r>
            <a:endParaRPr lang="en-I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6A05B3-7B78-4A5D-B368-BE9F9D4535C5}"/>
              </a:ext>
            </a:extLst>
          </p:cNvPr>
          <p:cNvCxnSpPr/>
          <p:nvPr/>
        </p:nvCxnSpPr>
        <p:spPr>
          <a:xfrm flipV="1">
            <a:off x="2023403" y="2152357"/>
            <a:ext cx="466579" cy="35974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D187D5-F379-4401-B2C7-04B53FABE764}"/>
              </a:ext>
            </a:extLst>
          </p:cNvPr>
          <p:cNvCxnSpPr>
            <a:cxnSpLocks/>
          </p:cNvCxnSpPr>
          <p:nvPr/>
        </p:nvCxnSpPr>
        <p:spPr>
          <a:xfrm flipH="1" flipV="1">
            <a:off x="3289496" y="2152358"/>
            <a:ext cx="1085556" cy="3597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4F1464-C4FA-4055-8A20-37BA5499AF93}"/>
              </a:ext>
            </a:extLst>
          </p:cNvPr>
          <p:cNvCxnSpPr>
            <a:cxnSpLocks/>
          </p:cNvCxnSpPr>
          <p:nvPr/>
        </p:nvCxnSpPr>
        <p:spPr>
          <a:xfrm flipH="1" flipV="1">
            <a:off x="4029222" y="3177555"/>
            <a:ext cx="399761" cy="15280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F4F9AA2-858E-4CA6-A563-00C774B2E170}"/>
              </a:ext>
            </a:extLst>
          </p:cNvPr>
          <p:cNvCxnSpPr>
            <a:cxnSpLocks/>
          </p:cNvCxnSpPr>
          <p:nvPr/>
        </p:nvCxnSpPr>
        <p:spPr>
          <a:xfrm flipH="1" flipV="1">
            <a:off x="9594166" y="2152357"/>
            <a:ext cx="341140" cy="48426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2CFF6EB-3A4E-4630-8D54-ECA50ED68D3B}"/>
              </a:ext>
            </a:extLst>
          </p:cNvPr>
          <p:cNvSpPr txBox="1"/>
          <p:nvPr/>
        </p:nvSpPr>
        <p:spPr>
          <a:xfrm>
            <a:off x="7582486" y="6231988"/>
            <a:ext cx="2553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/>
              <a:t>*Not full set of interfaces</a:t>
            </a:r>
          </a:p>
        </p:txBody>
      </p:sp>
    </p:spTree>
    <p:extLst>
      <p:ext uri="{BB962C8B-B14F-4D97-AF65-F5344CB8AC3E}">
        <p14:creationId xmlns:p14="http://schemas.microsoft.com/office/powerpoint/2010/main" val="204343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A5AC-7002-458C-B990-15C61CD0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Hierarchy (With Classes)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E2D4AB-1DF6-4B65-805E-886BCD0AB2B6}"/>
              </a:ext>
            </a:extLst>
          </p:cNvPr>
          <p:cNvSpPr/>
          <p:nvPr/>
        </p:nvSpPr>
        <p:spPr>
          <a:xfrm>
            <a:off x="2023404" y="1459865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Collection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9508C-9966-47D3-9D1D-C6A5B3F4F945}"/>
              </a:ext>
            </a:extLst>
          </p:cNvPr>
          <p:cNvSpPr/>
          <p:nvPr/>
        </p:nvSpPr>
        <p:spPr>
          <a:xfrm>
            <a:off x="968326" y="2512097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002A65-72D5-48D6-900C-C491E99E4EA5}"/>
              </a:ext>
            </a:extLst>
          </p:cNvPr>
          <p:cNvSpPr/>
          <p:nvPr/>
        </p:nvSpPr>
        <p:spPr>
          <a:xfrm>
            <a:off x="3289495" y="2512097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792C0-E541-4086-B63B-75581079917C}"/>
              </a:ext>
            </a:extLst>
          </p:cNvPr>
          <p:cNvSpPr/>
          <p:nvPr/>
        </p:nvSpPr>
        <p:spPr>
          <a:xfrm>
            <a:off x="3289495" y="4705643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err="1"/>
              <a:t>SortedSet</a:t>
            </a:r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86737E-ABB7-4936-976C-1574C1CA2D7F}"/>
              </a:ext>
            </a:extLst>
          </p:cNvPr>
          <p:cNvSpPr/>
          <p:nvPr/>
        </p:nvSpPr>
        <p:spPr>
          <a:xfrm>
            <a:off x="8396068" y="1459865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Map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B17123-115D-48A4-8376-F0003FD5AA88}"/>
              </a:ext>
            </a:extLst>
          </p:cNvPr>
          <p:cNvSpPr/>
          <p:nvPr/>
        </p:nvSpPr>
        <p:spPr>
          <a:xfrm>
            <a:off x="9282332" y="2616810"/>
            <a:ext cx="1772529" cy="692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err="1"/>
              <a:t>SortedMap</a:t>
            </a:r>
            <a:endParaRPr lang="en-I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4F1BC9-88D2-4882-99B4-801700080AD4}"/>
              </a:ext>
            </a:extLst>
          </p:cNvPr>
          <p:cNvSpPr/>
          <p:nvPr/>
        </p:nvSpPr>
        <p:spPr>
          <a:xfrm>
            <a:off x="250875" y="4087348"/>
            <a:ext cx="1772529" cy="6924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err="1"/>
              <a:t>ArrayList</a:t>
            </a:r>
            <a:endParaRPr lang="en-I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EA269F-3BF2-4F8A-ACED-F59ECA77CE89}"/>
              </a:ext>
            </a:extLst>
          </p:cNvPr>
          <p:cNvSpPr/>
          <p:nvPr/>
        </p:nvSpPr>
        <p:spPr>
          <a:xfrm>
            <a:off x="1249680" y="5159009"/>
            <a:ext cx="1772529" cy="6924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LinkedList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42CB51-05CD-43D5-A843-A1A5AB7E1149}"/>
              </a:ext>
            </a:extLst>
          </p:cNvPr>
          <p:cNvSpPr/>
          <p:nvPr/>
        </p:nvSpPr>
        <p:spPr>
          <a:xfrm>
            <a:off x="4678092" y="3639991"/>
            <a:ext cx="1772529" cy="6924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HashSet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951130-4DC2-401E-BB88-D7978B948A02}"/>
              </a:ext>
            </a:extLst>
          </p:cNvPr>
          <p:cNvSpPr/>
          <p:nvPr/>
        </p:nvSpPr>
        <p:spPr>
          <a:xfrm>
            <a:off x="4175758" y="5846384"/>
            <a:ext cx="1772529" cy="6924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err="1"/>
              <a:t>TreeSet</a:t>
            </a:r>
            <a:endParaRPr lang="en-I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AFB00E-0136-4E55-94FB-C08CC889573C}"/>
              </a:ext>
            </a:extLst>
          </p:cNvPr>
          <p:cNvSpPr/>
          <p:nvPr/>
        </p:nvSpPr>
        <p:spPr>
          <a:xfrm>
            <a:off x="7214378" y="3625803"/>
            <a:ext cx="1772529" cy="6924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HashMap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557E37-58B0-411F-9FF7-141CA88A9B48}"/>
              </a:ext>
            </a:extLst>
          </p:cNvPr>
          <p:cNvSpPr/>
          <p:nvPr/>
        </p:nvSpPr>
        <p:spPr>
          <a:xfrm>
            <a:off x="9870830" y="4705643"/>
            <a:ext cx="1772529" cy="6924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err="1"/>
              <a:t>TreeMap</a:t>
            </a:r>
            <a:endParaRPr lang="en-I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6A05B3-7B78-4A5D-B368-BE9F9D4535C5}"/>
              </a:ext>
            </a:extLst>
          </p:cNvPr>
          <p:cNvCxnSpPr/>
          <p:nvPr/>
        </p:nvCxnSpPr>
        <p:spPr>
          <a:xfrm flipV="1">
            <a:off x="2023403" y="2152357"/>
            <a:ext cx="466579" cy="35974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331349-2D37-4EE6-B550-9CE068894319}"/>
              </a:ext>
            </a:extLst>
          </p:cNvPr>
          <p:cNvCxnSpPr>
            <a:cxnSpLocks/>
          </p:cNvCxnSpPr>
          <p:nvPr/>
        </p:nvCxnSpPr>
        <p:spPr>
          <a:xfrm flipV="1">
            <a:off x="501747" y="3204589"/>
            <a:ext cx="635391" cy="86844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ED005A-185C-47F0-938D-33D2143282BA}"/>
              </a:ext>
            </a:extLst>
          </p:cNvPr>
          <p:cNvCxnSpPr>
            <a:cxnSpLocks/>
          </p:cNvCxnSpPr>
          <p:nvPr/>
        </p:nvCxnSpPr>
        <p:spPr>
          <a:xfrm flipH="1" flipV="1">
            <a:off x="2135944" y="3204589"/>
            <a:ext cx="42204" cy="1961235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D187D5-F379-4401-B2C7-04B53FABE764}"/>
              </a:ext>
            </a:extLst>
          </p:cNvPr>
          <p:cNvCxnSpPr>
            <a:cxnSpLocks/>
          </p:cNvCxnSpPr>
          <p:nvPr/>
        </p:nvCxnSpPr>
        <p:spPr>
          <a:xfrm flipH="1" flipV="1">
            <a:off x="3289496" y="2152358"/>
            <a:ext cx="1085556" cy="3597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28A983-682D-4037-B461-FFB8BD94A0A6}"/>
              </a:ext>
            </a:extLst>
          </p:cNvPr>
          <p:cNvCxnSpPr>
            <a:cxnSpLocks/>
          </p:cNvCxnSpPr>
          <p:nvPr/>
        </p:nvCxnSpPr>
        <p:spPr>
          <a:xfrm flipH="1" flipV="1">
            <a:off x="4977623" y="3170123"/>
            <a:ext cx="747925" cy="46868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4F1464-C4FA-4055-8A20-37BA5499AF93}"/>
              </a:ext>
            </a:extLst>
          </p:cNvPr>
          <p:cNvCxnSpPr>
            <a:cxnSpLocks/>
          </p:cNvCxnSpPr>
          <p:nvPr/>
        </p:nvCxnSpPr>
        <p:spPr>
          <a:xfrm flipH="1" flipV="1">
            <a:off x="4029222" y="3177555"/>
            <a:ext cx="399761" cy="15280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B6622BC-BD2E-446F-8AD8-948CDB7B853D}"/>
              </a:ext>
            </a:extLst>
          </p:cNvPr>
          <p:cNvCxnSpPr>
            <a:cxnSpLocks/>
          </p:cNvCxnSpPr>
          <p:nvPr/>
        </p:nvCxnSpPr>
        <p:spPr>
          <a:xfrm flipH="1" flipV="1">
            <a:off x="4678092" y="5398135"/>
            <a:ext cx="453680" cy="46686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F4F9AA2-858E-4CA6-A563-00C774B2E170}"/>
              </a:ext>
            </a:extLst>
          </p:cNvPr>
          <p:cNvCxnSpPr>
            <a:cxnSpLocks/>
          </p:cNvCxnSpPr>
          <p:nvPr/>
        </p:nvCxnSpPr>
        <p:spPr>
          <a:xfrm flipH="1" flipV="1">
            <a:off x="9594166" y="2152357"/>
            <a:ext cx="341140" cy="48426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D410E59-5AAD-4986-80DF-C29A2A01CE8D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100643" y="2152357"/>
            <a:ext cx="621326" cy="1473446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7C608C9-F93B-498A-B6F9-52A5D4BD73BB}"/>
              </a:ext>
            </a:extLst>
          </p:cNvPr>
          <p:cNvCxnSpPr>
            <a:cxnSpLocks/>
            <a:endCxn id="13" idx="2"/>
          </p:cNvCxnSpPr>
          <p:nvPr/>
        </p:nvCxnSpPr>
        <p:spPr>
          <a:xfrm flipH="1" flipV="1">
            <a:off x="10168597" y="3309302"/>
            <a:ext cx="970666" cy="139634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CFE336B-FC52-40B4-BF21-D3D2496CFCE8}"/>
              </a:ext>
            </a:extLst>
          </p:cNvPr>
          <p:cNvSpPr txBox="1"/>
          <p:nvPr/>
        </p:nvSpPr>
        <p:spPr>
          <a:xfrm>
            <a:off x="7582486" y="6231988"/>
            <a:ext cx="3506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/>
              <a:t>*Not full set of interfaces or classes</a:t>
            </a:r>
          </a:p>
        </p:txBody>
      </p:sp>
    </p:spTree>
    <p:extLst>
      <p:ext uri="{BB962C8B-B14F-4D97-AF65-F5344CB8AC3E}">
        <p14:creationId xmlns:p14="http://schemas.microsoft.com/office/powerpoint/2010/main" val="350683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C23B-BA4B-4028-9052-9FD89F63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Interfaces: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B51BF-BEF7-4546-B76F-89D8A0BED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/>
              <a:t>Collection</a:t>
            </a:r>
          </a:p>
          <a:p>
            <a:pPr lvl="1"/>
            <a:r>
              <a:rPr lang="en-IE"/>
              <a:t>the root of the collection hierarchy</a:t>
            </a:r>
          </a:p>
          <a:p>
            <a:pPr lvl="1"/>
            <a:r>
              <a:rPr lang="en-IE"/>
              <a:t>represents group of objects known as Elements</a:t>
            </a:r>
          </a:p>
          <a:p>
            <a:pPr marL="457200" lvl="1" indent="0">
              <a:buNone/>
            </a:pPr>
            <a:endParaRPr lang="en-IE"/>
          </a:p>
          <a:p>
            <a:r>
              <a:rPr lang="en-IE"/>
              <a:t>Set</a:t>
            </a:r>
          </a:p>
          <a:p>
            <a:pPr lvl="1"/>
            <a:r>
              <a:rPr lang="en-IE"/>
              <a:t>a collection that cannot contain duplicate elements</a:t>
            </a:r>
          </a:p>
          <a:p>
            <a:pPr lvl="1"/>
            <a:endParaRPr lang="en-IE"/>
          </a:p>
          <a:p>
            <a:r>
              <a:rPr lang="en-IE" err="1"/>
              <a:t>SortedSet</a:t>
            </a:r>
            <a:endParaRPr lang="en-IE"/>
          </a:p>
          <a:p>
            <a:pPr lvl="1"/>
            <a:r>
              <a:rPr lang="en-IE"/>
              <a:t>Set that maintains its elements in ascending order</a:t>
            </a:r>
          </a:p>
          <a:p>
            <a:pPr marL="457200" lvl="1" indent="0">
              <a:buNone/>
            </a:pPr>
            <a:endParaRPr lang="en-IE"/>
          </a:p>
          <a:p>
            <a:r>
              <a:rPr lang="en-IE"/>
              <a:t>List</a:t>
            </a:r>
          </a:p>
          <a:p>
            <a:pPr lvl="1"/>
            <a:r>
              <a:rPr lang="en-IE"/>
              <a:t>an ordered collection that can contain duplicate elements</a:t>
            </a:r>
          </a:p>
          <a:p>
            <a:pPr marL="457200" lvl="1" indent="0">
              <a:buNone/>
            </a:pPr>
            <a:endParaRPr lang="en-IE"/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4622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21A2-6BF7-49A7-B112-7345A02C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Interfaces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F506-580A-4D71-9CB1-2C3386918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/>
              <a:t>Map</a:t>
            </a:r>
          </a:p>
          <a:p>
            <a:pPr lvl="1"/>
            <a:r>
              <a:rPr lang="en-IE"/>
              <a:t>an object that maps keys to values.</a:t>
            </a:r>
          </a:p>
          <a:p>
            <a:pPr lvl="1"/>
            <a:r>
              <a:rPr lang="en-IE"/>
              <a:t>Cannot contain duplicate keys: one key can map to at most one value</a:t>
            </a:r>
          </a:p>
          <a:p>
            <a:pPr marL="457200" lvl="1" indent="0">
              <a:buNone/>
            </a:pPr>
            <a:endParaRPr lang="en-IE"/>
          </a:p>
          <a:p>
            <a:r>
              <a:rPr lang="en-IE" err="1"/>
              <a:t>SortedMap</a:t>
            </a:r>
            <a:endParaRPr lang="en-IE"/>
          </a:p>
          <a:p>
            <a:pPr lvl="1"/>
            <a:r>
              <a:rPr lang="en-IE"/>
              <a:t>Map that maintains mapping in ascending key order</a:t>
            </a:r>
          </a:p>
        </p:txBody>
      </p:sp>
    </p:spTree>
    <p:extLst>
      <p:ext uri="{BB962C8B-B14F-4D97-AF65-F5344CB8AC3E}">
        <p14:creationId xmlns:p14="http://schemas.microsoft.com/office/powerpoint/2010/main" val="375722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BF03-1E77-4C1A-A998-DF415F36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Collections, Interfaces and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D4D25-900D-4703-8798-AA8620FEC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/>
              <a:t>The Java </a:t>
            </a:r>
            <a:r>
              <a:rPr lang="en-US" altLang="en-US" i="1"/>
              <a:t>collection framework</a:t>
            </a:r>
            <a:r>
              <a:rPr lang="en-US" altLang="en-US"/>
              <a:t> is interface based: each class in the collection implements one of the interfaces defined by the collection framework.</a:t>
            </a:r>
          </a:p>
          <a:p>
            <a:endParaRPr lang="en-US" altLang="en-US"/>
          </a:p>
          <a:p>
            <a:r>
              <a:rPr lang="en-US" altLang="en-US"/>
              <a:t>Collections store individual objects as elements. </a:t>
            </a:r>
          </a:p>
          <a:p>
            <a:endParaRPr lang="en-US" altLang="en-US"/>
          </a:p>
          <a:p>
            <a:r>
              <a:rPr lang="en-US" altLang="en-US"/>
              <a:t>Maps store pairs of key objects and value objects in a way that lets you retrieve a value object based on its key.</a:t>
            </a:r>
          </a:p>
          <a:p>
            <a:endParaRPr lang="en-IE" altLang="en-US"/>
          </a:p>
          <a:p>
            <a:r>
              <a:rPr lang="en-US" altLang="en-US"/>
              <a:t>Although there are many classes in the Java collection framework, the most commonly used classes are the </a:t>
            </a:r>
            <a:r>
              <a:rPr lang="en-US" altLang="en-US" err="1"/>
              <a:t>ArrayList</a:t>
            </a:r>
            <a:r>
              <a:rPr lang="en-US" altLang="en-US"/>
              <a:t>, LinkedList, HashSet, HashMap, and </a:t>
            </a:r>
            <a:r>
              <a:rPr lang="en-US" altLang="en-US" err="1"/>
              <a:t>TreeMap</a:t>
            </a:r>
            <a:r>
              <a:rPr lang="en-US" altLang="en-US"/>
              <a:t> classes.</a:t>
            </a:r>
            <a:endParaRPr lang="en-IE" altLang="en-US"/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08953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7BBC-36B0-4777-95B0-C5676FD4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7A52A-79A7-4182-95C6-DE51B8E53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/>
              <a:t>Often, you will want to cycle through the elements in a collection. For example, you might want to display each element.</a:t>
            </a:r>
          </a:p>
          <a:p>
            <a:endParaRPr lang="en-IE" altLang="en-US"/>
          </a:p>
          <a:p>
            <a:r>
              <a:rPr lang="en-IE" altLang="en-US"/>
              <a:t>The easiest way to do this is to employ an iterator, which is an object that implements either the Iterator or the </a:t>
            </a:r>
            <a:r>
              <a:rPr lang="en-IE" altLang="en-US" err="1"/>
              <a:t>ListIterator</a:t>
            </a:r>
            <a:r>
              <a:rPr lang="en-IE" altLang="en-US"/>
              <a:t> interface.</a:t>
            </a:r>
          </a:p>
          <a:p>
            <a:endParaRPr lang="en-IE" altLang="en-US"/>
          </a:p>
          <a:p>
            <a:r>
              <a:rPr lang="en-IE" altLang="en-US"/>
              <a:t>Iterator enables you to cycle through a collection, obtaining or removing elements. </a:t>
            </a:r>
            <a:r>
              <a:rPr lang="en-IE" altLang="en-US" err="1"/>
              <a:t>ListIterator</a:t>
            </a:r>
            <a:r>
              <a:rPr lang="en-IE" altLang="en-US"/>
              <a:t> extends Iterator to allow bidirectional traversal of a list and the modification of elements.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0753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83EA-E508-4532-BDE3-B8B9F390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Iterators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6E25-9DBB-44EB-ACDC-31A01FA4A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/>
              <a:t>Before you can access a collection through an iterator, you must obtain one. </a:t>
            </a:r>
          </a:p>
          <a:p>
            <a:endParaRPr lang="en-IE" altLang="en-US"/>
          </a:p>
          <a:p>
            <a:r>
              <a:rPr lang="en-IE" altLang="en-US"/>
              <a:t>Each of the collection classes provides an iterator( ) method that returns an iterator to the start of the collection. </a:t>
            </a:r>
          </a:p>
          <a:p>
            <a:endParaRPr lang="en-IE" altLang="en-US"/>
          </a:p>
          <a:p>
            <a:r>
              <a:rPr lang="en-IE" altLang="en-US"/>
              <a:t>By using this iterator object, you can access each element in the collection, one element at a time.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4419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0338-F89E-4380-B5D5-3C820DC0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Iterators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D4C5F-2C86-4BAF-9AEF-14E771ACD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altLang="en-US"/>
              <a:t>In general, to use an iterator to cycle through the contents of a collection, follow these steps:</a:t>
            </a:r>
          </a:p>
          <a:p>
            <a:endParaRPr lang="en-IE" altLang="en-US"/>
          </a:p>
          <a:p>
            <a:r>
              <a:rPr lang="en-IE" altLang="en-US"/>
              <a:t>Obtain an iterator to the start of the collection by calling the collection's iterator( ) method.</a:t>
            </a:r>
          </a:p>
          <a:p>
            <a:endParaRPr lang="en-IE" altLang="en-US"/>
          </a:p>
          <a:p>
            <a:r>
              <a:rPr lang="en-IE" altLang="en-US"/>
              <a:t>Set up a loop that makes a call to </a:t>
            </a:r>
            <a:r>
              <a:rPr lang="en-IE" altLang="en-US" err="1"/>
              <a:t>hasNext</a:t>
            </a:r>
            <a:r>
              <a:rPr lang="en-IE" altLang="en-US"/>
              <a:t>( ). Have the loop iterate as long as </a:t>
            </a:r>
            <a:r>
              <a:rPr lang="en-IE" altLang="en-US" err="1"/>
              <a:t>hasNext</a:t>
            </a:r>
            <a:r>
              <a:rPr lang="en-IE" altLang="en-US"/>
              <a:t>( ) returns true.</a:t>
            </a:r>
          </a:p>
          <a:p>
            <a:endParaRPr lang="en-IE" altLang="en-US"/>
          </a:p>
          <a:p>
            <a:r>
              <a:rPr lang="en-IE" altLang="en-US"/>
              <a:t>Within the loop, obtain each element by calling next( ).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6151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2A70-AC99-4078-9BB1-31C20272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b="1"/>
              <a:t>The Methods Declared by Iterator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97AB-3A5E-4825-B153-A4C550358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err="1"/>
              <a:t>boolean</a:t>
            </a:r>
            <a:r>
              <a:rPr lang="en-IE"/>
              <a:t> </a:t>
            </a:r>
            <a:r>
              <a:rPr lang="en-IE" err="1"/>
              <a:t>hasNext</a:t>
            </a:r>
            <a:r>
              <a:rPr lang="en-IE"/>
              <a:t>()</a:t>
            </a:r>
          </a:p>
          <a:p>
            <a:pPr lvl="1"/>
            <a:r>
              <a:rPr lang="en-IE"/>
              <a:t>Returns true if there is another element, otherwise returns false</a:t>
            </a:r>
          </a:p>
          <a:p>
            <a:endParaRPr lang="en-IE"/>
          </a:p>
          <a:p>
            <a:r>
              <a:rPr lang="en-IE"/>
              <a:t>Object next()      //note capital O – it’s an actual object! </a:t>
            </a:r>
          </a:p>
          <a:p>
            <a:pPr lvl="1"/>
            <a:r>
              <a:rPr lang="en-IE"/>
              <a:t>Returns the next element, if there isn’t one, throws “</a:t>
            </a:r>
            <a:r>
              <a:rPr lang="en-IE" err="1"/>
              <a:t>NoSuchElementException</a:t>
            </a:r>
            <a:r>
              <a:rPr lang="en-IE"/>
              <a:t>”</a:t>
            </a:r>
          </a:p>
          <a:p>
            <a:pPr lvl="1"/>
            <a:endParaRPr lang="en-IE"/>
          </a:p>
          <a:p>
            <a:r>
              <a:rPr lang="en-IE"/>
              <a:t>void remove()</a:t>
            </a:r>
          </a:p>
          <a:p>
            <a:pPr lvl="1"/>
            <a:r>
              <a:rPr lang="en-IE"/>
              <a:t>Removes the current element. If called without next() being called before it, throws “</a:t>
            </a:r>
            <a:r>
              <a:rPr lang="en-IE" err="1"/>
              <a:t>IllegalStateException</a:t>
            </a:r>
            <a:r>
              <a:rPr lang="en-IE"/>
              <a:t>”</a:t>
            </a:r>
          </a:p>
          <a:p>
            <a:pPr lvl="1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325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2F5A-862F-4340-9999-3EF8DBC3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The Methods Declared by </a:t>
            </a:r>
            <a:r>
              <a:rPr lang="en-IE" err="1"/>
              <a:t>ListIterator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DEC5-D96A-457A-854D-7F50B5762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/>
              <a:t>Including the methods in the previous slide…</a:t>
            </a:r>
          </a:p>
          <a:p>
            <a:endParaRPr lang="en-IE"/>
          </a:p>
          <a:p>
            <a:r>
              <a:rPr lang="en-IE"/>
              <a:t>void add(Object o)</a:t>
            </a:r>
          </a:p>
          <a:p>
            <a:pPr lvl="1"/>
            <a:r>
              <a:rPr lang="en-IE"/>
              <a:t>Inserts o into the list in front of the element that will be returned by the next call to next()</a:t>
            </a:r>
          </a:p>
          <a:p>
            <a:r>
              <a:rPr lang="en-IE" err="1"/>
              <a:t>boolean</a:t>
            </a:r>
            <a:r>
              <a:rPr lang="en-IE"/>
              <a:t> </a:t>
            </a:r>
            <a:r>
              <a:rPr lang="en-IE" err="1"/>
              <a:t>hasPrevious</a:t>
            </a:r>
            <a:r>
              <a:rPr lang="en-IE"/>
              <a:t>()</a:t>
            </a:r>
          </a:p>
          <a:p>
            <a:pPr lvl="1"/>
            <a:r>
              <a:rPr lang="en-IE"/>
              <a:t>Returns true if there is a previous element, otherwise returns false</a:t>
            </a:r>
          </a:p>
          <a:p>
            <a:r>
              <a:rPr lang="en-IE"/>
              <a:t>int </a:t>
            </a:r>
            <a:r>
              <a:rPr lang="en-IE" err="1"/>
              <a:t>nextIndex</a:t>
            </a:r>
            <a:r>
              <a:rPr lang="en-IE"/>
              <a:t>()</a:t>
            </a:r>
          </a:p>
          <a:p>
            <a:pPr lvl="1"/>
            <a:r>
              <a:rPr lang="en-IE"/>
              <a:t>Returns the index of the next element. If there is not a next element, returns the size of the list</a:t>
            </a:r>
          </a:p>
        </p:txBody>
      </p:sp>
    </p:spTree>
    <p:extLst>
      <p:ext uri="{BB962C8B-B14F-4D97-AF65-F5344CB8AC3E}">
        <p14:creationId xmlns:p14="http://schemas.microsoft.com/office/powerpoint/2010/main" val="4007794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2F5A-862F-4340-9999-3EF8DBC3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The Methods Declared by </a:t>
            </a:r>
            <a:r>
              <a:rPr lang="en-IE" err="1"/>
              <a:t>ListIterator</a:t>
            </a:r>
            <a:r>
              <a:rPr lang="en-IE"/>
              <a:t>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DEC5-D96A-457A-854D-7F50B5762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/>
              <a:t>Object previous()</a:t>
            </a:r>
          </a:p>
          <a:p>
            <a:pPr lvl="1"/>
            <a:r>
              <a:rPr lang="en-IE"/>
              <a:t>Returns the previous element. A “</a:t>
            </a:r>
            <a:r>
              <a:rPr lang="en-IE" err="1"/>
              <a:t>NoSuchElementException</a:t>
            </a:r>
            <a:r>
              <a:rPr lang="en-IE"/>
              <a:t>” is thrown if there is not a previous element</a:t>
            </a:r>
          </a:p>
          <a:p>
            <a:r>
              <a:rPr lang="en-IE"/>
              <a:t>int </a:t>
            </a:r>
            <a:r>
              <a:rPr lang="en-IE" err="1"/>
              <a:t>previousIndex</a:t>
            </a:r>
            <a:r>
              <a:rPr lang="en-IE"/>
              <a:t>()</a:t>
            </a:r>
          </a:p>
          <a:p>
            <a:pPr lvl="1"/>
            <a:r>
              <a:rPr lang="en-IE"/>
              <a:t>Returns the index of the previous element. If there is not a previous element, returns -1</a:t>
            </a:r>
          </a:p>
          <a:p>
            <a:r>
              <a:rPr lang="en-IE"/>
              <a:t>void set(Object o)</a:t>
            </a:r>
          </a:p>
          <a:p>
            <a:pPr lvl="1"/>
            <a:r>
              <a:rPr lang="en-IE"/>
              <a:t>Assigns o to the current element. This is the element last returned by a call to either next() or previous()</a:t>
            </a:r>
          </a:p>
          <a:p>
            <a:pPr lvl="1"/>
            <a:endParaRPr lang="en-IE"/>
          </a:p>
          <a:p>
            <a:r>
              <a:rPr lang="en-IE"/>
              <a:t>Note the return types for all of these methods…..</a:t>
            </a:r>
          </a:p>
        </p:txBody>
      </p:sp>
    </p:spTree>
    <p:extLst>
      <p:ext uri="{BB962C8B-B14F-4D97-AF65-F5344CB8AC3E}">
        <p14:creationId xmlns:p14="http://schemas.microsoft.com/office/powerpoint/2010/main" val="1924229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6885-A809-4589-A0B2-1874371C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Iterator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461E0-EB8A-46BA-9AE8-D21F5BE7A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import </a:t>
            </a:r>
            <a:r>
              <a:rPr lang="en-IE" err="1"/>
              <a:t>java.util</a:t>
            </a:r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0D74A-2D80-4BE7-93BB-3329CE4DF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47" y="2400428"/>
            <a:ext cx="5250783" cy="34161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F4EDAC-5BA6-4FC6-851B-502436F21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00428"/>
            <a:ext cx="5574742" cy="341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39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C7D1-5B2D-4977-A3BD-42CA0FE0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Iterator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4BF57-2A50-4613-ABE9-882063DAA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094" y="1825625"/>
            <a:ext cx="4658705" cy="4351338"/>
          </a:xfrm>
        </p:spPr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A5DE88-CEAD-428C-B9A8-9B276CD78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727524"/>
            <a:ext cx="5856894" cy="283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68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712C-C839-4048-9E8C-7618CB62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D255-DFD0-4158-B666-BF2A749D6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defRPr/>
            </a:pPr>
            <a:r>
              <a:rPr lang="en-IE"/>
              <a:t>The List interface extends Collection and declares the </a:t>
            </a:r>
            <a:r>
              <a:rPr lang="en-IE" err="1"/>
              <a:t>behavior</a:t>
            </a:r>
            <a:r>
              <a:rPr lang="en-IE"/>
              <a:t> of a collection that stores a sequence of elements</a:t>
            </a:r>
          </a:p>
          <a:p>
            <a:pPr marL="342900" indent="-342900"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Elements can be inserted or accessed by their position in the list, using a zero-based index</a:t>
            </a:r>
          </a:p>
          <a:p>
            <a:pPr marL="342900" indent="-342900"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A list may contain duplicate elements</a:t>
            </a:r>
          </a:p>
          <a:p>
            <a:pPr marL="342900" indent="-342900"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In addition to the methods defined by Collection, List defines some of its own, which are summarized in the following slides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5621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7F8B-BB6E-4190-8D06-D1F47E0F5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The List Interface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44B80-7030-4934-9601-905ADAA41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/>
              <a:t>void add(int index, Object o)</a:t>
            </a:r>
          </a:p>
          <a:p>
            <a:pPr lvl="1"/>
            <a:r>
              <a:rPr lang="en-IE"/>
              <a:t>Inserts o into the list at the index passed in. Any pre-existing element at or after this point are moved up one. No elements are overwritten.</a:t>
            </a:r>
          </a:p>
          <a:p>
            <a:r>
              <a:rPr lang="en-IE" err="1"/>
              <a:t>boolean</a:t>
            </a:r>
            <a:r>
              <a:rPr lang="en-IE"/>
              <a:t> </a:t>
            </a:r>
            <a:r>
              <a:rPr lang="en-IE" err="1"/>
              <a:t>addAll</a:t>
            </a:r>
            <a:r>
              <a:rPr lang="en-IE"/>
              <a:t>(int index, Collection c)</a:t>
            </a:r>
          </a:p>
          <a:p>
            <a:pPr lvl="1"/>
            <a:r>
              <a:rPr lang="en-IE"/>
              <a:t>Inserts all elements of c into the list at the index passed in. No elements overwritten (as above). Returns true if list changes (added), false otherwise.</a:t>
            </a:r>
          </a:p>
          <a:p>
            <a:r>
              <a:rPr lang="en-IE"/>
              <a:t>Object get(int index)</a:t>
            </a:r>
          </a:p>
          <a:p>
            <a:pPr lvl="1"/>
            <a:r>
              <a:rPr lang="en-IE"/>
              <a:t>Returns object stored at specified index</a:t>
            </a:r>
          </a:p>
          <a:p>
            <a:r>
              <a:rPr lang="en-IE"/>
              <a:t>int </a:t>
            </a:r>
            <a:r>
              <a:rPr lang="en-IE" err="1"/>
              <a:t>indexOf</a:t>
            </a:r>
            <a:r>
              <a:rPr lang="en-IE"/>
              <a:t>(Object o)</a:t>
            </a:r>
          </a:p>
          <a:p>
            <a:pPr lvl="1"/>
            <a:r>
              <a:rPr lang="en-IE"/>
              <a:t>Returns the index of the </a:t>
            </a:r>
            <a:r>
              <a:rPr lang="en-IE" b="1"/>
              <a:t>first</a:t>
            </a:r>
            <a:r>
              <a:rPr lang="en-IE"/>
              <a:t> instance of o in the list. If o is not in the list, returns -1</a:t>
            </a:r>
          </a:p>
        </p:txBody>
      </p:sp>
    </p:spTree>
    <p:extLst>
      <p:ext uri="{BB962C8B-B14F-4D97-AF65-F5344CB8AC3E}">
        <p14:creationId xmlns:p14="http://schemas.microsoft.com/office/powerpoint/2010/main" val="484120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5276-CA24-4472-A862-9C4F1D96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The List Interface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C93E-4CE2-4690-8657-909CE256C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int </a:t>
            </a:r>
            <a:r>
              <a:rPr lang="en-IE" err="1"/>
              <a:t>lastIndexOf</a:t>
            </a:r>
            <a:r>
              <a:rPr lang="en-IE"/>
              <a:t>(Object o)</a:t>
            </a:r>
          </a:p>
          <a:p>
            <a:pPr lvl="1"/>
            <a:r>
              <a:rPr lang="en-IE"/>
              <a:t>Returns the index of the last instance of o in the list. If o is not in the list, returns -1</a:t>
            </a:r>
          </a:p>
          <a:p>
            <a:r>
              <a:rPr lang="en-IE" err="1"/>
              <a:t>ListIterator</a:t>
            </a:r>
            <a:r>
              <a:rPr lang="en-IE"/>
              <a:t> </a:t>
            </a:r>
            <a:r>
              <a:rPr lang="en-IE" err="1"/>
              <a:t>listIterator</a:t>
            </a:r>
            <a:r>
              <a:rPr lang="en-IE"/>
              <a:t>()</a:t>
            </a:r>
          </a:p>
          <a:p>
            <a:pPr lvl="1"/>
            <a:r>
              <a:rPr lang="en-IE"/>
              <a:t>Returns an iterator to the start of the list</a:t>
            </a:r>
          </a:p>
          <a:p>
            <a:r>
              <a:rPr lang="en-IE" err="1"/>
              <a:t>ListIterator</a:t>
            </a:r>
            <a:r>
              <a:rPr lang="en-IE"/>
              <a:t> </a:t>
            </a:r>
            <a:r>
              <a:rPr lang="en-IE" err="1"/>
              <a:t>listIterator</a:t>
            </a:r>
            <a:r>
              <a:rPr lang="en-IE"/>
              <a:t>(int index)</a:t>
            </a:r>
          </a:p>
          <a:p>
            <a:pPr lvl="1"/>
            <a:r>
              <a:rPr lang="en-IE"/>
              <a:t>Returns an iterator to the index given of the list</a:t>
            </a:r>
          </a:p>
          <a:p>
            <a:r>
              <a:rPr lang="en-IE"/>
              <a:t>Object remove(int index)</a:t>
            </a:r>
          </a:p>
          <a:p>
            <a:pPr lvl="1"/>
            <a:r>
              <a:rPr lang="en-IE"/>
              <a:t>Removes the object from the list at the index given</a:t>
            </a:r>
          </a:p>
          <a:p>
            <a:pPr marL="457200" lvl="1" indent="0">
              <a:buNone/>
            </a:pP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1444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9908-6AD3-4541-8E2F-20C87F45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The List Interface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4F6C-00BB-4F5D-B07D-B0946B5F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Object set(int index, Object o)</a:t>
            </a:r>
          </a:p>
          <a:p>
            <a:pPr lvl="1"/>
            <a:r>
              <a:rPr lang="en-IE"/>
              <a:t>Assigns o to the location specified by index in the list</a:t>
            </a:r>
          </a:p>
          <a:p>
            <a:r>
              <a:rPr lang="en-IE"/>
              <a:t>List </a:t>
            </a:r>
            <a:r>
              <a:rPr lang="en-IE" err="1"/>
              <a:t>subList</a:t>
            </a:r>
            <a:r>
              <a:rPr lang="en-IE"/>
              <a:t>(int start, int end)</a:t>
            </a:r>
          </a:p>
          <a:p>
            <a:pPr lvl="1"/>
            <a:r>
              <a:rPr lang="en-IE"/>
              <a:t>Returns a list that includes elements from start to end -1</a:t>
            </a:r>
          </a:p>
          <a:p>
            <a:pPr lvl="1"/>
            <a:r>
              <a:rPr lang="en-IE"/>
              <a:t>Includes start, does not include end!</a:t>
            </a:r>
          </a:p>
        </p:txBody>
      </p:sp>
    </p:spTree>
    <p:extLst>
      <p:ext uri="{BB962C8B-B14F-4D97-AF65-F5344CB8AC3E}">
        <p14:creationId xmlns:p14="http://schemas.microsoft.com/office/powerpoint/2010/main" val="423777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C7F03-AE75-45C3-AD88-527E914E7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err="1"/>
              <a:t>ArrayList</a:t>
            </a:r>
            <a:r>
              <a:rPr lang="en-IE"/>
              <a:t>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564336-542B-441E-8551-8D9641E2D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933" y="1589088"/>
            <a:ext cx="4693667" cy="510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15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B936-7388-403A-B3B6-EA8FE047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err="1"/>
              <a:t>ArrayList</a:t>
            </a:r>
            <a:r>
              <a:rPr lang="en-IE"/>
              <a:t>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0EA1C6-E58C-4EB5-A74A-1F2C5A676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48047"/>
            <a:ext cx="6762033" cy="48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88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78B7-DF1E-41E9-BF39-694BCED03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err="1"/>
              <a:t>ArrayList</a:t>
            </a:r>
            <a:r>
              <a:rPr lang="en-IE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D09B-4C24-4B62-A6B9-AD9524CC4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400" y="1825625"/>
            <a:ext cx="4851399" cy="4351338"/>
          </a:xfrm>
        </p:spPr>
        <p:txBody>
          <a:bodyPr/>
          <a:lstStyle/>
          <a:p>
            <a:r>
              <a:rPr lang="en-IE"/>
              <a:t>Creating a new </a:t>
            </a:r>
            <a:r>
              <a:rPr lang="en-IE" err="1"/>
              <a:t>ArrayList</a:t>
            </a:r>
            <a:r>
              <a:rPr lang="en-IE"/>
              <a:t> in the same manner we created people, cars etc.</a:t>
            </a:r>
          </a:p>
          <a:p>
            <a:r>
              <a:rPr lang="en-IE"/>
              <a:t>Using the methods belonging to the class </a:t>
            </a:r>
          </a:p>
          <a:p>
            <a:pPr lvl="1"/>
            <a:r>
              <a:rPr lang="en-IE" err="1"/>
              <a:t>aList.getRefForName</a:t>
            </a:r>
            <a:r>
              <a:rPr lang="en-IE"/>
              <a:t>(“Name”)</a:t>
            </a:r>
          </a:p>
          <a:p>
            <a:r>
              <a:rPr lang="en-IE" err="1"/>
              <a:t>ArrayList</a:t>
            </a:r>
            <a:r>
              <a:rPr lang="en-IE"/>
              <a:t> class had created people to insert into list so we can use Person p and therefore </a:t>
            </a:r>
            <a:r>
              <a:rPr lang="en-IE" err="1"/>
              <a:t>p.printDetails</a:t>
            </a:r>
            <a:r>
              <a:rPr lang="en-IE"/>
              <a:t>()</a:t>
            </a:r>
          </a:p>
          <a:p>
            <a:endParaRPr lang="en-IE"/>
          </a:p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0279D-4FC9-484F-910E-D6DC67E7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69" y="2483038"/>
            <a:ext cx="5895765" cy="1891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F3EF0C-ED52-4B4F-97A0-0CB77535F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69" y="5273675"/>
            <a:ext cx="3867738" cy="100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34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9834-13C3-40B6-9025-16904D3E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8A017-D777-4E40-B949-3CCC3E2D6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IE"/>
              <a:t>The Map interface maps unique keys to values. A key is an object that you use to retrieve a value at a later date.</a:t>
            </a:r>
          </a:p>
          <a:p>
            <a:pPr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Given a key and a value, you can store the value in a Map object. After the value is stored, you can retrieve it by using its key.</a:t>
            </a:r>
          </a:p>
          <a:p>
            <a:pPr marL="342900" indent="-342900"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Several methods throw a </a:t>
            </a:r>
            <a:r>
              <a:rPr lang="en-IE" err="1"/>
              <a:t>NoSuchElementException</a:t>
            </a:r>
            <a:r>
              <a:rPr lang="en-IE"/>
              <a:t> when no items exist in the invoking map.</a:t>
            </a:r>
          </a:p>
          <a:p>
            <a:pPr marL="342900" indent="-342900"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A </a:t>
            </a:r>
            <a:r>
              <a:rPr lang="en-IE" err="1"/>
              <a:t>ClassCastException</a:t>
            </a:r>
            <a:r>
              <a:rPr lang="en-IE"/>
              <a:t> is thrown when an object is incompatible with the elements in a map.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96859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F5F8-1B79-4CCB-BF29-8C62A798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`Map Interface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BC052-BC78-4772-8836-19640BC36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void clear()</a:t>
            </a:r>
          </a:p>
          <a:p>
            <a:pPr lvl="1"/>
            <a:r>
              <a:rPr lang="en-IE"/>
              <a:t>Removes all key/value pairs from the map</a:t>
            </a:r>
          </a:p>
          <a:p>
            <a:r>
              <a:rPr lang="en-IE" err="1"/>
              <a:t>boolean</a:t>
            </a:r>
            <a:r>
              <a:rPr lang="en-IE"/>
              <a:t> </a:t>
            </a:r>
            <a:r>
              <a:rPr lang="en-IE" err="1"/>
              <a:t>containsKey</a:t>
            </a:r>
            <a:r>
              <a:rPr lang="en-IE"/>
              <a:t>(Object k)</a:t>
            </a:r>
          </a:p>
          <a:p>
            <a:pPr lvl="1"/>
            <a:r>
              <a:rPr lang="en-IE"/>
              <a:t>Returns true if the map contains k as a key. Otherwise returns false</a:t>
            </a:r>
          </a:p>
          <a:p>
            <a:r>
              <a:rPr lang="en-IE" err="1"/>
              <a:t>boolean</a:t>
            </a:r>
            <a:r>
              <a:rPr lang="en-IE"/>
              <a:t> </a:t>
            </a:r>
            <a:r>
              <a:rPr lang="en-IE" err="1"/>
              <a:t>containsValue</a:t>
            </a:r>
            <a:r>
              <a:rPr lang="en-IE"/>
              <a:t>(Object v)</a:t>
            </a:r>
          </a:p>
          <a:p>
            <a:pPr lvl="1"/>
            <a:r>
              <a:rPr lang="en-IE"/>
              <a:t>Returns true if the map contains v as a value. Otherwise returns false</a:t>
            </a:r>
          </a:p>
          <a:p>
            <a:r>
              <a:rPr lang="en-IE"/>
              <a:t>Set </a:t>
            </a:r>
            <a:r>
              <a:rPr lang="en-IE" err="1"/>
              <a:t>entrySet</a:t>
            </a:r>
            <a:r>
              <a:rPr lang="en-IE"/>
              <a:t>()</a:t>
            </a:r>
          </a:p>
          <a:p>
            <a:pPr lvl="1"/>
            <a:r>
              <a:rPr lang="en-IE"/>
              <a:t>Returns a Set that contains the entries in the map. The set contains objects of type </a:t>
            </a:r>
            <a:r>
              <a:rPr lang="en-IE" err="1"/>
              <a:t>Map.Entry</a:t>
            </a:r>
            <a:r>
              <a:rPr lang="en-IE"/>
              <a:t> – This method provides a set-view of the map</a:t>
            </a:r>
          </a:p>
        </p:txBody>
      </p:sp>
    </p:spTree>
    <p:extLst>
      <p:ext uri="{BB962C8B-B14F-4D97-AF65-F5344CB8AC3E}">
        <p14:creationId xmlns:p14="http://schemas.microsoft.com/office/powerpoint/2010/main" val="1178066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3D54-597C-4870-AD5C-F820FB80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Map Interface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DC11-D597-4751-BA2B-1089D2405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err="1"/>
              <a:t>boolean</a:t>
            </a:r>
            <a:r>
              <a:rPr lang="en-IE"/>
              <a:t> equals(Object o)</a:t>
            </a:r>
          </a:p>
          <a:p>
            <a:pPr lvl="1"/>
            <a:r>
              <a:rPr lang="en-IE"/>
              <a:t>Returns true if o is a Map and contains the same entries. Otherwise returns false. (note on equals() method)</a:t>
            </a:r>
          </a:p>
          <a:p>
            <a:r>
              <a:rPr lang="en-IE"/>
              <a:t>Object get(Object k)</a:t>
            </a:r>
          </a:p>
          <a:p>
            <a:pPr lvl="1"/>
            <a:r>
              <a:rPr lang="en-IE"/>
              <a:t>Returns the value associated with the key k</a:t>
            </a:r>
          </a:p>
          <a:p>
            <a:r>
              <a:rPr lang="en-IE"/>
              <a:t>int </a:t>
            </a:r>
            <a:r>
              <a:rPr lang="en-IE" err="1"/>
              <a:t>hashCode</a:t>
            </a:r>
            <a:r>
              <a:rPr lang="en-IE"/>
              <a:t>()</a:t>
            </a:r>
          </a:p>
          <a:p>
            <a:pPr lvl="1"/>
            <a:r>
              <a:rPr lang="en-IE"/>
              <a:t>Returns the hash code for the map</a:t>
            </a:r>
          </a:p>
          <a:p>
            <a:r>
              <a:rPr lang="en-IE" err="1"/>
              <a:t>boolean</a:t>
            </a:r>
            <a:r>
              <a:rPr lang="en-IE"/>
              <a:t> </a:t>
            </a:r>
            <a:r>
              <a:rPr lang="en-IE" err="1"/>
              <a:t>isEmpty</a:t>
            </a:r>
            <a:r>
              <a:rPr lang="en-IE"/>
              <a:t>()</a:t>
            </a:r>
          </a:p>
          <a:p>
            <a:pPr lvl="1"/>
            <a:r>
              <a:rPr lang="en-IE"/>
              <a:t>Returns true if the map is empty, otherwise returns false</a:t>
            </a:r>
          </a:p>
        </p:txBody>
      </p:sp>
    </p:spTree>
    <p:extLst>
      <p:ext uri="{BB962C8B-B14F-4D97-AF65-F5344CB8AC3E}">
        <p14:creationId xmlns:p14="http://schemas.microsoft.com/office/powerpoint/2010/main" val="2729135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63AC-23B5-47AA-A8DE-434304D6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Map Interface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1969F-CB10-4489-B67C-149F9A62E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Set </a:t>
            </a:r>
            <a:r>
              <a:rPr lang="en-IE" err="1"/>
              <a:t>keySet</a:t>
            </a:r>
            <a:r>
              <a:rPr lang="en-IE"/>
              <a:t>()</a:t>
            </a:r>
          </a:p>
          <a:p>
            <a:pPr lvl="1"/>
            <a:r>
              <a:rPr lang="en-IE"/>
              <a:t>Returns a Set that contains the keys in the map. Provides a set-view of the keys in the map</a:t>
            </a:r>
          </a:p>
          <a:p>
            <a:r>
              <a:rPr lang="en-IE"/>
              <a:t>Object put(Object k, Object v)</a:t>
            </a:r>
          </a:p>
          <a:p>
            <a:pPr lvl="1"/>
            <a:r>
              <a:rPr lang="en-IE"/>
              <a:t>Puts an entry in the map, </a:t>
            </a:r>
            <a:r>
              <a:rPr lang="en-IE" b="1"/>
              <a:t>overwriting</a:t>
            </a:r>
            <a:r>
              <a:rPr lang="en-IE"/>
              <a:t> any previous value associated with the key. Key and Value are k and v respectively. Returns null if the key did not exist, otherwise returns the previous value linked to the key.</a:t>
            </a:r>
          </a:p>
          <a:p>
            <a:r>
              <a:rPr lang="en-IE"/>
              <a:t>void </a:t>
            </a:r>
            <a:r>
              <a:rPr lang="en-IE" err="1"/>
              <a:t>putAll</a:t>
            </a:r>
            <a:r>
              <a:rPr lang="en-IE"/>
              <a:t>(Map m)</a:t>
            </a:r>
          </a:p>
          <a:p>
            <a:pPr lvl="1"/>
            <a:r>
              <a:rPr lang="en-IE"/>
              <a:t>Puts all entries from m into this Map</a:t>
            </a:r>
          </a:p>
          <a:p>
            <a:pPr lvl="1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933874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C31-88D0-46E5-A76E-C455B065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Map Interface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D354A-ECA5-41D9-A4AE-2037BAB15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Object remove(Object k)</a:t>
            </a:r>
          </a:p>
          <a:p>
            <a:pPr lvl="1"/>
            <a:r>
              <a:rPr lang="en-IE"/>
              <a:t>Removes the entry whose key equals k</a:t>
            </a:r>
          </a:p>
          <a:p>
            <a:r>
              <a:rPr lang="en-IE"/>
              <a:t>int size()</a:t>
            </a:r>
          </a:p>
          <a:p>
            <a:pPr lvl="1"/>
            <a:r>
              <a:rPr lang="en-IE"/>
              <a:t>Returns the number of key/value pairs in the map</a:t>
            </a:r>
          </a:p>
          <a:p>
            <a:r>
              <a:rPr lang="en-IE"/>
              <a:t>Collection values()</a:t>
            </a:r>
          </a:p>
          <a:p>
            <a:pPr lvl="1"/>
            <a:r>
              <a:rPr lang="en-IE"/>
              <a:t>Returns a collection containing the values in the map. This provides a collection-view of the values in the map</a:t>
            </a:r>
          </a:p>
        </p:txBody>
      </p:sp>
    </p:spTree>
    <p:extLst>
      <p:ext uri="{BB962C8B-B14F-4D97-AF65-F5344CB8AC3E}">
        <p14:creationId xmlns:p14="http://schemas.microsoft.com/office/powerpoint/2010/main" val="431187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B056B-8306-4051-9BF7-5ADDF86D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5156A-C378-403D-BFC5-E4AC5209C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61BEA5-9835-45BB-9DB1-EABC93585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8047"/>
            <a:ext cx="6762033" cy="48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37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9782-90FA-46DB-ADB2-A94820E1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CD166-1AF0-4399-97AA-3285BC58F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FD455-A1E9-42D4-A436-8BCFBB871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305548" cy="36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57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5205-819C-4F4D-A167-8C5CCCFA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Map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CF0F23-11FE-491B-A667-303A4611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51" y="1896968"/>
            <a:ext cx="6475521" cy="23683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DFB225-D27C-49AD-AB26-FFF5E1BBA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99844"/>
            <a:ext cx="5530335" cy="137711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96D851-DB2A-48F8-9822-980FE6C6B133}"/>
              </a:ext>
            </a:extLst>
          </p:cNvPr>
          <p:cNvSpPr txBox="1">
            <a:spLocks/>
          </p:cNvSpPr>
          <p:nvPr/>
        </p:nvSpPr>
        <p:spPr>
          <a:xfrm>
            <a:off x="6840172" y="1960562"/>
            <a:ext cx="48513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/>
              <a:t>Creating a new HashMap in the same manner we created people, cars etc.</a:t>
            </a:r>
          </a:p>
          <a:p>
            <a:r>
              <a:rPr lang="en-IE"/>
              <a:t>Note </a:t>
            </a:r>
            <a:r>
              <a:rPr lang="en-IE" err="1"/>
              <a:t>HashMaps</a:t>
            </a:r>
            <a:r>
              <a:rPr lang="en-IE"/>
              <a:t> use</a:t>
            </a:r>
          </a:p>
          <a:p>
            <a:pPr lvl="1"/>
            <a:r>
              <a:rPr lang="en-IE"/>
              <a:t>Key: Claire</a:t>
            </a:r>
          </a:p>
          <a:p>
            <a:pPr lvl="1"/>
            <a:r>
              <a:rPr lang="en-IE"/>
              <a:t>Value: Person </a:t>
            </a:r>
            <a:r>
              <a:rPr lang="en-IE" b="1"/>
              <a:t>object</a:t>
            </a:r>
            <a:r>
              <a:rPr lang="en-IE"/>
              <a:t> with name Claire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3421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5313-DF31-4451-B260-1A5407B7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53E-9997-48AE-9564-60C4BF158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defRPr/>
            </a:pPr>
            <a:r>
              <a:rPr lang="en-IE"/>
              <a:t>It would be nice if we could write a single sort method that could sort the elements in an Integer array, a String array or an array of any type that supports ordering.</a:t>
            </a:r>
          </a:p>
          <a:p>
            <a:pPr marL="342900" indent="-342900"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Java Generic methods and generic classes enable programmers to specify, with a single method declaration, a set of related methods or, with a single class declaration, a set of related types, respectively.</a:t>
            </a:r>
          </a:p>
          <a:p>
            <a:pPr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Using Java Generic concept, we might write a generic method for sorting an array of objects, then invoke the generic method with Integer arrays, Double arrays, String arrays and so on, to sort the array elements.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64548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A688-3CE5-42A1-893D-EDF989E0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Generic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12A90-66B1-4EF7-B8BC-081E60A8C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defRPr/>
            </a:pPr>
            <a:r>
              <a:rPr lang="en-IE"/>
              <a:t>You can write a single generic method declaration that can be called with arguments of different types. </a:t>
            </a:r>
          </a:p>
          <a:p>
            <a:pPr marL="342900" indent="-342900">
              <a:defRPr/>
            </a:pPr>
            <a:endParaRPr lang="en-IE"/>
          </a:p>
          <a:p>
            <a:pPr marL="342900" indent="-342900">
              <a:defRPr/>
            </a:pPr>
            <a:r>
              <a:rPr lang="en-IE"/>
              <a:t>Based on the types of the arguments passed to the generic method, the compiler handles each method call appropriately. 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2504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8D916-305E-47C0-BAB5-7283BF48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Type Parameter Naming Conventions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95681-1F4E-495F-A1F8-2436871E2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E"/>
              <a:t>The most commonly used type parameter names are:</a:t>
            </a:r>
          </a:p>
          <a:p>
            <a:pPr marL="342900" indent="-342900">
              <a:buFont typeface="Wingdings" pitchFamily="2" charset="2"/>
              <a:buChar char="§"/>
              <a:defRPr/>
            </a:pPr>
            <a:r>
              <a:rPr lang="en-IE"/>
              <a:t>E - Element (used extensively by the Java Collections Framework)</a:t>
            </a:r>
          </a:p>
          <a:p>
            <a:pPr marL="342900" indent="-342900">
              <a:buFont typeface="Wingdings" pitchFamily="2" charset="2"/>
              <a:buChar char="§"/>
              <a:defRPr/>
            </a:pPr>
            <a:r>
              <a:rPr lang="en-IE"/>
              <a:t>K - Key</a:t>
            </a:r>
          </a:p>
          <a:p>
            <a:pPr marL="342900" indent="-342900">
              <a:buFont typeface="Wingdings" pitchFamily="2" charset="2"/>
              <a:buChar char="§"/>
              <a:defRPr/>
            </a:pPr>
            <a:r>
              <a:rPr lang="en-IE"/>
              <a:t>N - Number</a:t>
            </a:r>
          </a:p>
          <a:p>
            <a:pPr marL="342900" indent="-342900">
              <a:buFont typeface="Wingdings" pitchFamily="2" charset="2"/>
              <a:buChar char="§"/>
              <a:defRPr/>
            </a:pPr>
            <a:r>
              <a:rPr lang="en-IE"/>
              <a:t>T - Type</a:t>
            </a:r>
          </a:p>
          <a:p>
            <a:pPr marL="342900" indent="-342900">
              <a:buFont typeface="Wingdings" pitchFamily="2" charset="2"/>
              <a:buChar char="§"/>
              <a:defRPr/>
            </a:pPr>
            <a:r>
              <a:rPr lang="en-IE"/>
              <a:t>V - Value</a:t>
            </a: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151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A98D-7B59-43C1-BA37-DE4D2AB50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Generic Method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CD52-1D32-4A9D-9EBC-4FD2526E6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143FF-CF09-4C75-A1DA-449F94FCE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257800" cy="2039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8EB33B-444D-4D23-A6FA-3983393E8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085" y="2946400"/>
            <a:ext cx="5911715" cy="3383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6D6BDB-C8E8-42B0-9AD3-A04736BA3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614837"/>
            <a:ext cx="2890705" cy="165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160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117F-8AF0-4DD8-BA46-AAC584EA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8472-B1F6-470A-AA4C-50B5664E5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IE" dirty="0"/>
              <a:t>Create a Student Class</a:t>
            </a:r>
          </a:p>
          <a:p>
            <a:pPr lvl="1"/>
            <a:r>
              <a:rPr lang="en-IE" dirty="0"/>
              <a:t>Name</a:t>
            </a:r>
            <a:endParaRPr lang="en-IE" dirty="0">
              <a:cs typeface="Calibri"/>
            </a:endParaRPr>
          </a:p>
          <a:p>
            <a:pPr lvl="1"/>
            <a:r>
              <a:rPr lang="en-IE" dirty="0"/>
              <a:t>Student id (unique)</a:t>
            </a:r>
            <a:endParaRPr lang="en-IE" dirty="0">
              <a:cs typeface="Calibri"/>
            </a:endParaRPr>
          </a:p>
          <a:p>
            <a:pPr lvl="1"/>
            <a:r>
              <a:rPr lang="en-IE" dirty="0"/>
              <a:t>Course</a:t>
            </a:r>
            <a:endParaRPr lang="en-IE" dirty="0">
              <a:cs typeface="Calibri"/>
            </a:endParaRPr>
          </a:p>
          <a:p>
            <a:pPr lvl="1"/>
            <a:endParaRPr lang="en-IE"/>
          </a:p>
          <a:p>
            <a:r>
              <a:rPr lang="en-IE" dirty="0"/>
              <a:t>Create </a:t>
            </a:r>
            <a:r>
              <a:rPr lang="en-IE" dirty="0" err="1"/>
              <a:t>ArrayList</a:t>
            </a:r>
            <a:r>
              <a:rPr lang="en-IE" dirty="0"/>
              <a:t> or Map (your choice)</a:t>
            </a:r>
            <a:endParaRPr lang="en-IE" dirty="0">
              <a:cs typeface="Calibri"/>
            </a:endParaRPr>
          </a:p>
          <a:p>
            <a:pPr lvl="1"/>
            <a:r>
              <a:rPr lang="en-IE" err="1"/>
              <a:t>getStudentByID</a:t>
            </a:r>
            <a:endParaRPr lang="en-IE"/>
          </a:p>
          <a:p>
            <a:pPr lvl="1"/>
            <a:r>
              <a:rPr lang="en-IE" dirty="0">
                <a:cs typeface="Calibri" panose="020F0502020204030204"/>
              </a:rPr>
              <a:t>*not on Moodle, (Map have ID as key, or </a:t>
            </a:r>
            <a:r>
              <a:rPr lang="en-IE" dirty="0" err="1">
                <a:cs typeface="Calibri" panose="020F0502020204030204"/>
              </a:rPr>
              <a:t>ArrayList</a:t>
            </a:r>
            <a:r>
              <a:rPr lang="en-IE" dirty="0">
                <a:cs typeface="Calibri" panose="020F0502020204030204"/>
              </a:rPr>
              <a:t> create method to </a:t>
            </a:r>
            <a:r>
              <a:rPr lang="en-IE" dirty="0" err="1">
                <a:cs typeface="Calibri" panose="020F0502020204030204"/>
              </a:rPr>
              <a:t>getRefbyID</a:t>
            </a:r>
            <a:r>
              <a:rPr lang="en-IE" dirty="0">
                <a:cs typeface="Calibri" panose="020F0502020204030204"/>
              </a:rPr>
              <a:t> using same idea as seen in </a:t>
            </a:r>
            <a:r>
              <a:rPr lang="en-IE" dirty="0" err="1">
                <a:cs typeface="Calibri" panose="020F0502020204030204"/>
              </a:rPr>
              <a:t>ArrayList</a:t>
            </a:r>
            <a:r>
              <a:rPr lang="en-IE" dirty="0">
                <a:cs typeface="Calibri" panose="020F0502020204030204"/>
              </a:rPr>
              <a:t> Example)</a:t>
            </a:r>
            <a:endParaRPr lang="en-IE" dirty="0"/>
          </a:p>
          <a:p>
            <a:r>
              <a:rPr lang="en-IE" dirty="0"/>
              <a:t>Create </a:t>
            </a:r>
            <a:r>
              <a:rPr lang="en-IE" dirty="0" err="1"/>
              <a:t>GenericMethod</a:t>
            </a:r>
            <a:r>
              <a:rPr lang="en-IE" dirty="0"/>
              <a:t> test to return different Arrays and </a:t>
            </a:r>
            <a:r>
              <a:rPr lang="en-IE" dirty="0" err="1"/>
              <a:t>ArrayLists</a:t>
            </a:r>
            <a:r>
              <a:rPr lang="en-IE" dirty="0"/>
              <a:t> (overloading) </a:t>
            </a:r>
          </a:p>
          <a:p>
            <a:pPr lvl="1"/>
            <a:r>
              <a:rPr lang="en-IE" dirty="0">
                <a:cs typeface="Calibri" panose="020F0502020204030204"/>
              </a:rPr>
              <a:t>*on Moodle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F99CA-BAC8-4084-9FDD-144064254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162" y="1546914"/>
            <a:ext cx="5257800" cy="2039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F0315A-D5CC-47C2-B45F-067300AB4051}"/>
              </a:ext>
            </a:extLst>
          </p:cNvPr>
          <p:cNvSpPr/>
          <p:nvPr/>
        </p:nvSpPr>
        <p:spPr>
          <a:xfrm>
            <a:off x="8764172" y="1825625"/>
            <a:ext cx="452600" cy="3833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8125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CB77-E695-425F-BB49-7C5191576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cs typeface="Calibri Light"/>
              </a:rPr>
              <a:t>Overloading </a:t>
            </a:r>
            <a:r>
              <a:rPr lang="en-IE" dirty="0" err="1">
                <a:cs typeface="Calibri Light"/>
              </a:rPr>
              <a:t>printArray</a:t>
            </a:r>
            <a:r>
              <a:rPr lang="en-IE" dirty="0">
                <a:cs typeface="Calibri Light"/>
              </a:rPr>
              <a:t>() 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49C9C-F03F-413E-876C-3A681ABD3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6F515-36BA-43A3-9BDD-FA4D63413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2234"/>
            <a:ext cx="6404333" cy="375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333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4C09-1910-45DD-9307-9005C9C1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cs typeface="Calibri Light"/>
              </a:rPr>
              <a:t>Creating and printing Arrays and </a:t>
            </a:r>
            <a:r>
              <a:rPr lang="en-IE" dirty="0" err="1">
                <a:cs typeface="Calibri Light"/>
              </a:rPr>
              <a:t>ArrayLists</a:t>
            </a:r>
            <a:endParaRPr lang="en-IE" dirty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468A46-8569-43CA-A66A-5E29A0989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1331"/>
            <a:ext cx="5273321" cy="3899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FBC53C-8A8E-4152-BF70-D772FD497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513" y="2163250"/>
            <a:ext cx="5716487" cy="312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240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F83E-7CE2-4BAB-8EFB-549ACD35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Output</a:t>
            </a:r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9EB5CB65-0356-4581-AD70-10A670BFE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606" y="1847028"/>
            <a:ext cx="4448713" cy="486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9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Software Development 3</vt:lpstr>
      <vt:lpstr>Java Collections Framework</vt:lpstr>
      <vt:lpstr>Collections Framework</vt:lpstr>
      <vt:lpstr>Collections Framework</vt:lpstr>
      <vt:lpstr>Interfaces</vt:lpstr>
      <vt:lpstr>Classes</vt:lpstr>
      <vt:lpstr>Algorithms</vt:lpstr>
      <vt:lpstr>Hierarchy (Interfaces Only)</vt:lpstr>
      <vt:lpstr>Hierarchy (With Classes)</vt:lpstr>
      <vt:lpstr>Interfaces: </vt:lpstr>
      <vt:lpstr>Interfaces Cont.</vt:lpstr>
      <vt:lpstr>Collections, Interfaces and Classes</vt:lpstr>
      <vt:lpstr>Iterators</vt:lpstr>
      <vt:lpstr>Iterators</vt:lpstr>
      <vt:lpstr>Iterators</vt:lpstr>
      <vt:lpstr>The Methods Declared by Iterator</vt:lpstr>
      <vt:lpstr>The Methods Declared by ListIterator</vt:lpstr>
      <vt:lpstr>The Methods Declared by ListIterator Cont.</vt:lpstr>
      <vt:lpstr>Iterator Example</vt:lpstr>
      <vt:lpstr>Iterator Example</vt:lpstr>
      <vt:lpstr>Lists</vt:lpstr>
      <vt:lpstr>The List Interface Methods</vt:lpstr>
      <vt:lpstr>The List Interface Methods</vt:lpstr>
      <vt:lpstr>The List Interface Methods</vt:lpstr>
      <vt:lpstr>ArrayList Example</vt:lpstr>
      <vt:lpstr>ArrayList Example</vt:lpstr>
      <vt:lpstr>ArrayList Example</vt:lpstr>
      <vt:lpstr>Maps</vt:lpstr>
      <vt:lpstr>`Map Interface Methods</vt:lpstr>
      <vt:lpstr>Map Interface Methods</vt:lpstr>
      <vt:lpstr>Map Interface Methods</vt:lpstr>
      <vt:lpstr>Map Interface Methods </vt:lpstr>
      <vt:lpstr>Map Example</vt:lpstr>
      <vt:lpstr>Map Example</vt:lpstr>
      <vt:lpstr>Map Example</vt:lpstr>
      <vt:lpstr>Generics</vt:lpstr>
      <vt:lpstr>Generic Methods</vt:lpstr>
      <vt:lpstr>Type Parameter Naming Conventions</vt:lpstr>
      <vt:lpstr>Generic Method Example</vt:lpstr>
      <vt:lpstr>Challenges</vt:lpstr>
      <vt:lpstr>Overloading printArray() </vt:lpstr>
      <vt:lpstr>Creating and printing Arrays and ArrayLists</vt:lpstr>
      <vt:lpstr>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Apps and Connected Devices </dc:title>
  <dc:creator>CURRAN, MARTINA</dc:creator>
  <cp:revision>47</cp:revision>
  <dcterms:created xsi:type="dcterms:W3CDTF">2019-08-12T15:58:15Z</dcterms:created>
  <dcterms:modified xsi:type="dcterms:W3CDTF">2020-09-25T10:07:45Z</dcterms:modified>
</cp:coreProperties>
</file>