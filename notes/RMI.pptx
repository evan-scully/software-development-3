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8" r:id="rId9"/>
    <p:sldId id="263" r:id="rId10"/>
    <p:sldId id="264" r:id="rId11"/>
    <p:sldId id="265" r:id="rId12"/>
    <p:sldId id="266" r:id="rId13"/>
    <p:sldId id="267" r:id="rId14"/>
    <p:sldId id="269" r:id="rId15"/>
    <p:sldId id="270" r:id="rId16"/>
    <p:sldId id="268" r:id="rId17"/>
    <p:sldId id="279" r:id="rId18"/>
    <p:sldId id="280" r:id="rId19"/>
    <p:sldId id="281"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34" autoAdjust="0"/>
    <p:restoredTop sz="94660"/>
  </p:normalViewPr>
  <p:slideViewPr>
    <p:cSldViewPr snapToGrid="0">
      <p:cViewPr varScale="1">
        <p:scale>
          <a:sx n="68" d="100"/>
          <a:sy n="68" d="100"/>
        </p:scale>
        <p:origin x="57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1678-2D86-4DAE-847A-55B8AAA65B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6641B2CF-975D-4351-9694-6F1AFAA44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896B876B-2BBD-4769-833E-D503374BB544}"/>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5" name="Footer Placeholder 4">
            <a:extLst>
              <a:ext uri="{FF2B5EF4-FFF2-40B4-BE49-F238E27FC236}">
                <a16:creationId xmlns:a16="http://schemas.microsoft.com/office/drawing/2014/main" id="{BC502A31-A755-4B89-9E8A-DC2074EA48A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64F5046-4908-4092-97DA-BB710C0592D4}"/>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16571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99EF-45DF-43CB-B92F-7BBD6ACAAC73}"/>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4546D277-84F6-428A-B396-8687052ECA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013A558-0664-448D-BA15-FCA859ADC2D7}"/>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5" name="Footer Placeholder 4">
            <a:extLst>
              <a:ext uri="{FF2B5EF4-FFF2-40B4-BE49-F238E27FC236}">
                <a16:creationId xmlns:a16="http://schemas.microsoft.com/office/drawing/2014/main" id="{D7BB2868-56D3-4FDB-8897-19830FC28E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FC4A271-070A-4321-9A04-B951AC6323B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9273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AB5C-EBFD-4E56-8963-D648BF2B1F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BB6890B5-7649-4B23-828C-C28C84C7FA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175F4E-409A-4954-899A-0C545322D559}"/>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5" name="Footer Placeholder 4">
            <a:extLst>
              <a:ext uri="{FF2B5EF4-FFF2-40B4-BE49-F238E27FC236}">
                <a16:creationId xmlns:a16="http://schemas.microsoft.com/office/drawing/2014/main" id="{E5E4AC6F-9ECE-48D8-8ABD-54D5DB0B64B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DC46D47-CB26-4D81-897F-F840B153F2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406789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16C9-C584-4BDD-88DF-DDC3FCE4327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E90686E-1BD6-4FC9-BE5C-94C3CC27C7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8DF83F51-9A68-42D5-B79F-2CEB32173A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FCABC281-9E06-4C6B-A2D5-2267188F6BF1}"/>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6" name="Footer Placeholder 5">
            <a:extLst>
              <a:ext uri="{FF2B5EF4-FFF2-40B4-BE49-F238E27FC236}">
                <a16:creationId xmlns:a16="http://schemas.microsoft.com/office/drawing/2014/main" id="{146E3BFB-7E00-48D5-849C-CDB782A7AE5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207D561-473C-4AC5-928F-29F225D0935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8543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055D-0FF3-4678-B9AE-A46C620B4F7C}"/>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9DF3C1A-4C0E-4EB8-96B8-8A8F0F77AB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404207-17C4-459A-A3C8-007ED70402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D1BD13C8-58F1-44FB-BDFB-65977225F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CD19A-A846-4C99-8BD3-8911AD2676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BF5A3DFA-FCA8-403E-8164-3A9F52608162}"/>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8" name="Footer Placeholder 7">
            <a:extLst>
              <a:ext uri="{FF2B5EF4-FFF2-40B4-BE49-F238E27FC236}">
                <a16:creationId xmlns:a16="http://schemas.microsoft.com/office/drawing/2014/main" id="{39CCD9E3-A548-464D-8063-249E902FC38A}"/>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3A65957-7643-4F72-A1FC-14E62C7206A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888466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F6596-C70F-4B23-8192-74234FE2F373}"/>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2CCA9698-A2D2-4EA9-BEE3-21DEEB677098}"/>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4" name="Footer Placeholder 3">
            <a:extLst>
              <a:ext uri="{FF2B5EF4-FFF2-40B4-BE49-F238E27FC236}">
                <a16:creationId xmlns:a16="http://schemas.microsoft.com/office/drawing/2014/main" id="{CD97ACFD-DA4F-408B-A623-5B451F27208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DF5B1EEC-3EB0-4701-AFE6-AD468C9560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59444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A6EEC7-E653-4288-B1A7-C2CAFFA8152C}"/>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3" name="Footer Placeholder 2">
            <a:extLst>
              <a:ext uri="{FF2B5EF4-FFF2-40B4-BE49-F238E27FC236}">
                <a16:creationId xmlns:a16="http://schemas.microsoft.com/office/drawing/2014/main" id="{6D86EFED-B925-4903-9BA0-526E6D60369C}"/>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6865E58-B2CE-41DD-861C-2220E228D38E}"/>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590836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061E-BE60-4B35-9006-7C13398F5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32F17D56-040E-47CA-8F46-0A16F7E110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28EEDAA-7971-4D0F-88CF-DDAC09979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E7E2D-9D6C-4977-87F1-0C7B116FD374}"/>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6" name="Footer Placeholder 5">
            <a:extLst>
              <a:ext uri="{FF2B5EF4-FFF2-40B4-BE49-F238E27FC236}">
                <a16:creationId xmlns:a16="http://schemas.microsoft.com/office/drawing/2014/main" id="{45F64070-92C5-41D2-92E1-A90384A1C5D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FDA36A9-8D9C-497E-8E13-272C4BF5084F}"/>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871376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2A43-46DA-492B-9F3B-CCCC16B3D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CF9E27B6-2EDE-45AA-9C71-EE637E536E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469A5422-60E5-4EB9-BA9B-749EAB1ED4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37829-CFAD-444D-9F28-09A1BC8A970E}"/>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6" name="Footer Placeholder 5">
            <a:extLst>
              <a:ext uri="{FF2B5EF4-FFF2-40B4-BE49-F238E27FC236}">
                <a16:creationId xmlns:a16="http://schemas.microsoft.com/office/drawing/2014/main" id="{F7A95C8D-44E8-45E0-92B0-CD0D7D53EEF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31551FF-4C4C-433A-B1F1-B286ADB0856B}"/>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31774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684D-CEF2-4F8F-AB87-8998E84FF9A6}"/>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D8EDC20-95A1-40ED-A4C8-8014779707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8B4F649-EEF3-4D9F-9ADA-DAB0EEEC67D8}"/>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5" name="Footer Placeholder 4">
            <a:extLst>
              <a:ext uri="{FF2B5EF4-FFF2-40B4-BE49-F238E27FC236}">
                <a16:creationId xmlns:a16="http://schemas.microsoft.com/office/drawing/2014/main" id="{A7373AD7-B3D6-47F2-86A2-40B9BF3B59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380D4E4-3868-40AF-A75B-C12657A836B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68809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5D7399-0E97-4804-9311-75631F1876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4DE05F4-E523-4848-AAB8-4341BEAEE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60F6C01-7D91-432F-B037-5422A2F56E8B}"/>
              </a:ext>
            </a:extLst>
          </p:cNvPr>
          <p:cNvSpPr>
            <a:spLocks noGrp="1"/>
          </p:cNvSpPr>
          <p:nvPr>
            <p:ph type="dt" sz="half" idx="10"/>
          </p:nvPr>
        </p:nvSpPr>
        <p:spPr/>
        <p:txBody>
          <a:bodyPr/>
          <a:lstStyle/>
          <a:p>
            <a:fld id="{D185572E-433B-4C3C-9216-427A579344CD}" type="datetimeFigureOut">
              <a:rPr lang="en-IE" smtClean="0"/>
              <a:t>17/10/2019</a:t>
            </a:fld>
            <a:endParaRPr lang="en-IE"/>
          </a:p>
        </p:txBody>
      </p:sp>
      <p:sp>
        <p:nvSpPr>
          <p:cNvPr id="5" name="Footer Placeholder 4">
            <a:extLst>
              <a:ext uri="{FF2B5EF4-FFF2-40B4-BE49-F238E27FC236}">
                <a16:creationId xmlns:a16="http://schemas.microsoft.com/office/drawing/2014/main" id="{064A7E6F-89F0-42FA-AACC-D211E5F3592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892E5C9-5637-46EA-9E55-1C3C132B9DEA}"/>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37124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2E40E-CD1F-4D6A-A5C0-6AB99C161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04DA7F4A-CFF7-4801-B83C-7281DFA09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6C708A6-8026-43C5-A6DF-205DA74315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85572E-433B-4C3C-9216-427A579344CD}" type="datetimeFigureOut">
              <a:rPr lang="en-IE" smtClean="0"/>
              <a:t>17/10/2019</a:t>
            </a:fld>
            <a:endParaRPr lang="en-IE"/>
          </a:p>
        </p:txBody>
      </p:sp>
      <p:sp>
        <p:nvSpPr>
          <p:cNvPr id="5" name="Footer Placeholder 4">
            <a:extLst>
              <a:ext uri="{FF2B5EF4-FFF2-40B4-BE49-F238E27FC236}">
                <a16:creationId xmlns:a16="http://schemas.microsoft.com/office/drawing/2014/main" id="{A55F329E-D46A-4C6D-8C77-B38E86412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9C745A8-7D25-4353-B61B-79E8C939F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FE6887-6153-4429-AEB1-AABFEB6BB666}" type="slidenum">
              <a:rPr lang="en-IE" smtClean="0"/>
              <a:t>‹#›</a:t>
            </a:fld>
            <a:endParaRPr lang="en-IE"/>
          </a:p>
        </p:txBody>
      </p:sp>
    </p:spTree>
    <p:extLst>
      <p:ext uri="{BB962C8B-B14F-4D97-AF65-F5344CB8AC3E}">
        <p14:creationId xmlns:p14="http://schemas.microsoft.com/office/powerpoint/2010/main" val="1717515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D82C-2767-4733-92AF-759DBF7BA337}"/>
              </a:ext>
            </a:extLst>
          </p:cNvPr>
          <p:cNvSpPr>
            <a:spLocks noGrp="1"/>
          </p:cNvSpPr>
          <p:nvPr>
            <p:ph type="ctrTitle"/>
          </p:nvPr>
        </p:nvSpPr>
        <p:spPr/>
        <p:txBody>
          <a:bodyPr/>
          <a:lstStyle/>
          <a:p>
            <a:r>
              <a:rPr lang="en-IE" dirty="0"/>
              <a:t>Software Development 3</a:t>
            </a:r>
          </a:p>
        </p:txBody>
      </p:sp>
      <p:sp>
        <p:nvSpPr>
          <p:cNvPr id="3" name="Subtitle 2">
            <a:extLst>
              <a:ext uri="{FF2B5EF4-FFF2-40B4-BE49-F238E27FC236}">
                <a16:creationId xmlns:a16="http://schemas.microsoft.com/office/drawing/2014/main" id="{C3CE9A08-CC23-4E26-9F82-CC9B76F72CBB}"/>
              </a:ext>
            </a:extLst>
          </p:cNvPr>
          <p:cNvSpPr>
            <a:spLocks noGrp="1"/>
          </p:cNvSpPr>
          <p:nvPr>
            <p:ph type="subTitle" idx="1"/>
          </p:nvPr>
        </p:nvSpPr>
        <p:spPr/>
        <p:txBody>
          <a:bodyPr/>
          <a:lstStyle/>
          <a:p>
            <a:r>
              <a:rPr lang="en-IE" dirty="0"/>
              <a:t>RMI</a:t>
            </a:r>
          </a:p>
        </p:txBody>
      </p:sp>
    </p:spTree>
    <p:extLst>
      <p:ext uri="{BB962C8B-B14F-4D97-AF65-F5344CB8AC3E}">
        <p14:creationId xmlns:p14="http://schemas.microsoft.com/office/powerpoint/2010/main" val="256326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C6E1-381A-4787-9B4A-CFD2EFB8D717}"/>
              </a:ext>
            </a:extLst>
          </p:cNvPr>
          <p:cNvSpPr>
            <a:spLocks noGrp="1"/>
          </p:cNvSpPr>
          <p:nvPr>
            <p:ph type="title"/>
          </p:nvPr>
        </p:nvSpPr>
        <p:spPr/>
        <p:txBody>
          <a:bodyPr/>
          <a:lstStyle/>
          <a:p>
            <a:r>
              <a:rPr lang="en-IE" dirty="0"/>
              <a:t>Distributed Programming in Java</a:t>
            </a:r>
          </a:p>
        </p:txBody>
      </p:sp>
      <p:sp>
        <p:nvSpPr>
          <p:cNvPr id="3" name="Content Placeholder 2">
            <a:extLst>
              <a:ext uri="{FF2B5EF4-FFF2-40B4-BE49-F238E27FC236}">
                <a16:creationId xmlns:a16="http://schemas.microsoft.com/office/drawing/2014/main" id="{F4E4565E-9F16-40B1-846D-C7881079D9CE}"/>
              </a:ext>
            </a:extLst>
          </p:cNvPr>
          <p:cNvSpPr>
            <a:spLocks noGrp="1"/>
          </p:cNvSpPr>
          <p:nvPr>
            <p:ph idx="1"/>
          </p:nvPr>
        </p:nvSpPr>
        <p:spPr/>
        <p:txBody>
          <a:bodyPr/>
          <a:lstStyle/>
          <a:p>
            <a:r>
              <a:rPr lang="en-GB" dirty="0"/>
              <a:t>Many different techniques for building client/server systems</a:t>
            </a:r>
          </a:p>
          <a:p>
            <a:pPr lvl="1"/>
            <a:r>
              <a:rPr lang="en-GB" sz="2800" dirty="0"/>
              <a:t>Use low level sockets</a:t>
            </a:r>
          </a:p>
          <a:p>
            <a:pPr lvl="1"/>
            <a:r>
              <a:rPr lang="en-GB" sz="2800" dirty="0"/>
              <a:t>Use JDBC to make database queries and updates</a:t>
            </a:r>
          </a:p>
          <a:p>
            <a:pPr lvl="1"/>
            <a:r>
              <a:rPr lang="en-GB" sz="2800" dirty="0"/>
              <a:t>Use Java’s remote method invocation (RMI) to communicate between remote Java objects</a:t>
            </a:r>
          </a:p>
          <a:p>
            <a:pPr lvl="1"/>
            <a:r>
              <a:rPr lang="en-GB" sz="2800" dirty="0"/>
              <a:t>Use an object request broker that supports Java</a:t>
            </a:r>
            <a:endParaRPr lang="en-IE" sz="2800" dirty="0"/>
          </a:p>
          <a:p>
            <a:endParaRPr lang="en-IE" dirty="0"/>
          </a:p>
        </p:txBody>
      </p:sp>
    </p:spTree>
    <p:extLst>
      <p:ext uri="{BB962C8B-B14F-4D97-AF65-F5344CB8AC3E}">
        <p14:creationId xmlns:p14="http://schemas.microsoft.com/office/powerpoint/2010/main" val="3387046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176BF-0873-42EB-A613-710ADCC5DE77}"/>
              </a:ext>
            </a:extLst>
          </p:cNvPr>
          <p:cNvSpPr>
            <a:spLocks noGrp="1"/>
          </p:cNvSpPr>
          <p:nvPr>
            <p:ph type="title"/>
          </p:nvPr>
        </p:nvSpPr>
        <p:spPr/>
        <p:txBody>
          <a:bodyPr/>
          <a:lstStyle/>
          <a:p>
            <a:r>
              <a:rPr lang="en-IE" dirty="0"/>
              <a:t>RMI</a:t>
            </a:r>
          </a:p>
        </p:txBody>
      </p:sp>
      <p:sp>
        <p:nvSpPr>
          <p:cNvPr id="3" name="Content Placeholder 2">
            <a:extLst>
              <a:ext uri="{FF2B5EF4-FFF2-40B4-BE49-F238E27FC236}">
                <a16:creationId xmlns:a16="http://schemas.microsoft.com/office/drawing/2014/main" id="{C464F102-7066-4C7E-A453-F03BA035AC54}"/>
              </a:ext>
            </a:extLst>
          </p:cNvPr>
          <p:cNvSpPr>
            <a:spLocks noGrp="1"/>
          </p:cNvSpPr>
          <p:nvPr>
            <p:ph idx="1"/>
          </p:nvPr>
        </p:nvSpPr>
        <p:spPr/>
        <p:txBody>
          <a:bodyPr/>
          <a:lstStyle/>
          <a:p>
            <a:r>
              <a:rPr lang="en-IE" dirty="0"/>
              <a:t>RMI applications often comprise two separate programs:</a:t>
            </a:r>
          </a:p>
          <a:p>
            <a:pPr lvl="1"/>
            <a:r>
              <a:rPr lang="en-IE" sz="2800" dirty="0"/>
              <a:t>Client</a:t>
            </a:r>
          </a:p>
          <a:p>
            <a:pPr lvl="1"/>
            <a:r>
              <a:rPr lang="en-IE" sz="2800" dirty="0"/>
              <a:t>Server</a:t>
            </a:r>
          </a:p>
          <a:p>
            <a:endParaRPr lang="en-IE" dirty="0"/>
          </a:p>
        </p:txBody>
      </p:sp>
    </p:spTree>
    <p:extLst>
      <p:ext uri="{BB962C8B-B14F-4D97-AF65-F5344CB8AC3E}">
        <p14:creationId xmlns:p14="http://schemas.microsoft.com/office/powerpoint/2010/main" val="3390631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9BE4-687D-4F92-8F0F-AC1B15E8CAD2}"/>
              </a:ext>
            </a:extLst>
          </p:cNvPr>
          <p:cNvSpPr>
            <a:spLocks noGrp="1"/>
          </p:cNvSpPr>
          <p:nvPr>
            <p:ph type="title"/>
          </p:nvPr>
        </p:nvSpPr>
        <p:spPr/>
        <p:txBody>
          <a:bodyPr/>
          <a:lstStyle/>
          <a:p>
            <a:r>
              <a:rPr lang="en-IE" dirty="0"/>
              <a:t>RMI Server</a:t>
            </a:r>
          </a:p>
        </p:txBody>
      </p:sp>
      <p:sp>
        <p:nvSpPr>
          <p:cNvPr id="3" name="Content Placeholder 2">
            <a:extLst>
              <a:ext uri="{FF2B5EF4-FFF2-40B4-BE49-F238E27FC236}">
                <a16:creationId xmlns:a16="http://schemas.microsoft.com/office/drawing/2014/main" id="{16C351C0-E383-43CC-BE9E-A62FF46316FC}"/>
              </a:ext>
            </a:extLst>
          </p:cNvPr>
          <p:cNvSpPr>
            <a:spLocks noGrp="1"/>
          </p:cNvSpPr>
          <p:nvPr>
            <p:ph idx="1"/>
          </p:nvPr>
        </p:nvSpPr>
        <p:spPr/>
        <p:txBody>
          <a:bodyPr/>
          <a:lstStyle/>
          <a:p>
            <a:r>
              <a:rPr lang="en-IE" dirty="0"/>
              <a:t>A typical server program:</a:t>
            </a:r>
          </a:p>
          <a:p>
            <a:pPr lvl="1"/>
            <a:r>
              <a:rPr lang="en-IE" sz="2800" dirty="0"/>
              <a:t>Creates some objects.</a:t>
            </a:r>
          </a:p>
          <a:p>
            <a:pPr lvl="1"/>
            <a:r>
              <a:rPr lang="en-IE" sz="2800" dirty="0"/>
              <a:t>Makes these objects remotely accessible</a:t>
            </a:r>
          </a:p>
          <a:p>
            <a:pPr lvl="1"/>
            <a:r>
              <a:rPr lang="en-IE" sz="2800" dirty="0"/>
              <a:t>Waits for clients to invoke methods on these objects.</a:t>
            </a:r>
          </a:p>
          <a:p>
            <a:endParaRPr lang="en-IE" dirty="0"/>
          </a:p>
        </p:txBody>
      </p:sp>
    </p:spTree>
    <p:extLst>
      <p:ext uri="{BB962C8B-B14F-4D97-AF65-F5344CB8AC3E}">
        <p14:creationId xmlns:p14="http://schemas.microsoft.com/office/powerpoint/2010/main" val="1528561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9616-2338-468E-A3C3-1DF5474B5FFD}"/>
              </a:ext>
            </a:extLst>
          </p:cNvPr>
          <p:cNvSpPr>
            <a:spLocks noGrp="1"/>
          </p:cNvSpPr>
          <p:nvPr>
            <p:ph type="title"/>
          </p:nvPr>
        </p:nvSpPr>
        <p:spPr/>
        <p:txBody>
          <a:bodyPr/>
          <a:lstStyle/>
          <a:p>
            <a:r>
              <a:rPr lang="en-IE" dirty="0"/>
              <a:t>RMI Client</a:t>
            </a:r>
          </a:p>
        </p:txBody>
      </p:sp>
      <p:sp>
        <p:nvSpPr>
          <p:cNvPr id="3" name="Content Placeholder 2">
            <a:extLst>
              <a:ext uri="{FF2B5EF4-FFF2-40B4-BE49-F238E27FC236}">
                <a16:creationId xmlns:a16="http://schemas.microsoft.com/office/drawing/2014/main" id="{1B405ED0-36C1-4100-90F2-DBF85CEEC38B}"/>
              </a:ext>
            </a:extLst>
          </p:cNvPr>
          <p:cNvSpPr>
            <a:spLocks noGrp="1"/>
          </p:cNvSpPr>
          <p:nvPr>
            <p:ph idx="1"/>
          </p:nvPr>
        </p:nvSpPr>
        <p:spPr/>
        <p:txBody>
          <a:bodyPr/>
          <a:lstStyle/>
          <a:p>
            <a:r>
              <a:rPr lang="en-IE" dirty="0"/>
              <a:t>A typical client program:</a:t>
            </a:r>
          </a:p>
          <a:p>
            <a:pPr lvl="1"/>
            <a:r>
              <a:rPr lang="en-IE" sz="2800" dirty="0"/>
              <a:t>Obtains a remote reference to one or more remote objects on a server.</a:t>
            </a:r>
          </a:p>
          <a:p>
            <a:pPr lvl="1"/>
            <a:r>
              <a:rPr lang="en-IE" sz="2800" dirty="0"/>
              <a:t> Invokes methods on remote object.</a:t>
            </a:r>
          </a:p>
          <a:p>
            <a:endParaRPr lang="en-IE" dirty="0"/>
          </a:p>
        </p:txBody>
      </p:sp>
    </p:spTree>
    <p:extLst>
      <p:ext uri="{BB962C8B-B14F-4D97-AF65-F5344CB8AC3E}">
        <p14:creationId xmlns:p14="http://schemas.microsoft.com/office/powerpoint/2010/main" val="670192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E5D5-C2F0-4C5D-90E0-F75A3193F73F}"/>
              </a:ext>
            </a:extLst>
          </p:cNvPr>
          <p:cNvSpPr>
            <a:spLocks noGrp="1"/>
          </p:cNvSpPr>
          <p:nvPr>
            <p:ph type="title"/>
          </p:nvPr>
        </p:nvSpPr>
        <p:spPr/>
        <p:txBody>
          <a:bodyPr/>
          <a:lstStyle/>
          <a:p>
            <a:r>
              <a:rPr lang="en-IE" dirty="0"/>
              <a:t>RMI</a:t>
            </a:r>
          </a:p>
        </p:txBody>
      </p:sp>
      <p:sp>
        <p:nvSpPr>
          <p:cNvPr id="3" name="Content Placeholder 2">
            <a:extLst>
              <a:ext uri="{FF2B5EF4-FFF2-40B4-BE49-F238E27FC236}">
                <a16:creationId xmlns:a16="http://schemas.microsoft.com/office/drawing/2014/main" id="{82AF016D-6B1A-4093-98DC-17FBDE902C88}"/>
              </a:ext>
            </a:extLst>
          </p:cNvPr>
          <p:cNvSpPr>
            <a:spLocks noGrp="1"/>
          </p:cNvSpPr>
          <p:nvPr>
            <p:ph idx="1"/>
          </p:nvPr>
        </p:nvSpPr>
        <p:spPr/>
        <p:txBody>
          <a:bodyPr/>
          <a:lstStyle/>
          <a:p>
            <a:r>
              <a:rPr lang="en-IE" dirty="0"/>
              <a:t>RMI provides the mechanism by which the server and the client communicate and pass information back and forth. Such an application is sometimes referred to as a </a:t>
            </a:r>
            <a:r>
              <a:rPr lang="en-IE" i="1" dirty="0"/>
              <a:t>distributed object application</a:t>
            </a:r>
            <a:r>
              <a:rPr lang="en-IE" dirty="0"/>
              <a:t>. </a:t>
            </a:r>
          </a:p>
          <a:p>
            <a:endParaRPr lang="en-IE" dirty="0"/>
          </a:p>
        </p:txBody>
      </p:sp>
      <p:pic>
        <p:nvPicPr>
          <p:cNvPr id="4" name="Picture 2">
            <a:extLst>
              <a:ext uri="{FF2B5EF4-FFF2-40B4-BE49-F238E27FC236}">
                <a16:creationId xmlns:a16="http://schemas.microsoft.com/office/drawing/2014/main" id="{C74F78E8-EFB2-48E2-A18E-073864A1CB3C}"/>
              </a:ext>
            </a:extLst>
          </p:cNvPr>
          <p:cNvPicPr>
            <a:picLocks noChangeAspect="1" noChangeArrowheads="1"/>
          </p:cNvPicPr>
          <p:nvPr/>
        </p:nvPicPr>
        <p:blipFill>
          <a:blip r:embed="rId2" cstate="print"/>
          <a:srcRect/>
          <a:stretch>
            <a:fillRect/>
          </a:stretch>
        </p:blipFill>
        <p:spPr bwMode="auto">
          <a:xfrm>
            <a:off x="3032212" y="3187700"/>
            <a:ext cx="6127575" cy="3124200"/>
          </a:xfrm>
          <a:prstGeom prst="rect">
            <a:avLst/>
          </a:prstGeom>
          <a:noFill/>
          <a:ln w="9525">
            <a:noFill/>
            <a:miter lim="800000"/>
            <a:headEnd/>
            <a:tailEnd/>
          </a:ln>
        </p:spPr>
      </p:pic>
    </p:spTree>
    <p:extLst>
      <p:ext uri="{BB962C8B-B14F-4D97-AF65-F5344CB8AC3E}">
        <p14:creationId xmlns:p14="http://schemas.microsoft.com/office/powerpoint/2010/main" val="2618504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E1D97-1723-4A16-BA6B-AB43BD6DC6CF}"/>
              </a:ext>
            </a:extLst>
          </p:cNvPr>
          <p:cNvSpPr>
            <a:spLocks noGrp="1"/>
          </p:cNvSpPr>
          <p:nvPr>
            <p:ph type="title"/>
          </p:nvPr>
        </p:nvSpPr>
        <p:spPr/>
        <p:txBody>
          <a:bodyPr/>
          <a:lstStyle/>
          <a:p>
            <a:r>
              <a:rPr lang="en-IE" dirty="0"/>
              <a:t>Remote Class</a:t>
            </a:r>
          </a:p>
        </p:txBody>
      </p:sp>
      <p:sp>
        <p:nvSpPr>
          <p:cNvPr id="3" name="Content Placeholder 2">
            <a:extLst>
              <a:ext uri="{FF2B5EF4-FFF2-40B4-BE49-F238E27FC236}">
                <a16:creationId xmlns:a16="http://schemas.microsoft.com/office/drawing/2014/main" id="{0307A607-47DB-40FF-8BE4-CDA187B1748C}"/>
              </a:ext>
            </a:extLst>
          </p:cNvPr>
          <p:cNvSpPr>
            <a:spLocks noGrp="1"/>
          </p:cNvSpPr>
          <p:nvPr>
            <p:ph idx="1"/>
          </p:nvPr>
        </p:nvSpPr>
        <p:spPr/>
        <p:txBody>
          <a:bodyPr/>
          <a:lstStyle/>
          <a:p>
            <a:r>
              <a:rPr lang="en-IE" sz="2400" dirty="0"/>
              <a:t>A Remote Class has two parts: the interface and the class itself. </a:t>
            </a:r>
          </a:p>
          <a:p>
            <a:pPr lvl="1"/>
            <a:r>
              <a:rPr lang="en-IE" dirty="0"/>
              <a:t>The Remote interface must have the following properties: </a:t>
            </a:r>
          </a:p>
          <a:p>
            <a:pPr lvl="2"/>
            <a:r>
              <a:rPr lang="en-IE" sz="2400" dirty="0"/>
              <a:t>The interface must be public. </a:t>
            </a:r>
          </a:p>
          <a:p>
            <a:pPr lvl="2"/>
            <a:r>
              <a:rPr lang="en-IE" sz="2400" dirty="0"/>
              <a:t>The interface must extend the interface </a:t>
            </a:r>
            <a:r>
              <a:rPr lang="en-IE" sz="2400" dirty="0" err="1"/>
              <a:t>java.rmi.Remote</a:t>
            </a:r>
            <a:r>
              <a:rPr lang="en-IE" sz="2400" dirty="0"/>
              <a:t>. </a:t>
            </a:r>
          </a:p>
          <a:p>
            <a:pPr lvl="2"/>
            <a:r>
              <a:rPr lang="en-IE" sz="2400" dirty="0"/>
              <a:t>Every method in the interface must declare that it throws </a:t>
            </a:r>
            <a:r>
              <a:rPr lang="en-IE" sz="2400" dirty="0" err="1"/>
              <a:t>java.rmi.RemoteException</a:t>
            </a:r>
            <a:r>
              <a:rPr lang="en-IE" sz="2400" dirty="0"/>
              <a:t>. Other exceptions may also be thrown. </a:t>
            </a:r>
          </a:p>
          <a:p>
            <a:endParaRPr lang="en-IE" dirty="0"/>
          </a:p>
        </p:txBody>
      </p:sp>
    </p:spTree>
    <p:extLst>
      <p:ext uri="{BB962C8B-B14F-4D97-AF65-F5344CB8AC3E}">
        <p14:creationId xmlns:p14="http://schemas.microsoft.com/office/powerpoint/2010/main" val="3387721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BA8C8-DA70-40A8-BA7D-E274B920F3BD}"/>
              </a:ext>
            </a:extLst>
          </p:cNvPr>
          <p:cNvSpPr>
            <a:spLocks noGrp="1"/>
          </p:cNvSpPr>
          <p:nvPr>
            <p:ph type="title"/>
          </p:nvPr>
        </p:nvSpPr>
        <p:spPr/>
        <p:txBody>
          <a:bodyPr/>
          <a:lstStyle/>
          <a:p>
            <a:r>
              <a:rPr lang="en-IE" dirty="0"/>
              <a:t>Create an RMI Application</a:t>
            </a:r>
          </a:p>
        </p:txBody>
      </p:sp>
      <p:sp>
        <p:nvSpPr>
          <p:cNvPr id="3" name="Content Placeholder 2">
            <a:extLst>
              <a:ext uri="{FF2B5EF4-FFF2-40B4-BE49-F238E27FC236}">
                <a16:creationId xmlns:a16="http://schemas.microsoft.com/office/drawing/2014/main" id="{442E6A7A-E7E9-41FF-8006-B8E97C18438A}"/>
              </a:ext>
            </a:extLst>
          </p:cNvPr>
          <p:cNvSpPr>
            <a:spLocks noGrp="1"/>
          </p:cNvSpPr>
          <p:nvPr>
            <p:ph idx="1"/>
          </p:nvPr>
        </p:nvSpPr>
        <p:spPr/>
        <p:txBody>
          <a:bodyPr/>
          <a:lstStyle/>
          <a:p>
            <a:r>
              <a:rPr lang="en-IE" dirty="0"/>
              <a:t>Create a new Java Project for this example!</a:t>
            </a:r>
          </a:p>
        </p:txBody>
      </p:sp>
    </p:spTree>
    <p:extLst>
      <p:ext uri="{BB962C8B-B14F-4D97-AF65-F5344CB8AC3E}">
        <p14:creationId xmlns:p14="http://schemas.microsoft.com/office/powerpoint/2010/main" val="188568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67A54-9871-4CAB-9E57-12730F914674}"/>
              </a:ext>
            </a:extLst>
          </p:cNvPr>
          <p:cNvSpPr>
            <a:spLocks noGrp="1"/>
          </p:cNvSpPr>
          <p:nvPr>
            <p:ph type="title"/>
          </p:nvPr>
        </p:nvSpPr>
        <p:spPr/>
        <p:txBody>
          <a:bodyPr/>
          <a:lstStyle/>
          <a:p>
            <a:r>
              <a:rPr lang="en-IE" dirty="0"/>
              <a:t>Create an RMI Application</a:t>
            </a:r>
          </a:p>
        </p:txBody>
      </p:sp>
      <p:sp>
        <p:nvSpPr>
          <p:cNvPr id="3" name="Content Placeholder 2">
            <a:extLst>
              <a:ext uri="{FF2B5EF4-FFF2-40B4-BE49-F238E27FC236}">
                <a16:creationId xmlns:a16="http://schemas.microsoft.com/office/drawing/2014/main" id="{255C2327-F8D7-4B11-99EA-F5903A6363A2}"/>
              </a:ext>
            </a:extLst>
          </p:cNvPr>
          <p:cNvSpPr>
            <a:spLocks noGrp="1"/>
          </p:cNvSpPr>
          <p:nvPr>
            <p:ph idx="1"/>
          </p:nvPr>
        </p:nvSpPr>
        <p:spPr/>
        <p:txBody>
          <a:bodyPr>
            <a:normAutofit/>
          </a:bodyPr>
          <a:lstStyle/>
          <a:p>
            <a:r>
              <a:rPr lang="en-IE" dirty="0"/>
              <a:t>Suppose we want to be able to access a House Class (Local Version) remotely:</a:t>
            </a:r>
          </a:p>
          <a:p>
            <a:endParaRPr lang="en-IE" dirty="0"/>
          </a:p>
        </p:txBody>
      </p:sp>
      <p:pic>
        <p:nvPicPr>
          <p:cNvPr id="4" name="Picture 3">
            <a:extLst>
              <a:ext uri="{FF2B5EF4-FFF2-40B4-BE49-F238E27FC236}">
                <a16:creationId xmlns:a16="http://schemas.microsoft.com/office/drawing/2014/main" id="{100251F6-C689-4471-85CC-801DB3219FC6}"/>
              </a:ext>
            </a:extLst>
          </p:cNvPr>
          <p:cNvPicPr>
            <a:picLocks noChangeAspect="1"/>
          </p:cNvPicPr>
          <p:nvPr/>
        </p:nvPicPr>
        <p:blipFill>
          <a:blip r:embed="rId2"/>
          <a:stretch>
            <a:fillRect/>
          </a:stretch>
        </p:blipFill>
        <p:spPr>
          <a:xfrm>
            <a:off x="3230879" y="2473275"/>
            <a:ext cx="4966111" cy="4019600"/>
          </a:xfrm>
          <a:prstGeom prst="rect">
            <a:avLst/>
          </a:prstGeom>
        </p:spPr>
      </p:pic>
    </p:spTree>
    <p:extLst>
      <p:ext uri="{BB962C8B-B14F-4D97-AF65-F5344CB8AC3E}">
        <p14:creationId xmlns:p14="http://schemas.microsoft.com/office/powerpoint/2010/main" val="3376145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4D645-7CC2-42AA-B5FD-EE0BEF03BD21}"/>
              </a:ext>
            </a:extLst>
          </p:cNvPr>
          <p:cNvSpPr>
            <a:spLocks noGrp="1"/>
          </p:cNvSpPr>
          <p:nvPr>
            <p:ph type="title"/>
          </p:nvPr>
        </p:nvSpPr>
        <p:spPr/>
        <p:txBody>
          <a:bodyPr/>
          <a:lstStyle/>
          <a:p>
            <a:r>
              <a:rPr lang="en-IE" dirty="0"/>
              <a:t>Remote Class</a:t>
            </a:r>
          </a:p>
        </p:txBody>
      </p:sp>
      <p:sp>
        <p:nvSpPr>
          <p:cNvPr id="3" name="Content Placeholder 2">
            <a:extLst>
              <a:ext uri="{FF2B5EF4-FFF2-40B4-BE49-F238E27FC236}">
                <a16:creationId xmlns:a16="http://schemas.microsoft.com/office/drawing/2014/main" id="{20207544-C59C-4E75-A753-72490B956CA9}"/>
              </a:ext>
            </a:extLst>
          </p:cNvPr>
          <p:cNvSpPr>
            <a:spLocks noGrp="1"/>
          </p:cNvSpPr>
          <p:nvPr>
            <p:ph idx="1"/>
          </p:nvPr>
        </p:nvSpPr>
        <p:spPr/>
        <p:txBody>
          <a:bodyPr/>
          <a:lstStyle/>
          <a:p>
            <a:r>
              <a:rPr lang="en-IE" sz="2400" dirty="0"/>
              <a:t>In order to make House Remote (also called distributed) it will need to have the following properties: </a:t>
            </a:r>
          </a:p>
          <a:p>
            <a:endParaRPr lang="en-IE" sz="2400" dirty="0"/>
          </a:p>
          <a:p>
            <a:pPr lvl="1"/>
            <a:r>
              <a:rPr lang="en-IE" dirty="0"/>
              <a:t>It must implement a Remote interface. </a:t>
            </a:r>
          </a:p>
          <a:p>
            <a:pPr lvl="1"/>
            <a:r>
              <a:rPr lang="en-IE" dirty="0"/>
              <a:t>It should extend the </a:t>
            </a:r>
            <a:r>
              <a:rPr lang="en-IE" dirty="0" err="1"/>
              <a:t>java.rmi.server.UnicastRemoteObject</a:t>
            </a:r>
            <a:r>
              <a:rPr lang="en-IE" dirty="0"/>
              <a:t> class. </a:t>
            </a:r>
          </a:p>
          <a:p>
            <a:pPr lvl="2"/>
            <a:r>
              <a:rPr lang="en-IE" sz="2400" dirty="0"/>
              <a:t>Objects of such a class exist in the address space of the server and can be invoked remotely. </a:t>
            </a:r>
          </a:p>
          <a:p>
            <a:pPr lvl="2"/>
            <a:endParaRPr lang="en-IE" sz="2400" dirty="0"/>
          </a:p>
          <a:p>
            <a:pPr lvl="1"/>
            <a:r>
              <a:rPr lang="en-IE" dirty="0"/>
              <a:t>It can have methods that are not in its Remote interface. These can only be invoked locally. </a:t>
            </a:r>
          </a:p>
          <a:p>
            <a:endParaRPr lang="en-IE" dirty="0"/>
          </a:p>
        </p:txBody>
      </p:sp>
    </p:spTree>
    <p:extLst>
      <p:ext uri="{BB962C8B-B14F-4D97-AF65-F5344CB8AC3E}">
        <p14:creationId xmlns:p14="http://schemas.microsoft.com/office/powerpoint/2010/main" val="1942951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AC4BD-2F29-4E06-9B1C-FD5D4FB5A37D}"/>
              </a:ext>
            </a:extLst>
          </p:cNvPr>
          <p:cNvSpPr>
            <a:spLocks noGrp="1"/>
          </p:cNvSpPr>
          <p:nvPr>
            <p:ph type="title"/>
          </p:nvPr>
        </p:nvSpPr>
        <p:spPr/>
        <p:txBody>
          <a:bodyPr/>
          <a:lstStyle/>
          <a:p>
            <a:r>
              <a:rPr lang="en-IE" dirty="0"/>
              <a:t>The Remote Interface Called “</a:t>
            </a:r>
            <a:r>
              <a:rPr lang="en-IE" dirty="0" err="1"/>
              <a:t>HouseInterface</a:t>
            </a:r>
            <a:r>
              <a:rPr lang="en-IE" dirty="0"/>
              <a:t>”</a:t>
            </a:r>
          </a:p>
        </p:txBody>
      </p:sp>
      <p:pic>
        <p:nvPicPr>
          <p:cNvPr id="4" name="Picture 3">
            <a:extLst>
              <a:ext uri="{FF2B5EF4-FFF2-40B4-BE49-F238E27FC236}">
                <a16:creationId xmlns:a16="http://schemas.microsoft.com/office/drawing/2014/main" id="{9596AF37-A480-46A5-8FEC-B542AFF803A3}"/>
              </a:ext>
            </a:extLst>
          </p:cNvPr>
          <p:cNvPicPr>
            <a:picLocks noChangeAspect="1"/>
          </p:cNvPicPr>
          <p:nvPr/>
        </p:nvPicPr>
        <p:blipFill>
          <a:blip r:embed="rId2"/>
          <a:stretch>
            <a:fillRect/>
          </a:stretch>
        </p:blipFill>
        <p:spPr>
          <a:xfrm>
            <a:off x="1156335" y="2302192"/>
            <a:ext cx="7788222" cy="1827848"/>
          </a:xfrm>
          <a:prstGeom prst="rect">
            <a:avLst/>
          </a:prstGeom>
        </p:spPr>
      </p:pic>
    </p:spTree>
    <p:extLst>
      <p:ext uri="{BB962C8B-B14F-4D97-AF65-F5344CB8AC3E}">
        <p14:creationId xmlns:p14="http://schemas.microsoft.com/office/powerpoint/2010/main" val="426092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E027A-F3D5-4D72-810D-9BFF8BB943F4}"/>
              </a:ext>
            </a:extLst>
          </p:cNvPr>
          <p:cNvSpPr>
            <a:spLocks noGrp="1"/>
          </p:cNvSpPr>
          <p:nvPr>
            <p:ph type="title"/>
          </p:nvPr>
        </p:nvSpPr>
        <p:spPr/>
        <p:txBody>
          <a:bodyPr/>
          <a:lstStyle/>
          <a:p>
            <a:r>
              <a:rPr lang="en-IE" dirty="0"/>
              <a:t>House Class (Distributed Version)</a:t>
            </a:r>
          </a:p>
        </p:txBody>
      </p:sp>
      <p:pic>
        <p:nvPicPr>
          <p:cNvPr id="9" name="Picture 8">
            <a:extLst>
              <a:ext uri="{FF2B5EF4-FFF2-40B4-BE49-F238E27FC236}">
                <a16:creationId xmlns:a16="http://schemas.microsoft.com/office/drawing/2014/main" id="{A526B8D6-9723-4A7E-9219-3643F45C8206}"/>
              </a:ext>
            </a:extLst>
          </p:cNvPr>
          <p:cNvPicPr>
            <a:picLocks noChangeAspect="1"/>
          </p:cNvPicPr>
          <p:nvPr/>
        </p:nvPicPr>
        <p:blipFill>
          <a:blip r:embed="rId2"/>
          <a:stretch>
            <a:fillRect/>
          </a:stretch>
        </p:blipFill>
        <p:spPr>
          <a:xfrm>
            <a:off x="723900" y="1430067"/>
            <a:ext cx="8785860" cy="5211799"/>
          </a:xfrm>
          <a:prstGeom prst="rect">
            <a:avLst/>
          </a:prstGeom>
        </p:spPr>
      </p:pic>
      <p:sp>
        <p:nvSpPr>
          <p:cNvPr id="5" name="Rectangle 4">
            <a:extLst>
              <a:ext uri="{FF2B5EF4-FFF2-40B4-BE49-F238E27FC236}">
                <a16:creationId xmlns:a16="http://schemas.microsoft.com/office/drawing/2014/main" id="{B5DDFD00-372F-4F05-A13B-F6DC5662DD9B}"/>
              </a:ext>
            </a:extLst>
          </p:cNvPr>
          <p:cNvSpPr/>
          <p:nvPr/>
        </p:nvSpPr>
        <p:spPr>
          <a:xfrm>
            <a:off x="5755442" y="3516337"/>
            <a:ext cx="2600767" cy="42065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B594654B-46C1-4BBE-BEDD-D309F58FFF05}"/>
              </a:ext>
            </a:extLst>
          </p:cNvPr>
          <p:cNvSpPr/>
          <p:nvPr/>
        </p:nvSpPr>
        <p:spPr>
          <a:xfrm>
            <a:off x="3011658" y="2065178"/>
            <a:ext cx="6498102" cy="42065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711258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FFDF-F2E9-4D24-AAAE-4A4A939BE693}"/>
              </a:ext>
            </a:extLst>
          </p:cNvPr>
          <p:cNvSpPr>
            <a:spLocks noGrp="1"/>
          </p:cNvSpPr>
          <p:nvPr>
            <p:ph type="title"/>
          </p:nvPr>
        </p:nvSpPr>
        <p:spPr/>
        <p:txBody>
          <a:bodyPr/>
          <a:lstStyle/>
          <a:p>
            <a:r>
              <a:rPr lang="en-IE" dirty="0"/>
              <a:t>The Server</a:t>
            </a:r>
          </a:p>
        </p:txBody>
      </p:sp>
      <p:sp>
        <p:nvSpPr>
          <p:cNvPr id="3" name="Content Placeholder 2">
            <a:extLst>
              <a:ext uri="{FF2B5EF4-FFF2-40B4-BE49-F238E27FC236}">
                <a16:creationId xmlns:a16="http://schemas.microsoft.com/office/drawing/2014/main" id="{EAC93270-55C9-4890-B5D2-6D789AB67D17}"/>
              </a:ext>
            </a:extLst>
          </p:cNvPr>
          <p:cNvSpPr>
            <a:spLocks noGrp="1"/>
          </p:cNvSpPr>
          <p:nvPr>
            <p:ph idx="1"/>
          </p:nvPr>
        </p:nvSpPr>
        <p:spPr/>
        <p:txBody>
          <a:bodyPr/>
          <a:lstStyle/>
          <a:p>
            <a:r>
              <a:rPr lang="en-IE" dirty="0"/>
              <a:t>Register at least one remote object must be registered with the Object Registry.</a:t>
            </a:r>
          </a:p>
          <a:p>
            <a:pPr lvl="1"/>
            <a:r>
              <a:rPr lang="en-IE" sz="2800" dirty="0"/>
              <a:t>The </a:t>
            </a:r>
            <a:r>
              <a:rPr lang="en-IE" sz="2800" dirty="0" err="1"/>
              <a:t>rmiregistry</a:t>
            </a:r>
            <a:r>
              <a:rPr lang="en-IE" sz="2800" dirty="0"/>
              <a:t> Object Registry only accepts requests to bind and unbind objects running on the same machine, so it is never necessary to specify the name of the machine when one is registering an object. </a:t>
            </a:r>
          </a:p>
          <a:p>
            <a:endParaRPr lang="en-IE" dirty="0"/>
          </a:p>
        </p:txBody>
      </p:sp>
    </p:spTree>
    <p:extLst>
      <p:ext uri="{BB962C8B-B14F-4D97-AF65-F5344CB8AC3E}">
        <p14:creationId xmlns:p14="http://schemas.microsoft.com/office/powerpoint/2010/main" val="1057500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AC64-725A-4C13-89F5-686B9BF181D8}"/>
              </a:ext>
            </a:extLst>
          </p:cNvPr>
          <p:cNvSpPr>
            <a:spLocks noGrp="1"/>
          </p:cNvSpPr>
          <p:nvPr>
            <p:ph type="title"/>
          </p:nvPr>
        </p:nvSpPr>
        <p:spPr/>
        <p:txBody>
          <a:bodyPr/>
          <a:lstStyle/>
          <a:p>
            <a:r>
              <a:rPr lang="en-IE" dirty="0"/>
              <a:t>The Server</a:t>
            </a:r>
          </a:p>
        </p:txBody>
      </p:sp>
      <p:pic>
        <p:nvPicPr>
          <p:cNvPr id="4" name="Picture 3">
            <a:extLst>
              <a:ext uri="{FF2B5EF4-FFF2-40B4-BE49-F238E27FC236}">
                <a16:creationId xmlns:a16="http://schemas.microsoft.com/office/drawing/2014/main" id="{7F03F6B6-45FE-4244-B902-954FFF7AA7F4}"/>
              </a:ext>
            </a:extLst>
          </p:cNvPr>
          <p:cNvPicPr>
            <a:picLocks noChangeAspect="1"/>
          </p:cNvPicPr>
          <p:nvPr/>
        </p:nvPicPr>
        <p:blipFill>
          <a:blip r:embed="rId2"/>
          <a:stretch>
            <a:fillRect/>
          </a:stretch>
        </p:blipFill>
        <p:spPr>
          <a:xfrm>
            <a:off x="1341120" y="1478280"/>
            <a:ext cx="7401340" cy="5166215"/>
          </a:xfrm>
          <a:prstGeom prst="rect">
            <a:avLst/>
          </a:prstGeom>
        </p:spPr>
      </p:pic>
    </p:spTree>
    <p:extLst>
      <p:ext uri="{BB962C8B-B14F-4D97-AF65-F5344CB8AC3E}">
        <p14:creationId xmlns:p14="http://schemas.microsoft.com/office/powerpoint/2010/main" val="2461934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AE046-1363-4C4F-BF7F-8C0108B819EB}"/>
              </a:ext>
            </a:extLst>
          </p:cNvPr>
          <p:cNvSpPr>
            <a:spLocks noGrp="1"/>
          </p:cNvSpPr>
          <p:nvPr>
            <p:ph type="title"/>
          </p:nvPr>
        </p:nvSpPr>
        <p:spPr/>
        <p:txBody>
          <a:bodyPr/>
          <a:lstStyle/>
          <a:p>
            <a:r>
              <a:rPr lang="en-IE" dirty="0"/>
              <a:t>The Client</a:t>
            </a:r>
          </a:p>
        </p:txBody>
      </p:sp>
      <p:pic>
        <p:nvPicPr>
          <p:cNvPr id="4" name="Content Placeholder 3">
            <a:extLst>
              <a:ext uri="{FF2B5EF4-FFF2-40B4-BE49-F238E27FC236}">
                <a16:creationId xmlns:a16="http://schemas.microsoft.com/office/drawing/2014/main" id="{BD7273D4-97AE-4606-A98F-C4645135B2D5}"/>
              </a:ext>
            </a:extLst>
          </p:cNvPr>
          <p:cNvPicPr>
            <a:picLocks noGrp="1" noChangeAspect="1"/>
          </p:cNvPicPr>
          <p:nvPr>
            <p:ph idx="1"/>
          </p:nvPr>
        </p:nvPicPr>
        <p:blipFill>
          <a:blip r:embed="rId2"/>
          <a:stretch>
            <a:fillRect/>
          </a:stretch>
        </p:blipFill>
        <p:spPr>
          <a:xfrm>
            <a:off x="1082040" y="1765454"/>
            <a:ext cx="8153400" cy="4900951"/>
          </a:xfrm>
          <a:prstGeom prst="rect">
            <a:avLst/>
          </a:prstGeom>
        </p:spPr>
      </p:pic>
    </p:spTree>
    <p:extLst>
      <p:ext uri="{BB962C8B-B14F-4D97-AF65-F5344CB8AC3E}">
        <p14:creationId xmlns:p14="http://schemas.microsoft.com/office/powerpoint/2010/main" val="3542767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0AB43-72EC-4F58-9093-5F6594EEB721}"/>
              </a:ext>
            </a:extLst>
          </p:cNvPr>
          <p:cNvSpPr>
            <a:spLocks noGrp="1"/>
          </p:cNvSpPr>
          <p:nvPr>
            <p:ph type="title"/>
          </p:nvPr>
        </p:nvSpPr>
        <p:spPr/>
        <p:txBody>
          <a:bodyPr/>
          <a:lstStyle/>
          <a:p>
            <a:r>
              <a:rPr lang="en-IE" dirty="0"/>
              <a:t>Running the Application</a:t>
            </a:r>
          </a:p>
        </p:txBody>
      </p:sp>
      <p:sp>
        <p:nvSpPr>
          <p:cNvPr id="3" name="Content Placeholder 2">
            <a:extLst>
              <a:ext uri="{FF2B5EF4-FFF2-40B4-BE49-F238E27FC236}">
                <a16:creationId xmlns:a16="http://schemas.microsoft.com/office/drawing/2014/main" id="{B07A41ED-3A20-4133-9FCF-2807836CBF5B}"/>
              </a:ext>
            </a:extLst>
          </p:cNvPr>
          <p:cNvSpPr>
            <a:spLocks noGrp="1"/>
          </p:cNvSpPr>
          <p:nvPr>
            <p:ph idx="1"/>
          </p:nvPr>
        </p:nvSpPr>
        <p:spPr/>
        <p:txBody>
          <a:bodyPr/>
          <a:lstStyle/>
          <a:p>
            <a:pPr marL="285750" indent="-285750"/>
            <a:r>
              <a:rPr lang="en-GB" sz="2000" dirty="0"/>
              <a:t>Create the code in Eclipse</a:t>
            </a:r>
          </a:p>
          <a:p>
            <a:pPr marL="285750" indent="-285750"/>
            <a:r>
              <a:rPr lang="en-GB" sz="2000" dirty="0"/>
              <a:t>Compile the code in Eclipse</a:t>
            </a:r>
          </a:p>
          <a:p>
            <a:pPr marL="285750" indent="-285750"/>
            <a:r>
              <a:rPr lang="en-GB" sz="2000" dirty="0"/>
              <a:t>You should now have 2 directories .../</a:t>
            </a:r>
            <a:r>
              <a:rPr lang="en-GB" sz="2000" dirty="0" err="1"/>
              <a:t>src</a:t>
            </a:r>
            <a:r>
              <a:rPr lang="en-GB" sz="2000" dirty="0"/>
              <a:t>   ../bin</a:t>
            </a:r>
          </a:p>
          <a:p>
            <a:pPr marL="285750" indent="-285750"/>
            <a:r>
              <a:rPr lang="en-GB" sz="2000" dirty="0"/>
              <a:t>Open 3 command prompts and navigate to the bin directory</a:t>
            </a:r>
          </a:p>
          <a:p>
            <a:pPr marL="342900" indent="-342900">
              <a:spcBef>
                <a:spcPct val="20000"/>
              </a:spcBef>
              <a:buClr>
                <a:schemeClr val="accent2"/>
              </a:buClr>
              <a:buSzPct val="75000"/>
            </a:pPr>
            <a:r>
              <a:rPr lang="en-GB" sz="2000" dirty="0"/>
              <a:t>In the bin directory Run </a:t>
            </a:r>
            <a:r>
              <a:rPr lang="en-GB" sz="2000" dirty="0" err="1"/>
              <a:t>rmic</a:t>
            </a:r>
            <a:r>
              <a:rPr lang="en-GB" sz="2000" dirty="0"/>
              <a:t> program</a:t>
            </a:r>
            <a:endParaRPr lang="en-GB" sz="2000" u="sng" dirty="0"/>
          </a:p>
          <a:p>
            <a:pPr marL="342900" indent="-342900">
              <a:spcBef>
                <a:spcPct val="20000"/>
              </a:spcBef>
              <a:buClr>
                <a:schemeClr val="accent2"/>
              </a:buClr>
              <a:buSzPct val="75000"/>
            </a:pPr>
            <a:r>
              <a:rPr lang="en-GB" sz="2000" dirty="0"/>
              <a:t>          “</a:t>
            </a:r>
            <a:r>
              <a:rPr lang="en-GB" sz="2000" i="1" dirty="0" err="1"/>
              <a:t>rmic</a:t>
            </a:r>
            <a:r>
              <a:rPr lang="en-GB" sz="2000" i="1" dirty="0"/>
              <a:t> </a:t>
            </a:r>
            <a:r>
              <a:rPr lang="en-GB" sz="2000" i="1" dirty="0" err="1"/>
              <a:t>HouseD</a:t>
            </a:r>
            <a:r>
              <a:rPr lang="en-GB" sz="2000" i="1" dirty="0"/>
              <a:t>”</a:t>
            </a:r>
          </a:p>
          <a:p>
            <a:pPr marL="742950" lvl="1" indent="-285750">
              <a:spcBef>
                <a:spcPct val="20000"/>
              </a:spcBef>
              <a:buClr>
                <a:schemeClr val="tx1"/>
              </a:buClr>
            </a:pPr>
            <a:r>
              <a:rPr lang="en-GB" sz="2000" dirty="0"/>
              <a:t>generates </a:t>
            </a:r>
            <a:r>
              <a:rPr lang="en-GB" sz="2000" dirty="0" err="1"/>
              <a:t>HouseD_Stub</a:t>
            </a:r>
            <a:r>
              <a:rPr lang="en-GB" sz="2000" dirty="0"/>
              <a:t> class</a:t>
            </a:r>
          </a:p>
          <a:p>
            <a:pPr marL="742950" lvl="1" indent="-285750">
              <a:spcBef>
                <a:spcPct val="20000"/>
              </a:spcBef>
              <a:buClr>
                <a:schemeClr val="tx1"/>
              </a:buClr>
            </a:pPr>
            <a:r>
              <a:rPr lang="en-GB" sz="2000" dirty="0"/>
              <a:t>generates </a:t>
            </a:r>
            <a:r>
              <a:rPr lang="en-GB" sz="2000" dirty="0" err="1"/>
              <a:t>HouseD_Skel</a:t>
            </a:r>
            <a:r>
              <a:rPr lang="en-GB" sz="2000" dirty="0"/>
              <a:t> class </a:t>
            </a:r>
          </a:p>
          <a:p>
            <a:pPr marL="285750" indent="-285750">
              <a:spcBef>
                <a:spcPct val="20000"/>
              </a:spcBef>
              <a:buClr>
                <a:schemeClr val="tx1"/>
              </a:buClr>
            </a:pPr>
            <a:r>
              <a:rPr lang="en-GB" sz="2000" dirty="0"/>
              <a:t>In one of the command shells - start the RMI registry using the command </a:t>
            </a:r>
            <a:r>
              <a:rPr lang="en-GB" sz="2000" i="1" dirty="0"/>
              <a:t>“</a:t>
            </a:r>
            <a:r>
              <a:rPr lang="en-GB" sz="2000" i="1" dirty="0" err="1"/>
              <a:t>rmiregistry</a:t>
            </a:r>
            <a:r>
              <a:rPr lang="en-GB" sz="2000" dirty="0"/>
              <a:t>”</a:t>
            </a:r>
          </a:p>
          <a:p>
            <a:pPr marL="285750" indent="-285750">
              <a:spcBef>
                <a:spcPct val="20000"/>
              </a:spcBef>
              <a:buClr>
                <a:schemeClr val="tx1"/>
              </a:buClr>
            </a:pPr>
            <a:r>
              <a:rPr lang="en-GB" sz="2000" dirty="0"/>
              <a:t>In another command shell – start the server “java </a:t>
            </a:r>
            <a:r>
              <a:rPr lang="en-GB" sz="2000" dirty="0" err="1"/>
              <a:t>HouseServer</a:t>
            </a:r>
            <a:r>
              <a:rPr lang="en-GB" sz="2000" dirty="0"/>
              <a:t>” or run in Eclipse</a:t>
            </a:r>
          </a:p>
          <a:p>
            <a:pPr marL="285750" indent="-285750">
              <a:spcBef>
                <a:spcPct val="20000"/>
              </a:spcBef>
              <a:buClr>
                <a:schemeClr val="tx1"/>
              </a:buClr>
            </a:pPr>
            <a:r>
              <a:rPr lang="en-GB" sz="2000" dirty="0"/>
              <a:t>Later - In another command shell – start the client “java </a:t>
            </a:r>
            <a:r>
              <a:rPr lang="en-GB" sz="2000" dirty="0" err="1"/>
              <a:t>HouseClient</a:t>
            </a:r>
            <a:r>
              <a:rPr lang="en-GB" sz="2000" dirty="0"/>
              <a:t>” or run in Eclipse</a:t>
            </a:r>
          </a:p>
          <a:p>
            <a:endParaRPr lang="en-IE" dirty="0"/>
          </a:p>
        </p:txBody>
      </p:sp>
    </p:spTree>
    <p:extLst>
      <p:ext uri="{BB962C8B-B14F-4D97-AF65-F5344CB8AC3E}">
        <p14:creationId xmlns:p14="http://schemas.microsoft.com/office/powerpoint/2010/main" val="2531591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4CCD6-A774-4AB4-BBA8-5AB288AD0128}"/>
              </a:ext>
            </a:extLst>
          </p:cNvPr>
          <p:cNvSpPr>
            <a:spLocks noGrp="1"/>
          </p:cNvSpPr>
          <p:nvPr>
            <p:ph type="title"/>
          </p:nvPr>
        </p:nvSpPr>
        <p:spPr/>
        <p:txBody>
          <a:bodyPr/>
          <a:lstStyle/>
          <a:p>
            <a:r>
              <a:rPr lang="en-IE" dirty="0"/>
              <a:t>RMI Registry</a:t>
            </a:r>
          </a:p>
        </p:txBody>
      </p:sp>
      <p:sp>
        <p:nvSpPr>
          <p:cNvPr id="3" name="Content Placeholder 2">
            <a:extLst>
              <a:ext uri="{FF2B5EF4-FFF2-40B4-BE49-F238E27FC236}">
                <a16:creationId xmlns:a16="http://schemas.microsoft.com/office/drawing/2014/main" id="{0466C48C-A309-4E03-9442-10157882FEFD}"/>
              </a:ext>
            </a:extLst>
          </p:cNvPr>
          <p:cNvSpPr>
            <a:spLocks noGrp="1"/>
          </p:cNvSpPr>
          <p:nvPr>
            <p:ph idx="1"/>
          </p:nvPr>
        </p:nvSpPr>
        <p:spPr/>
        <p:txBody>
          <a:bodyPr/>
          <a:lstStyle/>
          <a:p>
            <a:r>
              <a:rPr lang="en-GB" sz="3200" dirty="0"/>
              <a:t>Registry server effectively maintains a table holding:</a:t>
            </a:r>
          </a:p>
          <a:p>
            <a:pPr lvl="1"/>
            <a:r>
              <a:rPr lang="en-GB" sz="3200" dirty="0"/>
              <a:t>object references</a:t>
            </a:r>
          </a:p>
          <a:p>
            <a:pPr lvl="1"/>
            <a:r>
              <a:rPr lang="en-GB" sz="3200" dirty="0"/>
              <a:t>Names</a:t>
            </a:r>
          </a:p>
          <a:p>
            <a:pPr lvl="1"/>
            <a:r>
              <a:rPr lang="en-GB" sz="3200" dirty="0"/>
              <a:t>IP addresses</a:t>
            </a:r>
            <a:endParaRPr lang="en-IE" sz="3200" dirty="0"/>
          </a:p>
          <a:p>
            <a:endParaRPr lang="en-IE" dirty="0"/>
          </a:p>
        </p:txBody>
      </p:sp>
    </p:spTree>
    <p:extLst>
      <p:ext uri="{BB962C8B-B14F-4D97-AF65-F5344CB8AC3E}">
        <p14:creationId xmlns:p14="http://schemas.microsoft.com/office/powerpoint/2010/main" val="1564163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BB09D-0E83-46F6-97A7-861501DB3ADB}"/>
              </a:ext>
            </a:extLst>
          </p:cNvPr>
          <p:cNvSpPr>
            <a:spLocks noGrp="1"/>
          </p:cNvSpPr>
          <p:nvPr>
            <p:ph type="title"/>
          </p:nvPr>
        </p:nvSpPr>
        <p:spPr/>
        <p:txBody>
          <a:bodyPr/>
          <a:lstStyle/>
          <a:p>
            <a:r>
              <a:rPr lang="en-IE" dirty="0"/>
              <a:t>The Client</a:t>
            </a:r>
          </a:p>
        </p:txBody>
      </p:sp>
      <p:sp>
        <p:nvSpPr>
          <p:cNvPr id="3" name="Content Placeholder 2">
            <a:extLst>
              <a:ext uri="{FF2B5EF4-FFF2-40B4-BE49-F238E27FC236}">
                <a16:creationId xmlns:a16="http://schemas.microsoft.com/office/drawing/2014/main" id="{A2330B12-4DB6-48A1-BFBF-A6FDF6D6B1CB}"/>
              </a:ext>
            </a:extLst>
          </p:cNvPr>
          <p:cNvSpPr>
            <a:spLocks noGrp="1"/>
          </p:cNvSpPr>
          <p:nvPr>
            <p:ph idx="1"/>
          </p:nvPr>
        </p:nvSpPr>
        <p:spPr/>
        <p:txBody>
          <a:bodyPr/>
          <a:lstStyle/>
          <a:p>
            <a:r>
              <a:rPr lang="en-GB" dirty="0">
                <a:latin typeface="Arial" pitchFamily="34" charset="0"/>
                <a:cs typeface="Arial" pitchFamily="34" charset="0"/>
              </a:rPr>
              <a:t>Identify the target machine where the RMI registry and remote objects are located. In this situation no IP address is specified so  the remote objects are on the same machine</a:t>
            </a:r>
            <a:endParaRPr lang="en-IE" dirty="0">
              <a:latin typeface="Arial" pitchFamily="34" charset="0"/>
              <a:cs typeface="Arial" pitchFamily="34" charset="0"/>
            </a:endParaRPr>
          </a:p>
          <a:p>
            <a:pPr marL="82296" indent="0" algn="ctr">
              <a:buNone/>
            </a:pPr>
            <a:r>
              <a:rPr lang="en-IE" i="1" dirty="0">
                <a:latin typeface="Courier New" pitchFamily="49" charset="0"/>
                <a:cs typeface="Courier New" pitchFamily="49" charset="0"/>
              </a:rPr>
              <a:t>String </a:t>
            </a:r>
            <a:r>
              <a:rPr lang="en-IE" i="1" dirty="0" err="1">
                <a:latin typeface="Courier New" pitchFamily="49" charset="0"/>
                <a:cs typeface="Courier New" pitchFamily="49" charset="0"/>
              </a:rPr>
              <a:t>url</a:t>
            </a:r>
            <a:r>
              <a:rPr lang="en-IE" i="1" dirty="0">
                <a:latin typeface="Courier New" pitchFamily="49" charset="0"/>
                <a:cs typeface="Courier New" pitchFamily="49" charset="0"/>
              </a:rPr>
              <a:t> = "</a:t>
            </a:r>
            <a:r>
              <a:rPr lang="en-IE" i="1" dirty="0" err="1">
                <a:latin typeface="Courier New" pitchFamily="49" charset="0"/>
                <a:cs typeface="Courier New" pitchFamily="49" charset="0"/>
              </a:rPr>
              <a:t>rmi</a:t>
            </a:r>
            <a:r>
              <a:rPr lang="en-IE" i="1" dirty="0">
                <a:latin typeface="Courier New" pitchFamily="49" charset="0"/>
                <a:cs typeface="Courier New" pitchFamily="49" charset="0"/>
              </a:rPr>
              <a:t>:///";</a:t>
            </a:r>
          </a:p>
          <a:p>
            <a:pPr marL="82296" indent="0" algn="ctr">
              <a:buNone/>
            </a:pPr>
            <a:endParaRPr lang="en-IE" i="1" dirty="0">
              <a:latin typeface="Courier New" pitchFamily="49" charset="0"/>
              <a:cs typeface="Courier New" pitchFamily="49" charset="0"/>
            </a:endParaRPr>
          </a:p>
          <a:p>
            <a:r>
              <a:rPr lang="en-GB" dirty="0">
                <a:latin typeface="Arial" pitchFamily="34" charset="0"/>
                <a:cs typeface="Arial" pitchFamily="34" charset="0"/>
              </a:rPr>
              <a:t>Request the RMI registry on the target machine to return an object reference corresponding to the well known name “bungalow”</a:t>
            </a:r>
            <a:endParaRPr lang="en-IE" dirty="0">
              <a:latin typeface="Arial" pitchFamily="34" charset="0"/>
              <a:cs typeface="Arial" pitchFamily="34" charset="0"/>
            </a:endParaRPr>
          </a:p>
          <a:p>
            <a:pPr marL="82296" indent="0" algn="ctr">
              <a:buNone/>
            </a:pPr>
            <a:r>
              <a:rPr lang="en-IE" dirty="0" err="1">
                <a:latin typeface="Courier New" pitchFamily="49" charset="0"/>
                <a:cs typeface="Courier New" pitchFamily="49" charset="0"/>
              </a:rPr>
              <a:t>Naming.lookup</a:t>
            </a:r>
            <a:r>
              <a:rPr lang="en-IE" dirty="0">
                <a:latin typeface="Courier New" pitchFamily="49" charset="0"/>
                <a:cs typeface="Courier New" pitchFamily="49" charset="0"/>
              </a:rPr>
              <a:t>(</a:t>
            </a:r>
            <a:r>
              <a:rPr lang="en-IE" dirty="0" err="1">
                <a:latin typeface="Courier New" pitchFamily="49" charset="0"/>
                <a:cs typeface="Courier New" pitchFamily="49" charset="0"/>
              </a:rPr>
              <a:t>url</a:t>
            </a:r>
            <a:r>
              <a:rPr lang="en-IE" dirty="0">
                <a:latin typeface="Courier New" pitchFamily="49" charset="0"/>
                <a:cs typeface="Courier New" pitchFamily="49" charset="0"/>
              </a:rPr>
              <a:t>+</a:t>
            </a:r>
            <a:r>
              <a:rPr lang="en-IE" i="1" dirty="0">
                <a:latin typeface="Courier New" pitchFamily="49" charset="0"/>
                <a:cs typeface="Courier New" pitchFamily="49" charset="0"/>
              </a:rPr>
              <a:t> “bungalow"</a:t>
            </a:r>
            <a:r>
              <a:rPr lang="en-IE" dirty="0">
                <a:latin typeface="Courier New" pitchFamily="49" charset="0"/>
                <a:cs typeface="Courier New" pitchFamily="49" charset="0"/>
              </a:rPr>
              <a:t>);</a:t>
            </a:r>
          </a:p>
          <a:p>
            <a:endParaRPr lang="en-IE" dirty="0"/>
          </a:p>
        </p:txBody>
      </p:sp>
    </p:spTree>
    <p:extLst>
      <p:ext uri="{BB962C8B-B14F-4D97-AF65-F5344CB8AC3E}">
        <p14:creationId xmlns:p14="http://schemas.microsoft.com/office/powerpoint/2010/main" val="2648009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22A6-91CD-4CCE-8816-41BA4838195C}"/>
              </a:ext>
            </a:extLst>
          </p:cNvPr>
          <p:cNvSpPr>
            <a:spLocks noGrp="1"/>
          </p:cNvSpPr>
          <p:nvPr>
            <p:ph type="title"/>
          </p:nvPr>
        </p:nvSpPr>
        <p:spPr/>
        <p:txBody>
          <a:bodyPr/>
          <a:lstStyle/>
          <a:p>
            <a:r>
              <a:rPr lang="en-IE" dirty="0"/>
              <a:t>The Client</a:t>
            </a:r>
          </a:p>
        </p:txBody>
      </p:sp>
      <p:sp>
        <p:nvSpPr>
          <p:cNvPr id="3" name="Content Placeholder 2">
            <a:extLst>
              <a:ext uri="{FF2B5EF4-FFF2-40B4-BE49-F238E27FC236}">
                <a16:creationId xmlns:a16="http://schemas.microsoft.com/office/drawing/2014/main" id="{6C32CDBA-1721-49CE-9C2C-1F83B62232E4}"/>
              </a:ext>
            </a:extLst>
          </p:cNvPr>
          <p:cNvSpPr>
            <a:spLocks noGrp="1"/>
          </p:cNvSpPr>
          <p:nvPr>
            <p:ph idx="1"/>
          </p:nvPr>
        </p:nvSpPr>
        <p:spPr/>
        <p:txBody>
          <a:bodyPr>
            <a:normAutofit lnSpcReduction="10000"/>
          </a:bodyPr>
          <a:lstStyle/>
          <a:p>
            <a:r>
              <a:rPr lang="en-GB" dirty="0">
                <a:latin typeface="Arial" pitchFamily="34" charset="0"/>
                <a:cs typeface="Arial" pitchFamily="34" charset="0"/>
              </a:rPr>
              <a:t>The RMI Registry “Naming” returns all object references as type Object. In java doc you can see on the class hierarchy that the Object class is the ancestor of all classes. </a:t>
            </a:r>
          </a:p>
          <a:p>
            <a:endParaRPr lang="en-GB" dirty="0">
              <a:latin typeface="Arial" pitchFamily="34" charset="0"/>
              <a:cs typeface="Arial" pitchFamily="34" charset="0"/>
            </a:endParaRPr>
          </a:p>
          <a:p>
            <a:r>
              <a:rPr lang="en-GB" b="1" dirty="0">
                <a:latin typeface="Arial" pitchFamily="34" charset="0"/>
                <a:cs typeface="Arial" pitchFamily="34" charset="0"/>
              </a:rPr>
              <a:t>Note:</a:t>
            </a:r>
            <a:r>
              <a:rPr lang="en-GB" dirty="0">
                <a:latin typeface="Arial" pitchFamily="34" charset="0"/>
                <a:cs typeface="Arial" pitchFamily="34" charset="0"/>
              </a:rPr>
              <a:t> the object whose well known name was “bungalow” was bound in the RMI Registry as a House object reference but here it is cast as a </a:t>
            </a:r>
            <a:r>
              <a:rPr lang="en-GB" dirty="0" err="1">
                <a:latin typeface="Arial" pitchFamily="34" charset="0"/>
                <a:cs typeface="Arial" pitchFamily="34" charset="0"/>
              </a:rPr>
              <a:t>HouseInterface</a:t>
            </a:r>
            <a:r>
              <a:rPr lang="en-GB" dirty="0">
                <a:latin typeface="Arial" pitchFamily="34" charset="0"/>
                <a:cs typeface="Arial" pitchFamily="34" charset="0"/>
              </a:rPr>
              <a:t>. Object references of classes which implement interfaces can be stored as interface types. </a:t>
            </a:r>
            <a:endParaRPr lang="en-GB" dirty="0">
              <a:latin typeface="Courier New" pitchFamily="49" charset="0"/>
              <a:cs typeface="Courier New" pitchFamily="49" charset="0"/>
            </a:endParaRPr>
          </a:p>
          <a:p>
            <a:pPr marL="82296" indent="0" algn="ctr">
              <a:buNone/>
            </a:pPr>
            <a:r>
              <a:rPr lang="en-IE" dirty="0">
                <a:latin typeface="Courier New" pitchFamily="49" charset="0"/>
                <a:cs typeface="Courier New" pitchFamily="49" charset="0"/>
              </a:rPr>
              <a:t>(</a:t>
            </a:r>
            <a:r>
              <a:rPr lang="en-IE" dirty="0" err="1">
                <a:latin typeface="Courier New" pitchFamily="49" charset="0"/>
                <a:cs typeface="Courier New" pitchFamily="49" charset="0"/>
              </a:rPr>
              <a:t>HouseInterface</a:t>
            </a:r>
            <a:r>
              <a:rPr lang="en-IE" dirty="0">
                <a:latin typeface="Courier New" pitchFamily="49" charset="0"/>
                <a:cs typeface="Courier New" pitchFamily="49" charset="0"/>
              </a:rPr>
              <a:t>)</a:t>
            </a:r>
            <a:r>
              <a:rPr lang="en-IE" dirty="0" err="1">
                <a:latin typeface="Courier New" pitchFamily="49" charset="0"/>
                <a:cs typeface="Courier New" pitchFamily="49" charset="0"/>
              </a:rPr>
              <a:t>Naming.lookup</a:t>
            </a:r>
            <a:endParaRPr lang="en-IE" dirty="0">
              <a:latin typeface="Courier New" pitchFamily="49" charset="0"/>
              <a:cs typeface="Courier New" pitchFamily="49" charset="0"/>
            </a:endParaRPr>
          </a:p>
          <a:p>
            <a:pPr marL="82296" indent="0" algn="ctr">
              <a:buNone/>
            </a:pPr>
            <a:r>
              <a:rPr lang="en-IE" dirty="0">
                <a:latin typeface="Courier New" pitchFamily="49" charset="0"/>
                <a:cs typeface="Courier New" pitchFamily="49" charset="0"/>
              </a:rPr>
              <a:t>(</a:t>
            </a:r>
            <a:r>
              <a:rPr lang="en-IE" dirty="0" err="1">
                <a:latin typeface="Courier New" pitchFamily="49" charset="0"/>
                <a:cs typeface="Courier New" pitchFamily="49" charset="0"/>
              </a:rPr>
              <a:t>url</a:t>
            </a:r>
            <a:r>
              <a:rPr lang="en-IE" dirty="0">
                <a:latin typeface="Courier New" pitchFamily="49" charset="0"/>
                <a:cs typeface="Courier New" pitchFamily="49" charset="0"/>
              </a:rPr>
              <a:t>+“bungalow");</a:t>
            </a:r>
          </a:p>
          <a:p>
            <a:endParaRPr lang="en-IE" dirty="0"/>
          </a:p>
        </p:txBody>
      </p:sp>
    </p:spTree>
    <p:extLst>
      <p:ext uri="{BB962C8B-B14F-4D97-AF65-F5344CB8AC3E}">
        <p14:creationId xmlns:p14="http://schemas.microsoft.com/office/powerpoint/2010/main" val="1655387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C8A7-E0FD-456A-9152-00F29E4CC585}"/>
              </a:ext>
            </a:extLst>
          </p:cNvPr>
          <p:cNvSpPr>
            <a:spLocks noGrp="1"/>
          </p:cNvSpPr>
          <p:nvPr>
            <p:ph type="title"/>
          </p:nvPr>
        </p:nvSpPr>
        <p:spPr/>
        <p:txBody>
          <a:bodyPr/>
          <a:lstStyle/>
          <a:p>
            <a:r>
              <a:rPr lang="en-IE" dirty="0"/>
              <a:t>The Client</a:t>
            </a:r>
          </a:p>
        </p:txBody>
      </p:sp>
      <p:sp>
        <p:nvSpPr>
          <p:cNvPr id="3" name="Content Placeholder 2">
            <a:extLst>
              <a:ext uri="{FF2B5EF4-FFF2-40B4-BE49-F238E27FC236}">
                <a16:creationId xmlns:a16="http://schemas.microsoft.com/office/drawing/2014/main" id="{1DC8FF82-5C81-4717-95B9-F244A0EAA3C5}"/>
              </a:ext>
            </a:extLst>
          </p:cNvPr>
          <p:cNvSpPr>
            <a:spLocks noGrp="1"/>
          </p:cNvSpPr>
          <p:nvPr>
            <p:ph idx="1"/>
          </p:nvPr>
        </p:nvSpPr>
        <p:spPr/>
        <p:txBody>
          <a:bodyPr/>
          <a:lstStyle/>
          <a:p>
            <a:r>
              <a:rPr lang="en-IE" dirty="0">
                <a:latin typeface="Courier New" pitchFamily="49" charset="0"/>
                <a:cs typeface="Courier New" pitchFamily="49" charset="0"/>
              </a:rPr>
              <a:t>h1 </a:t>
            </a:r>
            <a:r>
              <a:rPr lang="en-IE" dirty="0">
                <a:latin typeface="Arial" pitchFamily="34" charset="0"/>
                <a:cs typeface="Arial" pitchFamily="34" charset="0"/>
              </a:rPr>
              <a:t>is a reference to the car object</a:t>
            </a:r>
            <a:r>
              <a:rPr lang="en-GB" dirty="0">
                <a:latin typeface="Arial" pitchFamily="34" charset="0"/>
                <a:cs typeface="Arial" pitchFamily="34" charset="0"/>
              </a:rPr>
              <a:t>. </a:t>
            </a:r>
          </a:p>
          <a:p>
            <a:pPr marL="82296" indent="0" algn="ctr">
              <a:buNone/>
            </a:pPr>
            <a:r>
              <a:rPr lang="en-IE" dirty="0" err="1">
                <a:latin typeface="Courier New" pitchFamily="49" charset="0"/>
                <a:cs typeface="Courier New" pitchFamily="49" charset="0"/>
              </a:rPr>
              <a:t>HouseInterface</a:t>
            </a:r>
            <a:r>
              <a:rPr lang="en-IE" dirty="0">
                <a:latin typeface="Courier New" pitchFamily="49" charset="0"/>
                <a:cs typeface="Courier New" pitchFamily="49" charset="0"/>
              </a:rPr>
              <a:t> h1=</a:t>
            </a:r>
          </a:p>
          <a:p>
            <a:pPr marL="82296" indent="0" algn="ctr">
              <a:buNone/>
            </a:pPr>
            <a:r>
              <a:rPr lang="en-IE" dirty="0">
                <a:latin typeface="Courier New" pitchFamily="49" charset="0"/>
                <a:cs typeface="Courier New" pitchFamily="49" charset="0"/>
              </a:rPr>
              <a:t>(</a:t>
            </a:r>
            <a:r>
              <a:rPr lang="en-IE" dirty="0" err="1">
                <a:latin typeface="Courier New" pitchFamily="49" charset="0"/>
                <a:cs typeface="Courier New" pitchFamily="49" charset="0"/>
              </a:rPr>
              <a:t>HouseInterface</a:t>
            </a:r>
            <a:r>
              <a:rPr lang="en-IE" dirty="0">
                <a:latin typeface="Courier New" pitchFamily="49" charset="0"/>
                <a:cs typeface="Courier New" pitchFamily="49" charset="0"/>
              </a:rPr>
              <a:t>)</a:t>
            </a:r>
            <a:r>
              <a:rPr lang="en-IE" dirty="0" err="1">
                <a:latin typeface="Courier New" pitchFamily="49" charset="0"/>
                <a:cs typeface="Courier New" pitchFamily="49" charset="0"/>
              </a:rPr>
              <a:t>Naming.</a:t>
            </a:r>
            <a:r>
              <a:rPr lang="en-IE" i="1" dirty="0" err="1">
                <a:latin typeface="Courier New" pitchFamily="49" charset="0"/>
                <a:cs typeface="Courier New" pitchFamily="49" charset="0"/>
              </a:rPr>
              <a:t>lookup</a:t>
            </a:r>
            <a:r>
              <a:rPr lang="en-IE" i="1" dirty="0">
                <a:latin typeface="Courier New" pitchFamily="49" charset="0"/>
                <a:cs typeface="Courier New" pitchFamily="49" charset="0"/>
              </a:rPr>
              <a:t>(</a:t>
            </a:r>
            <a:r>
              <a:rPr lang="en-IE" i="1" dirty="0" err="1">
                <a:latin typeface="Courier New" pitchFamily="49" charset="0"/>
                <a:cs typeface="Courier New" pitchFamily="49" charset="0"/>
              </a:rPr>
              <a:t>url</a:t>
            </a:r>
            <a:r>
              <a:rPr lang="en-IE" i="1" dirty="0">
                <a:latin typeface="Courier New" pitchFamily="49" charset="0"/>
                <a:cs typeface="Courier New" pitchFamily="49" charset="0"/>
              </a:rPr>
              <a:t>+</a:t>
            </a:r>
          </a:p>
          <a:p>
            <a:pPr marL="82296" indent="0" algn="ctr">
              <a:buNone/>
            </a:pPr>
            <a:r>
              <a:rPr lang="en-IE" i="1" dirty="0">
                <a:latin typeface="Courier New" pitchFamily="49" charset="0"/>
                <a:cs typeface="Courier New" pitchFamily="49" charset="0"/>
              </a:rPr>
              <a:t>“bungalow");</a:t>
            </a:r>
          </a:p>
          <a:p>
            <a:pPr marL="82296" indent="0" algn="ctr">
              <a:buNone/>
            </a:pPr>
            <a:endParaRPr lang="en-IE" i="1" dirty="0">
              <a:latin typeface="Courier New" pitchFamily="49" charset="0"/>
              <a:cs typeface="Courier New" pitchFamily="49" charset="0"/>
            </a:endParaRPr>
          </a:p>
          <a:p>
            <a:r>
              <a:rPr lang="en-GB" dirty="0">
                <a:latin typeface="Arial" pitchFamily="34" charset="0"/>
                <a:cs typeface="Arial" pitchFamily="34" charset="0"/>
              </a:rPr>
              <a:t>Methods can now be called on the object reference </a:t>
            </a:r>
            <a:r>
              <a:rPr lang="en-GB" dirty="0">
                <a:latin typeface="Courier New" pitchFamily="49" charset="0"/>
                <a:cs typeface="Courier New" pitchFamily="49" charset="0"/>
              </a:rPr>
              <a:t>h1</a:t>
            </a:r>
            <a:r>
              <a:rPr lang="en-GB" dirty="0">
                <a:latin typeface="Arial" pitchFamily="34" charset="0"/>
                <a:cs typeface="Arial" pitchFamily="34" charset="0"/>
              </a:rPr>
              <a:t> as if the object was stored on the same machine</a:t>
            </a:r>
          </a:p>
          <a:p>
            <a:pPr marL="82296" indent="0" algn="ctr">
              <a:buNone/>
            </a:pPr>
            <a:r>
              <a:rPr lang="en-IE" dirty="0">
                <a:latin typeface="Courier New" pitchFamily="49" charset="0"/>
                <a:cs typeface="Courier New" pitchFamily="49" charset="0"/>
              </a:rPr>
              <a:t>String h1Address = h1.getAddress();</a:t>
            </a:r>
            <a:endParaRPr lang="en-GB" i="1" dirty="0">
              <a:latin typeface="Courier New" pitchFamily="49" charset="0"/>
              <a:cs typeface="Courier New" pitchFamily="49" charset="0"/>
            </a:endParaRPr>
          </a:p>
          <a:p>
            <a:endParaRPr lang="en-IE" dirty="0"/>
          </a:p>
        </p:txBody>
      </p:sp>
    </p:spTree>
    <p:extLst>
      <p:ext uri="{BB962C8B-B14F-4D97-AF65-F5344CB8AC3E}">
        <p14:creationId xmlns:p14="http://schemas.microsoft.com/office/powerpoint/2010/main" val="589308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3290</TotalTime>
  <Words>737</Words>
  <Application>Microsoft Office PowerPoint</Application>
  <PresentationFormat>Widescreen</PresentationFormat>
  <Paragraphs>85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Courier New</vt:lpstr>
      <vt:lpstr>Office Theme</vt:lpstr>
      <vt:lpstr>Software Development 3</vt:lpstr>
      <vt:lpstr>Distributed Programming in Java</vt:lpstr>
      <vt:lpstr>RMI</vt:lpstr>
      <vt:lpstr>RMI Server</vt:lpstr>
      <vt:lpstr>RMI Client</vt:lpstr>
      <vt:lpstr>RMI</vt:lpstr>
      <vt:lpstr>Remote Class</vt:lpstr>
      <vt:lpstr>Create an RMI Application</vt:lpstr>
      <vt:lpstr>Create an RMI Application</vt:lpstr>
      <vt:lpstr>Remote Class</vt:lpstr>
      <vt:lpstr>The Remote Interface Called “HouseInterface”</vt:lpstr>
      <vt:lpstr>House Class (Distributed Version)</vt:lpstr>
      <vt:lpstr>The Server</vt:lpstr>
      <vt:lpstr>The Server</vt:lpstr>
      <vt:lpstr>The Client</vt:lpstr>
      <vt:lpstr>Running the Application</vt:lpstr>
      <vt:lpstr>RMI Registry</vt:lpstr>
      <vt:lpstr>The Client</vt:lpstr>
      <vt:lpstr>The Client</vt:lpstr>
      <vt:lpstr>The Client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Apps and Connected Devices </dc:title>
  <dc:creator>CURRAN, MARTINA</dc:creator>
  <cp:lastModifiedBy>CURRAN, MARTINA</cp:lastModifiedBy>
  <cp:revision>36</cp:revision>
  <dcterms:created xsi:type="dcterms:W3CDTF">2019-08-12T15:58:15Z</dcterms:created>
  <dcterms:modified xsi:type="dcterms:W3CDTF">2019-10-17T09:31:04Z</dcterms:modified>
</cp:coreProperties>
</file>