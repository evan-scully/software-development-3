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0" r:id="rId27"/>
    <p:sldId id="301" r:id="rId28"/>
    <p:sldId id="293" r:id="rId29"/>
    <p:sldId id="294" r:id="rId30"/>
    <p:sldId id="295" r:id="rId31"/>
    <p:sldId id="300" r:id="rId32"/>
    <p:sldId id="283" r:id="rId33"/>
    <p:sldId id="284" r:id="rId34"/>
    <p:sldId id="285" r:id="rId35"/>
    <p:sldId id="286" r:id="rId36"/>
    <p:sldId id="287" r:id="rId37"/>
    <p:sldId id="288" r:id="rId38"/>
    <p:sldId id="292"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34" autoAdjust="0"/>
    <p:restoredTop sz="94660"/>
  </p:normalViewPr>
  <p:slideViewPr>
    <p:cSldViewPr snapToGrid="0">
      <p:cViewPr varScale="1">
        <p:scale>
          <a:sx n="38" d="100"/>
          <a:sy n="38" d="100"/>
        </p:scale>
        <p:origin x="72"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11678-2D86-4DAE-847A-55B8AAA65B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6641B2CF-975D-4351-9694-6F1AFAA44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896B876B-2BBD-4769-833E-D503374BB544}"/>
              </a:ext>
            </a:extLst>
          </p:cNvPr>
          <p:cNvSpPr>
            <a:spLocks noGrp="1"/>
          </p:cNvSpPr>
          <p:nvPr>
            <p:ph type="dt" sz="half" idx="10"/>
          </p:nvPr>
        </p:nvSpPr>
        <p:spPr/>
        <p:txBody>
          <a:bodyPr/>
          <a:lstStyle/>
          <a:p>
            <a:fld id="{D185572E-433B-4C3C-9216-427A579344CD}" type="datetimeFigureOut">
              <a:rPr lang="en-IE" smtClean="0"/>
              <a:t>08/10/2019</a:t>
            </a:fld>
            <a:endParaRPr lang="en-IE"/>
          </a:p>
        </p:txBody>
      </p:sp>
      <p:sp>
        <p:nvSpPr>
          <p:cNvPr id="5" name="Footer Placeholder 4">
            <a:extLst>
              <a:ext uri="{FF2B5EF4-FFF2-40B4-BE49-F238E27FC236}">
                <a16:creationId xmlns:a16="http://schemas.microsoft.com/office/drawing/2014/main" id="{BC502A31-A755-4B89-9E8A-DC2074EA48A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64F5046-4908-4092-97DA-BB710C0592D4}"/>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165717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299EF-45DF-43CB-B92F-7BBD6ACAAC73}"/>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4546D277-84F6-428A-B396-8687052ECA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013A558-0664-448D-BA15-FCA859ADC2D7}"/>
              </a:ext>
            </a:extLst>
          </p:cNvPr>
          <p:cNvSpPr>
            <a:spLocks noGrp="1"/>
          </p:cNvSpPr>
          <p:nvPr>
            <p:ph type="dt" sz="half" idx="10"/>
          </p:nvPr>
        </p:nvSpPr>
        <p:spPr/>
        <p:txBody>
          <a:bodyPr/>
          <a:lstStyle/>
          <a:p>
            <a:fld id="{D185572E-433B-4C3C-9216-427A579344CD}" type="datetimeFigureOut">
              <a:rPr lang="en-IE" smtClean="0"/>
              <a:t>08/10/2019</a:t>
            </a:fld>
            <a:endParaRPr lang="en-IE"/>
          </a:p>
        </p:txBody>
      </p:sp>
      <p:sp>
        <p:nvSpPr>
          <p:cNvPr id="5" name="Footer Placeholder 4">
            <a:extLst>
              <a:ext uri="{FF2B5EF4-FFF2-40B4-BE49-F238E27FC236}">
                <a16:creationId xmlns:a16="http://schemas.microsoft.com/office/drawing/2014/main" id="{D7BB2868-56D3-4FDB-8897-19830FC28E2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8FC4A271-070A-4321-9A04-B951AC6323B3}"/>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92739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2AB5C-EBFD-4E56-8963-D648BF2B1F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BB6890B5-7649-4B23-828C-C28C84C7FA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175F4E-409A-4954-899A-0C545322D559}"/>
              </a:ext>
            </a:extLst>
          </p:cNvPr>
          <p:cNvSpPr>
            <a:spLocks noGrp="1"/>
          </p:cNvSpPr>
          <p:nvPr>
            <p:ph type="dt" sz="half" idx="10"/>
          </p:nvPr>
        </p:nvSpPr>
        <p:spPr/>
        <p:txBody>
          <a:bodyPr/>
          <a:lstStyle/>
          <a:p>
            <a:fld id="{D185572E-433B-4C3C-9216-427A579344CD}" type="datetimeFigureOut">
              <a:rPr lang="en-IE" smtClean="0"/>
              <a:t>08/10/2019</a:t>
            </a:fld>
            <a:endParaRPr lang="en-IE"/>
          </a:p>
        </p:txBody>
      </p:sp>
      <p:sp>
        <p:nvSpPr>
          <p:cNvPr id="5" name="Footer Placeholder 4">
            <a:extLst>
              <a:ext uri="{FF2B5EF4-FFF2-40B4-BE49-F238E27FC236}">
                <a16:creationId xmlns:a16="http://schemas.microsoft.com/office/drawing/2014/main" id="{E5E4AC6F-9ECE-48D8-8ABD-54D5DB0B64B2}"/>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DC46D47-CB26-4D81-897F-F840B153F210}"/>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4067895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116C9-C584-4BDD-88DF-DDC3FCE43272}"/>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FE90686E-1BD6-4FC9-BE5C-94C3CC27C7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8DF83F51-9A68-42D5-B79F-2CEB32173A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FCABC281-9E06-4C6B-A2D5-2267188F6BF1}"/>
              </a:ext>
            </a:extLst>
          </p:cNvPr>
          <p:cNvSpPr>
            <a:spLocks noGrp="1"/>
          </p:cNvSpPr>
          <p:nvPr>
            <p:ph type="dt" sz="half" idx="10"/>
          </p:nvPr>
        </p:nvSpPr>
        <p:spPr/>
        <p:txBody>
          <a:bodyPr/>
          <a:lstStyle/>
          <a:p>
            <a:fld id="{D185572E-433B-4C3C-9216-427A579344CD}" type="datetimeFigureOut">
              <a:rPr lang="en-IE" smtClean="0"/>
              <a:t>08/10/2019</a:t>
            </a:fld>
            <a:endParaRPr lang="en-IE"/>
          </a:p>
        </p:txBody>
      </p:sp>
      <p:sp>
        <p:nvSpPr>
          <p:cNvPr id="6" name="Footer Placeholder 5">
            <a:extLst>
              <a:ext uri="{FF2B5EF4-FFF2-40B4-BE49-F238E27FC236}">
                <a16:creationId xmlns:a16="http://schemas.microsoft.com/office/drawing/2014/main" id="{146E3BFB-7E00-48D5-849C-CDB782A7AE53}"/>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5207D561-473C-4AC5-928F-29F225D09353}"/>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85431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7055D-0FF3-4678-B9AE-A46C620B4F7C}"/>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79DF3C1A-4C0E-4EB8-96B8-8A8F0F77AB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404207-17C4-459A-A3C8-007ED70402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D1BD13C8-58F1-44FB-BDFB-65977225F0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8CD19A-A846-4C99-8BD3-8911AD2676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BF5A3DFA-FCA8-403E-8164-3A9F52608162}"/>
              </a:ext>
            </a:extLst>
          </p:cNvPr>
          <p:cNvSpPr>
            <a:spLocks noGrp="1"/>
          </p:cNvSpPr>
          <p:nvPr>
            <p:ph type="dt" sz="half" idx="10"/>
          </p:nvPr>
        </p:nvSpPr>
        <p:spPr/>
        <p:txBody>
          <a:bodyPr/>
          <a:lstStyle/>
          <a:p>
            <a:fld id="{D185572E-433B-4C3C-9216-427A579344CD}" type="datetimeFigureOut">
              <a:rPr lang="en-IE" smtClean="0"/>
              <a:t>08/10/2019</a:t>
            </a:fld>
            <a:endParaRPr lang="en-IE"/>
          </a:p>
        </p:txBody>
      </p:sp>
      <p:sp>
        <p:nvSpPr>
          <p:cNvPr id="8" name="Footer Placeholder 7">
            <a:extLst>
              <a:ext uri="{FF2B5EF4-FFF2-40B4-BE49-F238E27FC236}">
                <a16:creationId xmlns:a16="http://schemas.microsoft.com/office/drawing/2014/main" id="{39CCD9E3-A548-464D-8063-249E902FC38A}"/>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83A65957-7643-4F72-A1FC-14E62C7206A2}"/>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1888466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F6596-C70F-4B23-8192-74234FE2F373}"/>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2CCA9698-A2D2-4EA9-BEE3-21DEEB677098}"/>
              </a:ext>
            </a:extLst>
          </p:cNvPr>
          <p:cNvSpPr>
            <a:spLocks noGrp="1"/>
          </p:cNvSpPr>
          <p:nvPr>
            <p:ph type="dt" sz="half" idx="10"/>
          </p:nvPr>
        </p:nvSpPr>
        <p:spPr/>
        <p:txBody>
          <a:bodyPr/>
          <a:lstStyle/>
          <a:p>
            <a:fld id="{D185572E-433B-4C3C-9216-427A579344CD}" type="datetimeFigureOut">
              <a:rPr lang="en-IE" smtClean="0"/>
              <a:t>08/10/2019</a:t>
            </a:fld>
            <a:endParaRPr lang="en-IE"/>
          </a:p>
        </p:txBody>
      </p:sp>
      <p:sp>
        <p:nvSpPr>
          <p:cNvPr id="4" name="Footer Placeholder 3">
            <a:extLst>
              <a:ext uri="{FF2B5EF4-FFF2-40B4-BE49-F238E27FC236}">
                <a16:creationId xmlns:a16="http://schemas.microsoft.com/office/drawing/2014/main" id="{CD97ACFD-DA4F-408B-A623-5B451F27208B}"/>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DF5B1EEC-3EB0-4701-AFE6-AD468C956010}"/>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594446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A6EEC7-E653-4288-B1A7-C2CAFFA8152C}"/>
              </a:ext>
            </a:extLst>
          </p:cNvPr>
          <p:cNvSpPr>
            <a:spLocks noGrp="1"/>
          </p:cNvSpPr>
          <p:nvPr>
            <p:ph type="dt" sz="half" idx="10"/>
          </p:nvPr>
        </p:nvSpPr>
        <p:spPr/>
        <p:txBody>
          <a:bodyPr/>
          <a:lstStyle/>
          <a:p>
            <a:fld id="{D185572E-433B-4C3C-9216-427A579344CD}" type="datetimeFigureOut">
              <a:rPr lang="en-IE" smtClean="0"/>
              <a:t>08/10/2019</a:t>
            </a:fld>
            <a:endParaRPr lang="en-IE"/>
          </a:p>
        </p:txBody>
      </p:sp>
      <p:sp>
        <p:nvSpPr>
          <p:cNvPr id="3" name="Footer Placeholder 2">
            <a:extLst>
              <a:ext uri="{FF2B5EF4-FFF2-40B4-BE49-F238E27FC236}">
                <a16:creationId xmlns:a16="http://schemas.microsoft.com/office/drawing/2014/main" id="{6D86EFED-B925-4903-9BA0-526E6D60369C}"/>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F6865E58-B2CE-41DD-861C-2220E228D38E}"/>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590836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7061E-BE60-4B35-9006-7C13398F5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32F17D56-040E-47CA-8F46-0A16F7E110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A28EEDAA-7971-4D0F-88CF-DDAC099798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1E7E2D-9D6C-4977-87F1-0C7B116FD374}"/>
              </a:ext>
            </a:extLst>
          </p:cNvPr>
          <p:cNvSpPr>
            <a:spLocks noGrp="1"/>
          </p:cNvSpPr>
          <p:nvPr>
            <p:ph type="dt" sz="half" idx="10"/>
          </p:nvPr>
        </p:nvSpPr>
        <p:spPr/>
        <p:txBody>
          <a:bodyPr/>
          <a:lstStyle/>
          <a:p>
            <a:fld id="{D185572E-433B-4C3C-9216-427A579344CD}" type="datetimeFigureOut">
              <a:rPr lang="en-IE" smtClean="0"/>
              <a:t>08/10/2019</a:t>
            </a:fld>
            <a:endParaRPr lang="en-IE"/>
          </a:p>
        </p:txBody>
      </p:sp>
      <p:sp>
        <p:nvSpPr>
          <p:cNvPr id="6" name="Footer Placeholder 5">
            <a:extLst>
              <a:ext uri="{FF2B5EF4-FFF2-40B4-BE49-F238E27FC236}">
                <a16:creationId xmlns:a16="http://schemas.microsoft.com/office/drawing/2014/main" id="{45F64070-92C5-41D2-92E1-A90384A1C5D4}"/>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6FDA36A9-8D9C-497E-8E13-272C4BF5084F}"/>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871376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82A43-46DA-492B-9F3B-CCCC16B3D7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CF9E27B6-2EDE-45AA-9C71-EE637E536E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469A5422-60E5-4EB9-BA9B-749EAB1ED4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837829-CFAD-444D-9F28-09A1BC8A970E}"/>
              </a:ext>
            </a:extLst>
          </p:cNvPr>
          <p:cNvSpPr>
            <a:spLocks noGrp="1"/>
          </p:cNvSpPr>
          <p:nvPr>
            <p:ph type="dt" sz="half" idx="10"/>
          </p:nvPr>
        </p:nvSpPr>
        <p:spPr/>
        <p:txBody>
          <a:bodyPr/>
          <a:lstStyle/>
          <a:p>
            <a:fld id="{D185572E-433B-4C3C-9216-427A579344CD}" type="datetimeFigureOut">
              <a:rPr lang="en-IE" smtClean="0"/>
              <a:t>08/10/2019</a:t>
            </a:fld>
            <a:endParaRPr lang="en-IE"/>
          </a:p>
        </p:txBody>
      </p:sp>
      <p:sp>
        <p:nvSpPr>
          <p:cNvPr id="6" name="Footer Placeholder 5">
            <a:extLst>
              <a:ext uri="{FF2B5EF4-FFF2-40B4-BE49-F238E27FC236}">
                <a16:creationId xmlns:a16="http://schemas.microsoft.com/office/drawing/2014/main" id="{F7A95C8D-44E8-45E0-92B0-CD0D7D53EEF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E31551FF-4C4C-433A-B1F1-B286ADB0856B}"/>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1317748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6684D-CEF2-4F8F-AB87-8998E84FF9A6}"/>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1D8EDC20-95A1-40ED-A4C8-8014779707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8B4F649-EEF3-4D9F-9ADA-DAB0EEEC67D8}"/>
              </a:ext>
            </a:extLst>
          </p:cNvPr>
          <p:cNvSpPr>
            <a:spLocks noGrp="1"/>
          </p:cNvSpPr>
          <p:nvPr>
            <p:ph type="dt" sz="half" idx="10"/>
          </p:nvPr>
        </p:nvSpPr>
        <p:spPr/>
        <p:txBody>
          <a:bodyPr/>
          <a:lstStyle/>
          <a:p>
            <a:fld id="{D185572E-433B-4C3C-9216-427A579344CD}" type="datetimeFigureOut">
              <a:rPr lang="en-IE" smtClean="0"/>
              <a:t>08/10/2019</a:t>
            </a:fld>
            <a:endParaRPr lang="en-IE"/>
          </a:p>
        </p:txBody>
      </p:sp>
      <p:sp>
        <p:nvSpPr>
          <p:cNvPr id="5" name="Footer Placeholder 4">
            <a:extLst>
              <a:ext uri="{FF2B5EF4-FFF2-40B4-BE49-F238E27FC236}">
                <a16:creationId xmlns:a16="http://schemas.microsoft.com/office/drawing/2014/main" id="{A7373AD7-B3D6-47F2-86A2-40B9BF3B593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380D4E4-3868-40AF-A75B-C12657A836B2}"/>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688095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5D7399-0E97-4804-9311-75631F1876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C4DE05F4-E523-4848-AAB8-4341BEAEEF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E60F6C01-7D91-432F-B037-5422A2F56E8B}"/>
              </a:ext>
            </a:extLst>
          </p:cNvPr>
          <p:cNvSpPr>
            <a:spLocks noGrp="1"/>
          </p:cNvSpPr>
          <p:nvPr>
            <p:ph type="dt" sz="half" idx="10"/>
          </p:nvPr>
        </p:nvSpPr>
        <p:spPr/>
        <p:txBody>
          <a:bodyPr/>
          <a:lstStyle/>
          <a:p>
            <a:fld id="{D185572E-433B-4C3C-9216-427A579344CD}" type="datetimeFigureOut">
              <a:rPr lang="en-IE" smtClean="0"/>
              <a:t>08/10/2019</a:t>
            </a:fld>
            <a:endParaRPr lang="en-IE"/>
          </a:p>
        </p:txBody>
      </p:sp>
      <p:sp>
        <p:nvSpPr>
          <p:cNvPr id="5" name="Footer Placeholder 4">
            <a:extLst>
              <a:ext uri="{FF2B5EF4-FFF2-40B4-BE49-F238E27FC236}">
                <a16:creationId xmlns:a16="http://schemas.microsoft.com/office/drawing/2014/main" id="{064A7E6F-89F0-42FA-AACC-D211E5F3592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892E5C9-5637-46EA-9E55-1C3C132B9DEA}"/>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371243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B2E40E-CD1F-4D6A-A5C0-6AB99C161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04DA7F4A-CFF7-4801-B83C-7281DFA096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6C708A6-8026-43C5-A6DF-205DA74315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85572E-433B-4C3C-9216-427A579344CD}" type="datetimeFigureOut">
              <a:rPr lang="en-IE" smtClean="0"/>
              <a:t>08/10/2019</a:t>
            </a:fld>
            <a:endParaRPr lang="en-IE"/>
          </a:p>
        </p:txBody>
      </p:sp>
      <p:sp>
        <p:nvSpPr>
          <p:cNvPr id="5" name="Footer Placeholder 4">
            <a:extLst>
              <a:ext uri="{FF2B5EF4-FFF2-40B4-BE49-F238E27FC236}">
                <a16:creationId xmlns:a16="http://schemas.microsoft.com/office/drawing/2014/main" id="{A55F329E-D46A-4C6D-8C77-B38E86412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D9C745A8-7D25-4353-B61B-79E8C939FA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FE6887-6153-4429-AEB1-AABFEB6BB666}" type="slidenum">
              <a:rPr lang="en-IE" smtClean="0"/>
              <a:t>‹#›</a:t>
            </a:fld>
            <a:endParaRPr lang="en-IE"/>
          </a:p>
        </p:txBody>
      </p:sp>
    </p:spTree>
    <p:extLst>
      <p:ext uri="{BB962C8B-B14F-4D97-AF65-F5344CB8AC3E}">
        <p14:creationId xmlns:p14="http://schemas.microsoft.com/office/powerpoint/2010/main" val="1717515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7D82C-2767-4733-92AF-759DBF7BA337}"/>
              </a:ext>
            </a:extLst>
          </p:cNvPr>
          <p:cNvSpPr>
            <a:spLocks noGrp="1"/>
          </p:cNvSpPr>
          <p:nvPr>
            <p:ph type="ctrTitle"/>
          </p:nvPr>
        </p:nvSpPr>
        <p:spPr/>
        <p:txBody>
          <a:bodyPr/>
          <a:lstStyle/>
          <a:p>
            <a:r>
              <a:rPr lang="en-IE" dirty="0"/>
              <a:t>Software Development 3</a:t>
            </a:r>
          </a:p>
        </p:txBody>
      </p:sp>
      <p:sp>
        <p:nvSpPr>
          <p:cNvPr id="3" name="Subtitle 2">
            <a:extLst>
              <a:ext uri="{FF2B5EF4-FFF2-40B4-BE49-F238E27FC236}">
                <a16:creationId xmlns:a16="http://schemas.microsoft.com/office/drawing/2014/main" id="{C3CE9A08-CC23-4E26-9F82-CC9B76F72CBB}"/>
              </a:ext>
            </a:extLst>
          </p:cNvPr>
          <p:cNvSpPr>
            <a:spLocks noGrp="1"/>
          </p:cNvSpPr>
          <p:nvPr>
            <p:ph type="subTitle" idx="1"/>
          </p:nvPr>
        </p:nvSpPr>
        <p:spPr/>
        <p:txBody>
          <a:bodyPr/>
          <a:lstStyle/>
          <a:p>
            <a:r>
              <a:rPr lang="en-IE" dirty="0"/>
              <a:t>Design Patterns</a:t>
            </a:r>
          </a:p>
        </p:txBody>
      </p:sp>
    </p:spTree>
    <p:extLst>
      <p:ext uri="{BB962C8B-B14F-4D97-AF65-F5344CB8AC3E}">
        <p14:creationId xmlns:p14="http://schemas.microsoft.com/office/powerpoint/2010/main" val="2563265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2558B-6C1E-4386-A831-6B526953FB19}"/>
              </a:ext>
            </a:extLst>
          </p:cNvPr>
          <p:cNvSpPr>
            <a:spLocks noGrp="1"/>
          </p:cNvSpPr>
          <p:nvPr>
            <p:ph type="title"/>
          </p:nvPr>
        </p:nvSpPr>
        <p:spPr/>
        <p:txBody>
          <a:bodyPr/>
          <a:lstStyle/>
          <a:p>
            <a:r>
              <a:rPr lang="en-IE" dirty="0"/>
              <a:t>Introducing Patterns</a:t>
            </a:r>
          </a:p>
        </p:txBody>
      </p:sp>
      <p:sp>
        <p:nvSpPr>
          <p:cNvPr id="3" name="Content Placeholder 2">
            <a:extLst>
              <a:ext uri="{FF2B5EF4-FFF2-40B4-BE49-F238E27FC236}">
                <a16:creationId xmlns:a16="http://schemas.microsoft.com/office/drawing/2014/main" id="{9092912F-579D-418C-88DF-6280AEAC082F}"/>
              </a:ext>
            </a:extLst>
          </p:cNvPr>
          <p:cNvSpPr>
            <a:spLocks noGrp="1"/>
          </p:cNvSpPr>
          <p:nvPr>
            <p:ph idx="1"/>
          </p:nvPr>
        </p:nvSpPr>
        <p:spPr/>
        <p:txBody>
          <a:bodyPr/>
          <a:lstStyle/>
          <a:p>
            <a:pPr marL="365125" indent="-282575">
              <a:buFont typeface="Wingdings 2" panose="05020102010507070707" pitchFamily="18" charset="2"/>
              <a:buChar char=""/>
            </a:pPr>
            <a:r>
              <a:rPr lang="en-US" altLang="en-US" dirty="0"/>
              <a:t>Experienced Software designers, working independently, have found similar solutions to recurring problems.</a:t>
            </a:r>
          </a:p>
          <a:p>
            <a:pPr marL="365125" indent="-282575">
              <a:buFont typeface="Wingdings 2" panose="05020102010507070707" pitchFamily="18" charset="2"/>
              <a:buChar char=""/>
            </a:pPr>
            <a:endParaRPr lang="en-US" altLang="en-US" dirty="0"/>
          </a:p>
          <a:p>
            <a:pPr marL="365125" indent="-282575">
              <a:buFont typeface="Wingdings 2" panose="05020102010507070707" pitchFamily="18" charset="2"/>
              <a:buChar char=""/>
            </a:pPr>
            <a:r>
              <a:rPr lang="en-US" altLang="en-US" dirty="0"/>
              <a:t>These solutions have proven themselves “in the field” and are now accepted as industry standards. </a:t>
            </a:r>
          </a:p>
          <a:p>
            <a:pPr marL="365125" indent="-282575">
              <a:buFont typeface="Wingdings 2" panose="05020102010507070707" pitchFamily="18" charset="2"/>
              <a:buChar char=""/>
            </a:pPr>
            <a:endParaRPr lang="en-US" altLang="en-US" dirty="0"/>
          </a:p>
          <a:p>
            <a:pPr marL="365125" indent="-282575">
              <a:buFont typeface="Wingdings 2" panose="05020102010507070707" pitchFamily="18" charset="2"/>
              <a:buChar char=""/>
            </a:pPr>
            <a:r>
              <a:rPr lang="en-US" altLang="en-US" dirty="0"/>
              <a:t>These solutions are called </a:t>
            </a:r>
            <a:r>
              <a:rPr lang="en-US" altLang="en-US" i="1" dirty="0"/>
              <a:t>design patterns.</a:t>
            </a:r>
            <a:endParaRPr lang="en-US" altLang="en-US" dirty="0"/>
          </a:p>
          <a:p>
            <a:endParaRPr lang="en-IE" dirty="0"/>
          </a:p>
        </p:txBody>
      </p:sp>
    </p:spTree>
    <p:extLst>
      <p:ext uri="{BB962C8B-B14F-4D97-AF65-F5344CB8AC3E}">
        <p14:creationId xmlns:p14="http://schemas.microsoft.com/office/powerpoint/2010/main" val="3905117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39F86-46F1-425A-9D02-D5D9F6276FCC}"/>
              </a:ext>
            </a:extLst>
          </p:cNvPr>
          <p:cNvSpPr>
            <a:spLocks noGrp="1"/>
          </p:cNvSpPr>
          <p:nvPr>
            <p:ph type="title"/>
          </p:nvPr>
        </p:nvSpPr>
        <p:spPr/>
        <p:txBody>
          <a:bodyPr/>
          <a:lstStyle/>
          <a:p>
            <a:r>
              <a:rPr lang="en-US" dirty="0"/>
              <a:t>Introducing Patterns</a:t>
            </a:r>
            <a:endParaRPr lang="en-IE" dirty="0"/>
          </a:p>
        </p:txBody>
      </p:sp>
      <p:sp>
        <p:nvSpPr>
          <p:cNvPr id="3" name="Content Placeholder 2">
            <a:extLst>
              <a:ext uri="{FF2B5EF4-FFF2-40B4-BE49-F238E27FC236}">
                <a16:creationId xmlns:a16="http://schemas.microsoft.com/office/drawing/2014/main" id="{19C1CCDD-6EA9-4B86-BC9D-71733907CC45}"/>
              </a:ext>
            </a:extLst>
          </p:cNvPr>
          <p:cNvSpPr>
            <a:spLocks noGrp="1"/>
          </p:cNvSpPr>
          <p:nvPr>
            <p:ph idx="1"/>
          </p:nvPr>
        </p:nvSpPr>
        <p:spPr/>
        <p:txBody>
          <a:bodyPr/>
          <a:lstStyle/>
          <a:p>
            <a:r>
              <a:rPr lang="en-US" altLang="en-US" dirty="0"/>
              <a:t>The goal of patterns is to create documentation to help software designers resolve recurring problems encountered throughout all of software development</a:t>
            </a:r>
          </a:p>
          <a:p>
            <a:endParaRPr lang="en-US" altLang="en-US" dirty="0"/>
          </a:p>
          <a:p>
            <a:r>
              <a:rPr lang="en-US" altLang="en-US" dirty="0"/>
              <a:t>A shared language for communicating insight and experience about problems and their solutions</a:t>
            </a:r>
            <a:endParaRPr lang="en-IE" dirty="0"/>
          </a:p>
        </p:txBody>
      </p:sp>
    </p:spTree>
    <p:extLst>
      <p:ext uri="{BB962C8B-B14F-4D97-AF65-F5344CB8AC3E}">
        <p14:creationId xmlns:p14="http://schemas.microsoft.com/office/powerpoint/2010/main" val="4163283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23974-7C85-40C5-B7EC-25A5B19D7ED5}"/>
              </a:ext>
            </a:extLst>
          </p:cNvPr>
          <p:cNvSpPr>
            <a:spLocks noGrp="1"/>
          </p:cNvSpPr>
          <p:nvPr>
            <p:ph type="title"/>
          </p:nvPr>
        </p:nvSpPr>
        <p:spPr/>
        <p:txBody>
          <a:bodyPr/>
          <a:lstStyle/>
          <a:p>
            <a:r>
              <a:rPr lang="en-US" dirty="0"/>
              <a:t>Definition Of A Design Pattern</a:t>
            </a:r>
            <a:endParaRPr lang="en-IE" dirty="0"/>
          </a:p>
        </p:txBody>
      </p:sp>
      <p:sp>
        <p:nvSpPr>
          <p:cNvPr id="3" name="Content Placeholder 2">
            <a:extLst>
              <a:ext uri="{FF2B5EF4-FFF2-40B4-BE49-F238E27FC236}">
                <a16:creationId xmlns:a16="http://schemas.microsoft.com/office/drawing/2014/main" id="{2989D2BB-2522-4423-A735-D6B024CFEE2C}"/>
              </a:ext>
            </a:extLst>
          </p:cNvPr>
          <p:cNvSpPr>
            <a:spLocks noGrp="1"/>
          </p:cNvSpPr>
          <p:nvPr>
            <p:ph idx="1"/>
          </p:nvPr>
        </p:nvSpPr>
        <p:spPr/>
        <p:txBody>
          <a:bodyPr/>
          <a:lstStyle/>
          <a:p>
            <a:pPr>
              <a:spcBef>
                <a:spcPct val="50000"/>
              </a:spcBef>
            </a:pPr>
            <a:r>
              <a:rPr lang="en-US" altLang="en-US" dirty="0"/>
              <a:t>“Each pattern describes a problem which occurs over and over again in our environment, and then describes the core of the solution to that problem, in such a way that you can use this solution a million times over, without ever doing it the same way twice.” </a:t>
            </a:r>
            <a:r>
              <a:rPr lang="en-US" altLang="en-US" i="1" dirty="0"/>
              <a:t>Christopher Alexander</a:t>
            </a:r>
          </a:p>
          <a:p>
            <a:pPr>
              <a:spcBef>
                <a:spcPct val="50000"/>
              </a:spcBef>
            </a:pPr>
            <a:endParaRPr lang="en-US" altLang="en-US" i="1" dirty="0"/>
          </a:p>
          <a:p>
            <a:pPr>
              <a:spcBef>
                <a:spcPct val="50000"/>
              </a:spcBef>
            </a:pPr>
            <a:r>
              <a:rPr lang="en-US" altLang="en-US" dirty="0"/>
              <a:t>Alexander presented 253 patterns in 35 groups at different levels of abstraction or resolution.</a:t>
            </a:r>
            <a:endParaRPr lang="en-US" altLang="en-US" sz="2000" dirty="0"/>
          </a:p>
          <a:p>
            <a:endParaRPr lang="en-IE" dirty="0"/>
          </a:p>
        </p:txBody>
      </p:sp>
    </p:spTree>
    <p:extLst>
      <p:ext uri="{BB962C8B-B14F-4D97-AF65-F5344CB8AC3E}">
        <p14:creationId xmlns:p14="http://schemas.microsoft.com/office/powerpoint/2010/main" val="488547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8DC56-F83F-4077-9DFB-A0B9DE5500E0}"/>
              </a:ext>
            </a:extLst>
          </p:cNvPr>
          <p:cNvSpPr>
            <a:spLocks noGrp="1"/>
          </p:cNvSpPr>
          <p:nvPr>
            <p:ph type="title"/>
          </p:nvPr>
        </p:nvSpPr>
        <p:spPr/>
        <p:txBody>
          <a:bodyPr/>
          <a:lstStyle/>
          <a:p>
            <a:r>
              <a:rPr lang="en-IE" dirty="0"/>
              <a:t>Pattern Origins</a:t>
            </a:r>
          </a:p>
        </p:txBody>
      </p:sp>
      <p:sp>
        <p:nvSpPr>
          <p:cNvPr id="3" name="Content Placeholder 2">
            <a:extLst>
              <a:ext uri="{FF2B5EF4-FFF2-40B4-BE49-F238E27FC236}">
                <a16:creationId xmlns:a16="http://schemas.microsoft.com/office/drawing/2014/main" id="{F5E7A53D-FF5E-4BD1-8479-EFD3A0E48BC0}"/>
              </a:ext>
            </a:extLst>
          </p:cNvPr>
          <p:cNvSpPr>
            <a:spLocks noGrp="1"/>
          </p:cNvSpPr>
          <p:nvPr>
            <p:ph idx="1"/>
          </p:nvPr>
        </p:nvSpPr>
        <p:spPr/>
        <p:txBody>
          <a:bodyPr/>
          <a:lstStyle/>
          <a:p>
            <a:pPr>
              <a:spcBef>
                <a:spcPts val="1200"/>
              </a:spcBef>
            </a:pPr>
            <a:r>
              <a:rPr lang="en-US" altLang="en-US" dirty="0"/>
              <a:t>The current use of the term "pattern" is derived from the writings of the architect Christopher Alexander in the late 70s</a:t>
            </a:r>
          </a:p>
          <a:p>
            <a:pPr>
              <a:spcBef>
                <a:spcPts val="1200"/>
              </a:spcBef>
            </a:pPr>
            <a:endParaRPr lang="en-US" altLang="en-US" dirty="0"/>
          </a:p>
          <a:p>
            <a:pPr>
              <a:spcBef>
                <a:spcPts val="1200"/>
              </a:spcBef>
            </a:pPr>
            <a:r>
              <a:rPr lang="en-US" altLang="en-US" dirty="0"/>
              <a:t>Alexander describes some "timeless" design ideas that can be applied to architecture in any decade. </a:t>
            </a:r>
          </a:p>
          <a:p>
            <a:endParaRPr lang="en-IE" dirty="0"/>
          </a:p>
        </p:txBody>
      </p:sp>
    </p:spTree>
    <p:extLst>
      <p:ext uri="{BB962C8B-B14F-4D97-AF65-F5344CB8AC3E}">
        <p14:creationId xmlns:p14="http://schemas.microsoft.com/office/powerpoint/2010/main" val="867672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76FEA-13CA-4393-9C0A-A40E9DC7CDA0}"/>
              </a:ext>
            </a:extLst>
          </p:cNvPr>
          <p:cNvSpPr>
            <a:spLocks noGrp="1"/>
          </p:cNvSpPr>
          <p:nvPr>
            <p:ph type="title"/>
          </p:nvPr>
        </p:nvSpPr>
        <p:spPr/>
        <p:txBody>
          <a:bodyPr/>
          <a:lstStyle/>
          <a:p>
            <a:r>
              <a:rPr lang="en-IE" dirty="0"/>
              <a:t>Pattern Origins</a:t>
            </a:r>
          </a:p>
        </p:txBody>
      </p:sp>
      <p:sp>
        <p:nvSpPr>
          <p:cNvPr id="3" name="Content Placeholder 2">
            <a:extLst>
              <a:ext uri="{FF2B5EF4-FFF2-40B4-BE49-F238E27FC236}">
                <a16:creationId xmlns:a16="http://schemas.microsoft.com/office/drawing/2014/main" id="{A367AEFF-DC74-4179-9776-E6E36C65539F}"/>
              </a:ext>
            </a:extLst>
          </p:cNvPr>
          <p:cNvSpPr>
            <a:spLocks noGrp="1"/>
          </p:cNvSpPr>
          <p:nvPr>
            <p:ph idx="1"/>
          </p:nvPr>
        </p:nvSpPr>
        <p:spPr/>
        <p:txBody>
          <a:bodyPr/>
          <a:lstStyle/>
          <a:p>
            <a:pPr>
              <a:spcBef>
                <a:spcPts val="1200"/>
              </a:spcBef>
            </a:pPr>
            <a:r>
              <a:rPr lang="en-US" altLang="en-US" dirty="0"/>
              <a:t>In 1987, Ward Cunningham and Kent Beck were working with Smalltalk and designing user interfaces</a:t>
            </a:r>
          </a:p>
          <a:p>
            <a:pPr>
              <a:spcBef>
                <a:spcPts val="1200"/>
              </a:spcBef>
            </a:pPr>
            <a:endParaRPr lang="en-US" altLang="en-US" dirty="0"/>
          </a:p>
          <a:p>
            <a:pPr>
              <a:spcBef>
                <a:spcPts val="1200"/>
              </a:spcBef>
            </a:pPr>
            <a:r>
              <a:rPr lang="en-US" altLang="en-US" dirty="0"/>
              <a:t>Decided to use some of Alexander's ideas to develop a small five pattern language for guiding novice Smalltalk programmers</a:t>
            </a:r>
          </a:p>
          <a:p>
            <a:pPr>
              <a:spcBef>
                <a:spcPts val="1200"/>
              </a:spcBef>
            </a:pPr>
            <a:endParaRPr lang="en-US" altLang="en-US" dirty="0"/>
          </a:p>
          <a:p>
            <a:pPr>
              <a:spcBef>
                <a:spcPts val="1200"/>
              </a:spcBef>
            </a:pPr>
            <a:r>
              <a:rPr lang="en-US" altLang="en-US" dirty="0"/>
              <a:t>Presented their results at OOPSLA'87 in Orlando in the paper </a:t>
            </a:r>
            <a:r>
              <a:rPr lang="en-US" altLang="en-US" i="1" dirty="0"/>
              <a:t>"Using Pattern Languages for Object-Oriented Programs”</a:t>
            </a:r>
          </a:p>
          <a:p>
            <a:pPr>
              <a:spcBef>
                <a:spcPts val="1200"/>
              </a:spcBef>
            </a:pPr>
            <a:endParaRPr lang="en-US" altLang="en-US" dirty="0"/>
          </a:p>
          <a:p>
            <a:endParaRPr lang="en-IE" dirty="0"/>
          </a:p>
        </p:txBody>
      </p:sp>
    </p:spTree>
    <p:extLst>
      <p:ext uri="{BB962C8B-B14F-4D97-AF65-F5344CB8AC3E}">
        <p14:creationId xmlns:p14="http://schemas.microsoft.com/office/powerpoint/2010/main" val="236560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D77A4-6817-4691-BF3A-E676E4E011D0}"/>
              </a:ext>
            </a:extLst>
          </p:cNvPr>
          <p:cNvSpPr>
            <a:spLocks noGrp="1"/>
          </p:cNvSpPr>
          <p:nvPr>
            <p:ph type="title"/>
          </p:nvPr>
        </p:nvSpPr>
        <p:spPr/>
        <p:txBody>
          <a:bodyPr/>
          <a:lstStyle/>
          <a:p>
            <a:r>
              <a:rPr lang="en-IE" dirty="0"/>
              <a:t>Pattern Origins and GOF (Gang of Four)</a:t>
            </a:r>
          </a:p>
        </p:txBody>
      </p:sp>
      <p:sp>
        <p:nvSpPr>
          <p:cNvPr id="3" name="Content Placeholder 2">
            <a:extLst>
              <a:ext uri="{FF2B5EF4-FFF2-40B4-BE49-F238E27FC236}">
                <a16:creationId xmlns:a16="http://schemas.microsoft.com/office/drawing/2014/main" id="{5A9F5B1F-9371-4F7D-BA0E-B9D79D33520F}"/>
              </a:ext>
            </a:extLst>
          </p:cNvPr>
          <p:cNvSpPr>
            <a:spLocks noGrp="1"/>
          </p:cNvSpPr>
          <p:nvPr>
            <p:ph idx="1"/>
          </p:nvPr>
        </p:nvSpPr>
        <p:spPr/>
        <p:txBody>
          <a:bodyPr>
            <a:normAutofit lnSpcReduction="10000"/>
          </a:bodyPr>
          <a:lstStyle/>
          <a:p>
            <a:pPr>
              <a:spcBef>
                <a:spcPts val="1200"/>
              </a:spcBef>
            </a:pPr>
            <a:r>
              <a:rPr lang="en-US" altLang="en-US" dirty="0"/>
              <a:t>Another Software Designer, Jim </a:t>
            </a:r>
            <a:r>
              <a:rPr lang="en-US" altLang="en-US" dirty="0" err="1"/>
              <a:t>Coplien</a:t>
            </a:r>
            <a:r>
              <a:rPr lang="en-US" altLang="en-US" dirty="0"/>
              <a:t> began compiling a catalog of C++ </a:t>
            </a:r>
            <a:r>
              <a:rPr lang="en-US" altLang="en-US" i="1" dirty="0"/>
              <a:t>idioms</a:t>
            </a:r>
            <a:r>
              <a:rPr lang="en-US" altLang="en-US" dirty="0"/>
              <a:t> (which are one kind of pattern) and later published them as a book in 1991</a:t>
            </a:r>
          </a:p>
          <a:p>
            <a:endParaRPr lang="en-IE" dirty="0"/>
          </a:p>
          <a:p>
            <a:r>
              <a:rPr lang="en-IE" altLang="en-US" dirty="0"/>
              <a:t>In 1994, four authors Erich Gamma, Richard Helm, Ralph Johnson und John </a:t>
            </a:r>
            <a:r>
              <a:rPr lang="en-IE" altLang="en-US" dirty="0" err="1"/>
              <a:t>Vlissides</a:t>
            </a:r>
            <a:r>
              <a:rPr lang="en-IE" altLang="en-US" dirty="0"/>
              <a:t> published a book titled </a:t>
            </a:r>
            <a:r>
              <a:rPr lang="en-IE" altLang="en-US" b="1" dirty="0"/>
              <a:t>Design Patterns - Elements of Reusable Object-Oriented Software</a:t>
            </a:r>
            <a:r>
              <a:rPr lang="en-IE" altLang="en-US" dirty="0"/>
              <a:t> which initiated the concept of Design Pattern in Software development. </a:t>
            </a:r>
          </a:p>
          <a:p>
            <a:endParaRPr lang="en-IE" altLang="en-US" dirty="0"/>
          </a:p>
          <a:p>
            <a:r>
              <a:rPr lang="en-IE" altLang="en-US" dirty="0"/>
              <a:t>These authors are collectively known as </a:t>
            </a:r>
            <a:r>
              <a:rPr lang="en-IE" altLang="en-US" b="1" dirty="0"/>
              <a:t>Gang of Four (GOF)</a:t>
            </a:r>
            <a:r>
              <a:rPr lang="en-IE" altLang="en-US" dirty="0"/>
              <a:t>. </a:t>
            </a:r>
          </a:p>
          <a:p>
            <a:endParaRPr lang="en-IE" altLang="en-US" dirty="0"/>
          </a:p>
          <a:p>
            <a:endParaRPr lang="en-IE" dirty="0"/>
          </a:p>
        </p:txBody>
      </p:sp>
    </p:spTree>
    <p:extLst>
      <p:ext uri="{BB962C8B-B14F-4D97-AF65-F5344CB8AC3E}">
        <p14:creationId xmlns:p14="http://schemas.microsoft.com/office/powerpoint/2010/main" val="2339776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49D9-149C-4471-A281-9F0D24672761}"/>
              </a:ext>
            </a:extLst>
          </p:cNvPr>
          <p:cNvSpPr>
            <a:spLocks noGrp="1"/>
          </p:cNvSpPr>
          <p:nvPr>
            <p:ph type="title"/>
          </p:nvPr>
        </p:nvSpPr>
        <p:spPr/>
        <p:txBody>
          <a:bodyPr/>
          <a:lstStyle/>
          <a:p>
            <a:r>
              <a:rPr lang="en-IE" dirty="0"/>
              <a:t>Usage of Design Patterns</a:t>
            </a:r>
          </a:p>
        </p:txBody>
      </p:sp>
      <p:sp>
        <p:nvSpPr>
          <p:cNvPr id="3" name="Content Placeholder 2">
            <a:extLst>
              <a:ext uri="{FF2B5EF4-FFF2-40B4-BE49-F238E27FC236}">
                <a16:creationId xmlns:a16="http://schemas.microsoft.com/office/drawing/2014/main" id="{390794A8-18C8-4648-A15C-B14B43898A0A}"/>
              </a:ext>
            </a:extLst>
          </p:cNvPr>
          <p:cNvSpPr>
            <a:spLocks noGrp="1"/>
          </p:cNvSpPr>
          <p:nvPr>
            <p:ph idx="1"/>
          </p:nvPr>
        </p:nvSpPr>
        <p:spPr/>
        <p:txBody>
          <a:bodyPr/>
          <a:lstStyle/>
          <a:p>
            <a:pPr marL="342900" indent="-342900">
              <a:defRPr/>
            </a:pPr>
            <a:r>
              <a:rPr lang="en-IE" dirty="0"/>
              <a:t>Design Patterns have two main usages in software development.</a:t>
            </a:r>
          </a:p>
          <a:p>
            <a:pPr marL="342900" indent="-342900">
              <a:defRPr/>
            </a:pPr>
            <a:endParaRPr lang="en-IE" dirty="0"/>
          </a:p>
          <a:p>
            <a:pPr marL="800100" lvl="1" indent="-342900">
              <a:defRPr/>
            </a:pPr>
            <a:r>
              <a:rPr lang="en-IE" sz="2800" dirty="0"/>
              <a:t>Common platform for developers</a:t>
            </a:r>
          </a:p>
          <a:p>
            <a:pPr marL="800100" lvl="1" indent="-342900">
              <a:defRPr/>
            </a:pPr>
            <a:endParaRPr lang="en-IE" sz="2800" dirty="0"/>
          </a:p>
          <a:p>
            <a:pPr marL="800100" lvl="1" indent="-342900">
              <a:defRPr/>
            </a:pPr>
            <a:r>
              <a:rPr lang="en-IE" sz="2800" dirty="0"/>
              <a:t>Best Practices</a:t>
            </a:r>
          </a:p>
          <a:p>
            <a:endParaRPr lang="en-IE" dirty="0"/>
          </a:p>
        </p:txBody>
      </p:sp>
    </p:spTree>
    <p:extLst>
      <p:ext uri="{BB962C8B-B14F-4D97-AF65-F5344CB8AC3E}">
        <p14:creationId xmlns:p14="http://schemas.microsoft.com/office/powerpoint/2010/main" val="1926345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49D9-149C-4471-A281-9F0D24672761}"/>
              </a:ext>
            </a:extLst>
          </p:cNvPr>
          <p:cNvSpPr>
            <a:spLocks noGrp="1"/>
          </p:cNvSpPr>
          <p:nvPr>
            <p:ph type="title"/>
          </p:nvPr>
        </p:nvSpPr>
        <p:spPr/>
        <p:txBody>
          <a:bodyPr/>
          <a:lstStyle/>
          <a:p>
            <a:r>
              <a:rPr lang="en-IE" altLang="en-US" dirty="0"/>
              <a:t>Common Platform for Developers</a:t>
            </a:r>
            <a:endParaRPr lang="en-IE" dirty="0"/>
          </a:p>
        </p:txBody>
      </p:sp>
      <p:sp>
        <p:nvSpPr>
          <p:cNvPr id="3" name="Content Placeholder 2">
            <a:extLst>
              <a:ext uri="{FF2B5EF4-FFF2-40B4-BE49-F238E27FC236}">
                <a16:creationId xmlns:a16="http://schemas.microsoft.com/office/drawing/2014/main" id="{390794A8-18C8-4648-A15C-B14B43898A0A}"/>
              </a:ext>
            </a:extLst>
          </p:cNvPr>
          <p:cNvSpPr>
            <a:spLocks noGrp="1"/>
          </p:cNvSpPr>
          <p:nvPr>
            <p:ph idx="1"/>
          </p:nvPr>
        </p:nvSpPr>
        <p:spPr/>
        <p:txBody>
          <a:bodyPr/>
          <a:lstStyle/>
          <a:p>
            <a:pPr marL="457200" indent="-457200">
              <a:defRPr/>
            </a:pPr>
            <a:r>
              <a:rPr lang="en-IE" altLang="en-US" dirty="0"/>
              <a:t>Design patterns provide a standard terminology and are specific to particular scenario. </a:t>
            </a:r>
          </a:p>
          <a:p>
            <a:pPr marL="457200" indent="-457200">
              <a:defRPr/>
            </a:pPr>
            <a:endParaRPr lang="en-IE" altLang="en-US" dirty="0"/>
          </a:p>
          <a:p>
            <a:pPr marL="457200" indent="-457200">
              <a:defRPr/>
            </a:pPr>
            <a:r>
              <a:rPr lang="en-IE" altLang="en-US" dirty="0"/>
              <a:t>For example, a singleton design pattern signifies use of single object so all developers familiar with single design pattern will make use of single object and they can tell each other that program is following a singleton pattern.</a:t>
            </a:r>
          </a:p>
          <a:p>
            <a:endParaRPr lang="en-IE" dirty="0"/>
          </a:p>
        </p:txBody>
      </p:sp>
    </p:spTree>
    <p:extLst>
      <p:ext uri="{BB962C8B-B14F-4D97-AF65-F5344CB8AC3E}">
        <p14:creationId xmlns:p14="http://schemas.microsoft.com/office/powerpoint/2010/main" val="995972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49D9-149C-4471-A281-9F0D24672761}"/>
              </a:ext>
            </a:extLst>
          </p:cNvPr>
          <p:cNvSpPr>
            <a:spLocks noGrp="1"/>
          </p:cNvSpPr>
          <p:nvPr>
            <p:ph type="title"/>
          </p:nvPr>
        </p:nvSpPr>
        <p:spPr/>
        <p:txBody>
          <a:bodyPr/>
          <a:lstStyle/>
          <a:p>
            <a:r>
              <a:rPr lang="en-IE" dirty="0"/>
              <a:t>Best Practices</a:t>
            </a:r>
          </a:p>
        </p:txBody>
      </p:sp>
      <p:sp>
        <p:nvSpPr>
          <p:cNvPr id="3" name="Content Placeholder 2">
            <a:extLst>
              <a:ext uri="{FF2B5EF4-FFF2-40B4-BE49-F238E27FC236}">
                <a16:creationId xmlns:a16="http://schemas.microsoft.com/office/drawing/2014/main" id="{390794A8-18C8-4648-A15C-B14B43898A0A}"/>
              </a:ext>
            </a:extLst>
          </p:cNvPr>
          <p:cNvSpPr>
            <a:spLocks noGrp="1"/>
          </p:cNvSpPr>
          <p:nvPr>
            <p:ph idx="1"/>
          </p:nvPr>
        </p:nvSpPr>
        <p:spPr/>
        <p:txBody>
          <a:bodyPr/>
          <a:lstStyle/>
          <a:p>
            <a:pPr marL="457200" indent="-457200">
              <a:defRPr/>
            </a:pPr>
            <a:r>
              <a:rPr lang="en-IE" altLang="en-US" dirty="0"/>
              <a:t>Design patterns have been evolved over a long period of time and they provide best solutions to certain problems faced during software development. </a:t>
            </a:r>
          </a:p>
          <a:p>
            <a:pPr marL="457200" indent="-457200">
              <a:defRPr/>
            </a:pPr>
            <a:endParaRPr lang="en-IE" altLang="en-US" dirty="0"/>
          </a:p>
          <a:p>
            <a:pPr marL="457200" indent="-457200">
              <a:defRPr/>
            </a:pPr>
            <a:r>
              <a:rPr lang="en-IE" altLang="en-US" dirty="0"/>
              <a:t>Learning these patterns helps un-experienced developers to learn software design in an easy and faster way.</a:t>
            </a:r>
          </a:p>
          <a:p>
            <a:endParaRPr lang="en-IE" dirty="0"/>
          </a:p>
        </p:txBody>
      </p:sp>
    </p:spTree>
    <p:extLst>
      <p:ext uri="{BB962C8B-B14F-4D97-AF65-F5344CB8AC3E}">
        <p14:creationId xmlns:p14="http://schemas.microsoft.com/office/powerpoint/2010/main" val="1586216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49D9-149C-4471-A281-9F0D24672761}"/>
              </a:ext>
            </a:extLst>
          </p:cNvPr>
          <p:cNvSpPr>
            <a:spLocks noGrp="1"/>
          </p:cNvSpPr>
          <p:nvPr>
            <p:ph type="title"/>
          </p:nvPr>
        </p:nvSpPr>
        <p:spPr/>
        <p:txBody>
          <a:bodyPr/>
          <a:lstStyle/>
          <a:p>
            <a:r>
              <a:rPr lang="en-US" dirty="0"/>
              <a:t>What is a pattern anyway?</a:t>
            </a:r>
            <a:endParaRPr lang="en-IE" dirty="0"/>
          </a:p>
        </p:txBody>
      </p:sp>
      <p:sp>
        <p:nvSpPr>
          <p:cNvPr id="3" name="Content Placeholder 2">
            <a:extLst>
              <a:ext uri="{FF2B5EF4-FFF2-40B4-BE49-F238E27FC236}">
                <a16:creationId xmlns:a16="http://schemas.microsoft.com/office/drawing/2014/main" id="{390794A8-18C8-4648-A15C-B14B43898A0A}"/>
              </a:ext>
            </a:extLst>
          </p:cNvPr>
          <p:cNvSpPr>
            <a:spLocks noGrp="1"/>
          </p:cNvSpPr>
          <p:nvPr>
            <p:ph idx="1"/>
          </p:nvPr>
        </p:nvSpPr>
        <p:spPr/>
        <p:txBody>
          <a:bodyPr/>
          <a:lstStyle/>
          <a:p>
            <a:pPr>
              <a:spcBef>
                <a:spcPts val="1200"/>
              </a:spcBef>
            </a:pPr>
            <a:r>
              <a:rPr lang="en-US" altLang="en-US" dirty="0"/>
              <a:t>It involves a general description of a recurring solution to a recurring problem replete with various goals and constraints.</a:t>
            </a:r>
          </a:p>
          <a:p>
            <a:pPr>
              <a:spcBef>
                <a:spcPts val="1200"/>
              </a:spcBef>
              <a:buNone/>
            </a:pPr>
            <a:r>
              <a:rPr lang="en-US" altLang="en-US" dirty="0"/>
              <a:t> </a:t>
            </a:r>
          </a:p>
          <a:p>
            <a:pPr>
              <a:spcBef>
                <a:spcPts val="1200"/>
              </a:spcBef>
            </a:pPr>
            <a:r>
              <a:rPr lang="en-US" altLang="en-US" dirty="0"/>
              <a:t>It also explains </a:t>
            </a:r>
            <a:r>
              <a:rPr lang="en-US" altLang="en-US" i="1" dirty="0"/>
              <a:t>why the solution is needed</a:t>
            </a:r>
            <a:r>
              <a:rPr lang="en-US" altLang="en-US" dirty="0"/>
              <a:t>! </a:t>
            </a:r>
          </a:p>
          <a:p>
            <a:endParaRPr lang="en-IE" dirty="0"/>
          </a:p>
        </p:txBody>
      </p:sp>
    </p:spTree>
    <p:extLst>
      <p:ext uri="{BB962C8B-B14F-4D97-AF65-F5344CB8AC3E}">
        <p14:creationId xmlns:p14="http://schemas.microsoft.com/office/powerpoint/2010/main" val="2903459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49D9-149C-4471-A281-9F0D24672761}"/>
              </a:ext>
            </a:extLst>
          </p:cNvPr>
          <p:cNvSpPr>
            <a:spLocks noGrp="1"/>
          </p:cNvSpPr>
          <p:nvPr>
            <p:ph type="title"/>
          </p:nvPr>
        </p:nvSpPr>
        <p:spPr/>
        <p:txBody>
          <a:bodyPr/>
          <a:lstStyle/>
          <a:p>
            <a:r>
              <a:rPr lang="en-IE" dirty="0"/>
              <a:t>Elements of a Design Pattern</a:t>
            </a:r>
          </a:p>
        </p:txBody>
      </p:sp>
      <p:sp>
        <p:nvSpPr>
          <p:cNvPr id="3" name="Content Placeholder 2">
            <a:extLst>
              <a:ext uri="{FF2B5EF4-FFF2-40B4-BE49-F238E27FC236}">
                <a16:creationId xmlns:a16="http://schemas.microsoft.com/office/drawing/2014/main" id="{390794A8-18C8-4648-A15C-B14B43898A0A}"/>
              </a:ext>
            </a:extLst>
          </p:cNvPr>
          <p:cNvSpPr>
            <a:spLocks noGrp="1"/>
          </p:cNvSpPr>
          <p:nvPr>
            <p:ph idx="1"/>
          </p:nvPr>
        </p:nvSpPr>
        <p:spPr/>
        <p:txBody>
          <a:bodyPr/>
          <a:lstStyle/>
          <a:p>
            <a:pPr>
              <a:buNone/>
            </a:pPr>
            <a:r>
              <a:rPr lang="en-US" altLang="en-US" dirty="0"/>
              <a:t>A pattern is made by four elements:</a:t>
            </a:r>
          </a:p>
          <a:p>
            <a:pPr>
              <a:buNone/>
            </a:pPr>
            <a:endParaRPr lang="en-US" altLang="en-US" dirty="0"/>
          </a:p>
          <a:p>
            <a:r>
              <a:rPr lang="en-US" altLang="en-US" dirty="0"/>
              <a:t>Name</a:t>
            </a:r>
          </a:p>
          <a:p>
            <a:r>
              <a:rPr lang="en-US" altLang="en-US" dirty="0"/>
              <a:t>Problem</a:t>
            </a:r>
          </a:p>
          <a:p>
            <a:r>
              <a:rPr lang="en-US" altLang="en-US" dirty="0"/>
              <a:t>Solution</a:t>
            </a:r>
          </a:p>
          <a:p>
            <a:r>
              <a:rPr lang="en-US" altLang="en-US" dirty="0"/>
              <a:t>Consequences</a:t>
            </a:r>
            <a:endParaRPr lang="en-IE" dirty="0"/>
          </a:p>
        </p:txBody>
      </p:sp>
    </p:spTree>
    <p:extLst>
      <p:ext uri="{BB962C8B-B14F-4D97-AF65-F5344CB8AC3E}">
        <p14:creationId xmlns:p14="http://schemas.microsoft.com/office/powerpoint/2010/main" val="799478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49D9-149C-4471-A281-9F0D24672761}"/>
              </a:ext>
            </a:extLst>
          </p:cNvPr>
          <p:cNvSpPr>
            <a:spLocks noGrp="1"/>
          </p:cNvSpPr>
          <p:nvPr>
            <p:ph type="title"/>
          </p:nvPr>
        </p:nvSpPr>
        <p:spPr/>
        <p:txBody>
          <a:bodyPr/>
          <a:lstStyle/>
          <a:p>
            <a:r>
              <a:rPr lang="en-IE" dirty="0"/>
              <a:t>Name of a Design Pattern</a:t>
            </a:r>
          </a:p>
        </p:txBody>
      </p:sp>
      <p:sp>
        <p:nvSpPr>
          <p:cNvPr id="3" name="Content Placeholder 2">
            <a:extLst>
              <a:ext uri="{FF2B5EF4-FFF2-40B4-BE49-F238E27FC236}">
                <a16:creationId xmlns:a16="http://schemas.microsoft.com/office/drawing/2014/main" id="{390794A8-18C8-4648-A15C-B14B43898A0A}"/>
              </a:ext>
            </a:extLst>
          </p:cNvPr>
          <p:cNvSpPr>
            <a:spLocks noGrp="1"/>
          </p:cNvSpPr>
          <p:nvPr>
            <p:ph idx="1"/>
          </p:nvPr>
        </p:nvSpPr>
        <p:spPr/>
        <p:txBody>
          <a:bodyPr/>
          <a:lstStyle/>
          <a:p>
            <a:pPr marL="365760" indent="-283464">
              <a:defRPr/>
            </a:pPr>
            <a:r>
              <a:rPr lang="en-US" altLang="en-US" dirty="0"/>
              <a:t>Describe a design problems and its solutions in a word or two</a:t>
            </a:r>
          </a:p>
          <a:p>
            <a:pPr marL="365760" indent="-283464">
              <a:buNone/>
              <a:defRPr/>
            </a:pPr>
            <a:endParaRPr lang="en-US" altLang="en-US" dirty="0"/>
          </a:p>
          <a:p>
            <a:pPr marL="365760" indent="-283464">
              <a:defRPr/>
            </a:pPr>
            <a:r>
              <a:rPr lang="en-US" altLang="en-US" dirty="0"/>
              <a:t>Used to talk about design pattern with our colleagues</a:t>
            </a:r>
          </a:p>
          <a:p>
            <a:pPr marL="365760" indent="-283464">
              <a:buNone/>
              <a:defRPr/>
            </a:pPr>
            <a:endParaRPr lang="en-US" altLang="en-US" dirty="0"/>
          </a:p>
          <a:p>
            <a:pPr marL="365760" indent="-283464">
              <a:defRPr/>
            </a:pPr>
            <a:r>
              <a:rPr lang="en-US" altLang="en-US" dirty="0"/>
              <a:t>Used in the documentation</a:t>
            </a:r>
          </a:p>
          <a:p>
            <a:pPr marL="365760" indent="-283464">
              <a:defRPr/>
            </a:pPr>
            <a:endParaRPr lang="en-US" altLang="en-US" dirty="0"/>
          </a:p>
          <a:p>
            <a:pPr marL="365760" indent="-283464">
              <a:defRPr/>
            </a:pPr>
            <a:r>
              <a:rPr lang="en-US" altLang="en-US" dirty="0"/>
              <a:t>Increase our design vocabulary</a:t>
            </a:r>
          </a:p>
          <a:p>
            <a:endParaRPr lang="en-IE" dirty="0"/>
          </a:p>
        </p:txBody>
      </p:sp>
    </p:spTree>
    <p:extLst>
      <p:ext uri="{BB962C8B-B14F-4D97-AF65-F5344CB8AC3E}">
        <p14:creationId xmlns:p14="http://schemas.microsoft.com/office/powerpoint/2010/main" val="1562741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49D9-149C-4471-A281-9F0D24672761}"/>
              </a:ext>
            </a:extLst>
          </p:cNvPr>
          <p:cNvSpPr>
            <a:spLocks noGrp="1"/>
          </p:cNvSpPr>
          <p:nvPr>
            <p:ph type="title"/>
          </p:nvPr>
        </p:nvSpPr>
        <p:spPr/>
        <p:txBody>
          <a:bodyPr/>
          <a:lstStyle/>
          <a:p>
            <a:r>
              <a:rPr lang="en-IE" dirty="0"/>
              <a:t>Problem</a:t>
            </a:r>
          </a:p>
        </p:txBody>
      </p:sp>
      <p:sp>
        <p:nvSpPr>
          <p:cNvPr id="3" name="Content Placeholder 2">
            <a:extLst>
              <a:ext uri="{FF2B5EF4-FFF2-40B4-BE49-F238E27FC236}">
                <a16:creationId xmlns:a16="http://schemas.microsoft.com/office/drawing/2014/main" id="{390794A8-18C8-4648-A15C-B14B43898A0A}"/>
              </a:ext>
            </a:extLst>
          </p:cNvPr>
          <p:cNvSpPr>
            <a:spLocks noGrp="1"/>
          </p:cNvSpPr>
          <p:nvPr>
            <p:ph idx="1"/>
          </p:nvPr>
        </p:nvSpPr>
        <p:spPr/>
        <p:txBody>
          <a:bodyPr/>
          <a:lstStyle/>
          <a:p>
            <a:pPr marL="365760" indent="-283464">
              <a:buFont typeface="Wingdings 2"/>
              <a:buChar char=""/>
              <a:defRPr/>
            </a:pPr>
            <a:r>
              <a:rPr lang="en-US" altLang="en-US" dirty="0"/>
              <a:t>Describes when to apply the patterns</a:t>
            </a:r>
          </a:p>
          <a:p>
            <a:pPr marL="365760" indent="-283464">
              <a:buNone/>
              <a:defRPr/>
            </a:pPr>
            <a:endParaRPr lang="en-US" altLang="en-US" dirty="0"/>
          </a:p>
          <a:p>
            <a:pPr marL="365760" indent="-283464">
              <a:buFont typeface="Wingdings 2"/>
              <a:buChar char=""/>
              <a:defRPr/>
            </a:pPr>
            <a:r>
              <a:rPr lang="en-US" altLang="en-US" dirty="0"/>
              <a:t>Explains the problem and its context</a:t>
            </a:r>
          </a:p>
          <a:p>
            <a:pPr marL="365760" indent="-283464">
              <a:buNone/>
              <a:defRPr/>
            </a:pPr>
            <a:endParaRPr lang="en-US" altLang="en-US" dirty="0"/>
          </a:p>
          <a:p>
            <a:pPr marL="365760" indent="-283464">
              <a:buFont typeface="Wingdings 2"/>
              <a:buChar char=""/>
              <a:defRPr/>
            </a:pPr>
            <a:r>
              <a:rPr lang="en-US" altLang="en-US" dirty="0"/>
              <a:t>Sometimes include a list of conditions that must be met before it makes sense to apply the pattern</a:t>
            </a:r>
          </a:p>
          <a:p>
            <a:pPr marL="365760" indent="-283464">
              <a:buNone/>
              <a:defRPr/>
            </a:pPr>
            <a:endParaRPr lang="en-US" altLang="en-US" dirty="0"/>
          </a:p>
          <a:p>
            <a:pPr marL="365760" indent="-283464">
              <a:buFont typeface="Wingdings 2"/>
              <a:buChar char=""/>
              <a:defRPr/>
            </a:pPr>
            <a:r>
              <a:rPr lang="en-US" altLang="en-US" dirty="0"/>
              <a:t>Have to occurs over and over again in our environment</a:t>
            </a:r>
          </a:p>
          <a:p>
            <a:endParaRPr lang="en-IE" dirty="0"/>
          </a:p>
        </p:txBody>
      </p:sp>
    </p:spTree>
    <p:extLst>
      <p:ext uri="{BB962C8B-B14F-4D97-AF65-F5344CB8AC3E}">
        <p14:creationId xmlns:p14="http://schemas.microsoft.com/office/powerpoint/2010/main" val="3638293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49D9-149C-4471-A281-9F0D24672761}"/>
              </a:ext>
            </a:extLst>
          </p:cNvPr>
          <p:cNvSpPr>
            <a:spLocks noGrp="1"/>
          </p:cNvSpPr>
          <p:nvPr>
            <p:ph type="title"/>
          </p:nvPr>
        </p:nvSpPr>
        <p:spPr/>
        <p:txBody>
          <a:bodyPr/>
          <a:lstStyle/>
          <a:p>
            <a:r>
              <a:rPr lang="en-IE" dirty="0"/>
              <a:t>Solution</a:t>
            </a:r>
          </a:p>
        </p:txBody>
      </p:sp>
      <p:sp>
        <p:nvSpPr>
          <p:cNvPr id="3" name="Content Placeholder 2">
            <a:extLst>
              <a:ext uri="{FF2B5EF4-FFF2-40B4-BE49-F238E27FC236}">
                <a16:creationId xmlns:a16="http://schemas.microsoft.com/office/drawing/2014/main" id="{390794A8-18C8-4648-A15C-B14B43898A0A}"/>
              </a:ext>
            </a:extLst>
          </p:cNvPr>
          <p:cNvSpPr>
            <a:spLocks noGrp="1"/>
          </p:cNvSpPr>
          <p:nvPr>
            <p:ph idx="1"/>
          </p:nvPr>
        </p:nvSpPr>
        <p:spPr/>
        <p:txBody>
          <a:bodyPr/>
          <a:lstStyle/>
          <a:p>
            <a:r>
              <a:rPr lang="en-US" altLang="en-US" dirty="0"/>
              <a:t>Describes the elements that make up the design, their relationships, responsibilities and collaborations</a:t>
            </a:r>
          </a:p>
          <a:p>
            <a:pPr>
              <a:buNone/>
            </a:pPr>
            <a:endParaRPr lang="en-US" altLang="en-US" dirty="0"/>
          </a:p>
          <a:p>
            <a:r>
              <a:rPr lang="en-US" altLang="en-US" dirty="0"/>
              <a:t>Does not describe  a concrete design or implementation</a:t>
            </a:r>
          </a:p>
          <a:p>
            <a:endParaRPr lang="en-IE" dirty="0"/>
          </a:p>
        </p:txBody>
      </p:sp>
    </p:spTree>
    <p:extLst>
      <p:ext uri="{BB962C8B-B14F-4D97-AF65-F5344CB8AC3E}">
        <p14:creationId xmlns:p14="http://schemas.microsoft.com/office/powerpoint/2010/main" val="431655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49D9-149C-4471-A281-9F0D24672761}"/>
              </a:ext>
            </a:extLst>
          </p:cNvPr>
          <p:cNvSpPr>
            <a:spLocks noGrp="1"/>
          </p:cNvSpPr>
          <p:nvPr>
            <p:ph type="title"/>
          </p:nvPr>
        </p:nvSpPr>
        <p:spPr/>
        <p:txBody>
          <a:bodyPr/>
          <a:lstStyle/>
          <a:p>
            <a:r>
              <a:rPr lang="en-IE" dirty="0"/>
              <a:t>Consequences</a:t>
            </a:r>
          </a:p>
        </p:txBody>
      </p:sp>
      <p:sp>
        <p:nvSpPr>
          <p:cNvPr id="3" name="Content Placeholder 2">
            <a:extLst>
              <a:ext uri="{FF2B5EF4-FFF2-40B4-BE49-F238E27FC236}">
                <a16:creationId xmlns:a16="http://schemas.microsoft.com/office/drawing/2014/main" id="{390794A8-18C8-4648-A15C-B14B43898A0A}"/>
              </a:ext>
            </a:extLst>
          </p:cNvPr>
          <p:cNvSpPr>
            <a:spLocks noGrp="1"/>
          </p:cNvSpPr>
          <p:nvPr>
            <p:ph idx="1"/>
          </p:nvPr>
        </p:nvSpPr>
        <p:spPr/>
        <p:txBody>
          <a:bodyPr/>
          <a:lstStyle/>
          <a:p>
            <a:pPr marL="365125" indent="-282575">
              <a:buFont typeface="Wingdings 2" panose="05020102010507070707" pitchFamily="18" charset="2"/>
              <a:buChar char=""/>
            </a:pPr>
            <a:r>
              <a:rPr lang="en-US" altLang="en-US" dirty="0"/>
              <a:t>Results and trade-offs of applying the pattern</a:t>
            </a:r>
          </a:p>
          <a:p>
            <a:pPr marL="365125" indent="-282575">
              <a:buNone/>
            </a:pPr>
            <a:endParaRPr lang="en-US" altLang="en-US" dirty="0"/>
          </a:p>
          <a:p>
            <a:pPr marL="365125" indent="-282575">
              <a:buFont typeface="Wingdings 2" panose="05020102010507070707" pitchFamily="18" charset="2"/>
              <a:buChar char=""/>
            </a:pPr>
            <a:r>
              <a:rPr lang="en-US" altLang="en-US" dirty="0"/>
              <a:t>Helpful for describe design decisions, for evaluating design alternatives</a:t>
            </a:r>
          </a:p>
          <a:p>
            <a:pPr marL="365125" indent="-282575">
              <a:buNone/>
            </a:pPr>
            <a:endParaRPr lang="en-US" altLang="en-US" dirty="0"/>
          </a:p>
          <a:p>
            <a:pPr marL="365125" indent="-282575">
              <a:buFont typeface="Wingdings 2" panose="05020102010507070707" pitchFamily="18" charset="2"/>
              <a:buChar char=""/>
            </a:pPr>
            <a:r>
              <a:rPr lang="en-US" altLang="en-US" dirty="0"/>
              <a:t>Benefits of applying a pattern</a:t>
            </a:r>
          </a:p>
          <a:p>
            <a:pPr marL="365125" indent="-282575">
              <a:buNone/>
            </a:pPr>
            <a:endParaRPr lang="en-US" altLang="en-US" dirty="0"/>
          </a:p>
          <a:p>
            <a:pPr marL="365125" indent="-282575">
              <a:buFont typeface="Wingdings 2" panose="05020102010507070707" pitchFamily="18" charset="2"/>
              <a:buChar char=""/>
            </a:pPr>
            <a:r>
              <a:rPr lang="en-US" altLang="en-US" dirty="0"/>
              <a:t>Impacts on a system’s </a:t>
            </a:r>
            <a:r>
              <a:rPr lang="en-US" altLang="en-US" dirty="0" err="1"/>
              <a:t>flexibility,extensibility</a:t>
            </a:r>
            <a:r>
              <a:rPr lang="en-US" altLang="en-US" dirty="0"/>
              <a:t> or portability</a:t>
            </a:r>
          </a:p>
          <a:p>
            <a:endParaRPr lang="en-IE" dirty="0"/>
          </a:p>
        </p:txBody>
      </p:sp>
    </p:spTree>
    <p:extLst>
      <p:ext uri="{BB962C8B-B14F-4D97-AF65-F5344CB8AC3E}">
        <p14:creationId xmlns:p14="http://schemas.microsoft.com/office/powerpoint/2010/main" val="3087176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49D9-149C-4471-A281-9F0D24672761}"/>
              </a:ext>
            </a:extLst>
          </p:cNvPr>
          <p:cNvSpPr>
            <a:spLocks noGrp="1"/>
          </p:cNvSpPr>
          <p:nvPr>
            <p:ph type="title"/>
          </p:nvPr>
        </p:nvSpPr>
        <p:spPr>
          <a:xfrm>
            <a:off x="838200" y="365125"/>
            <a:ext cx="10515600" cy="1325563"/>
          </a:xfrm>
        </p:spPr>
        <p:txBody>
          <a:bodyPr/>
          <a:lstStyle/>
          <a:p>
            <a:r>
              <a:rPr lang="en-IE"/>
              <a:t>Singleton Pattern</a:t>
            </a:r>
            <a:endParaRPr lang="en-IE" dirty="0"/>
          </a:p>
        </p:txBody>
      </p:sp>
      <p:pic>
        <p:nvPicPr>
          <p:cNvPr id="4" name="Content Placeholder 3">
            <a:extLst>
              <a:ext uri="{FF2B5EF4-FFF2-40B4-BE49-F238E27FC236}">
                <a16:creationId xmlns:a16="http://schemas.microsoft.com/office/drawing/2014/main" id="{D6B5A058-51F7-4E63-B323-3D8582C26BC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44760" y="2039143"/>
            <a:ext cx="3562350" cy="410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a:extLst>
              <a:ext uri="{FF2B5EF4-FFF2-40B4-BE49-F238E27FC236}">
                <a16:creationId xmlns:a16="http://schemas.microsoft.com/office/drawing/2014/main" id="{0DDEB325-9CEE-41CC-91A5-4F79759BE06A}"/>
              </a:ext>
            </a:extLst>
          </p:cNvPr>
          <p:cNvSpPr txBox="1"/>
          <p:nvPr/>
        </p:nvSpPr>
        <p:spPr>
          <a:xfrm>
            <a:off x="4844760" y="1392812"/>
            <a:ext cx="2502480" cy="646331"/>
          </a:xfrm>
          <a:prstGeom prst="rect">
            <a:avLst/>
          </a:prstGeom>
          <a:noFill/>
        </p:spPr>
        <p:txBody>
          <a:bodyPr wrap="none" rtlCol="0">
            <a:spAutoFit/>
          </a:bodyPr>
          <a:lstStyle/>
          <a:p>
            <a:r>
              <a:rPr lang="en-IE" sz="3600" dirty="0"/>
              <a:t>Architecture</a:t>
            </a:r>
          </a:p>
        </p:txBody>
      </p:sp>
    </p:spTree>
    <p:extLst>
      <p:ext uri="{BB962C8B-B14F-4D97-AF65-F5344CB8AC3E}">
        <p14:creationId xmlns:p14="http://schemas.microsoft.com/office/powerpoint/2010/main" val="3798742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7D1FB-4FE5-4273-AEDA-BB361705C279}"/>
              </a:ext>
            </a:extLst>
          </p:cNvPr>
          <p:cNvSpPr>
            <a:spLocks noGrp="1"/>
          </p:cNvSpPr>
          <p:nvPr>
            <p:ph type="title"/>
          </p:nvPr>
        </p:nvSpPr>
        <p:spPr/>
        <p:txBody>
          <a:bodyPr/>
          <a:lstStyle/>
          <a:p>
            <a:r>
              <a:rPr lang="en-IE" dirty="0"/>
              <a:t>Singleton</a:t>
            </a:r>
          </a:p>
        </p:txBody>
      </p:sp>
      <p:sp>
        <p:nvSpPr>
          <p:cNvPr id="3" name="Content Placeholder 2">
            <a:extLst>
              <a:ext uri="{FF2B5EF4-FFF2-40B4-BE49-F238E27FC236}">
                <a16:creationId xmlns:a16="http://schemas.microsoft.com/office/drawing/2014/main" id="{F205F8F4-158A-4822-8F7B-577CD0F8A540}"/>
              </a:ext>
            </a:extLst>
          </p:cNvPr>
          <p:cNvSpPr>
            <a:spLocks noGrp="1"/>
          </p:cNvSpPr>
          <p:nvPr>
            <p:ph idx="1"/>
          </p:nvPr>
        </p:nvSpPr>
        <p:spPr/>
        <p:txBody>
          <a:bodyPr>
            <a:normAutofit fontScale="92500" lnSpcReduction="10000"/>
          </a:bodyPr>
          <a:lstStyle/>
          <a:p>
            <a:pPr marL="82296" indent="0">
              <a:buNone/>
              <a:defRPr/>
            </a:pPr>
            <a:r>
              <a:rPr lang="en-US" dirty="0"/>
              <a:t>One of the most widely used design patterns in the Singleton design pattern.</a:t>
            </a:r>
          </a:p>
          <a:p>
            <a:pPr marL="365760" indent="-283464">
              <a:buFont typeface="Wingdings 2"/>
              <a:buChar char=""/>
              <a:defRPr/>
            </a:pPr>
            <a:endParaRPr lang="en-US" dirty="0"/>
          </a:p>
          <a:p>
            <a:pPr marL="365760" indent="-283464">
              <a:buNone/>
              <a:defRPr/>
            </a:pPr>
            <a:r>
              <a:rPr lang="en-US" b="1" dirty="0"/>
              <a:t>Problem</a:t>
            </a:r>
            <a:r>
              <a:rPr lang="en-US" dirty="0"/>
              <a:t>:  I want to limit the application to only one</a:t>
            </a:r>
          </a:p>
          <a:p>
            <a:pPr marL="365760" indent="-283464">
              <a:buNone/>
              <a:defRPr/>
            </a:pPr>
            <a:r>
              <a:rPr lang="en-US" dirty="0"/>
              <a:t>instance of a particular class, but need global</a:t>
            </a:r>
          </a:p>
          <a:p>
            <a:pPr marL="365760" indent="-283464">
              <a:buNone/>
              <a:defRPr/>
            </a:pPr>
            <a:r>
              <a:rPr lang="en-US" dirty="0"/>
              <a:t>access to that class.</a:t>
            </a:r>
          </a:p>
          <a:p>
            <a:pPr marL="365760" indent="-283464">
              <a:buNone/>
              <a:defRPr/>
            </a:pPr>
            <a:endParaRPr lang="en-US" dirty="0"/>
          </a:p>
          <a:p>
            <a:pPr marL="365760" indent="-283464">
              <a:buNone/>
              <a:defRPr/>
            </a:pPr>
            <a:r>
              <a:rPr lang="en-US" b="1" dirty="0"/>
              <a:t>Solution</a:t>
            </a:r>
            <a:r>
              <a:rPr lang="en-US" dirty="0"/>
              <a:t>:</a:t>
            </a:r>
          </a:p>
          <a:p>
            <a:pPr marL="365760" indent="-283464">
              <a:buNone/>
              <a:defRPr/>
            </a:pPr>
            <a:r>
              <a:rPr lang="en-US" dirty="0"/>
              <a:t>Make the constructor private. Then only allow one</a:t>
            </a:r>
          </a:p>
          <a:p>
            <a:pPr marL="365760" indent="-283464">
              <a:buNone/>
              <a:defRPr/>
            </a:pPr>
            <a:r>
              <a:rPr lang="en-US" dirty="0"/>
              <a:t>instance of the class to be created</a:t>
            </a:r>
          </a:p>
          <a:p>
            <a:endParaRPr lang="en-IE" dirty="0"/>
          </a:p>
        </p:txBody>
      </p:sp>
    </p:spTree>
    <p:extLst>
      <p:ext uri="{BB962C8B-B14F-4D97-AF65-F5344CB8AC3E}">
        <p14:creationId xmlns:p14="http://schemas.microsoft.com/office/powerpoint/2010/main" val="3267601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33E9-495E-454B-9F7E-0F4452753217}"/>
              </a:ext>
            </a:extLst>
          </p:cNvPr>
          <p:cNvSpPr>
            <a:spLocks noGrp="1"/>
          </p:cNvSpPr>
          <p:nvPr>
            <p:ph type="title"/>
          </p:nvPr>
        </p:nvSpPr>
        <p:spPr/>
        <p:txBody>
          <a:bodyPr/>
          <a:lstStyle/>
          <a:p>
            <a:r>
              <a:rPr lang="en-IE" dirty="0"/>
              <a:t>Understanding the code…</a:t>
            </a:r>
          </a:p>
        </p:txBody>
      </p:sp>
      <p:sp>
        <p:nvSpPr>
          <p:cNvPr id="3" name="Content Placeholder 2">
            <a:extLst>
              <a:ext uri="{FF2B5EF4-FFF2-40B4-BE49-F238E27FC236}">
                <a16:creationId xmlns:a16="http://schemas.microsoft.com/office/drawing/2014/main" id="{490AF8D7-1CAA-4CE4-B901-E91A589980C7}"/>
              </a:ext>
            </a:extLst>
          </p:cNvPr>
          <p:cNvSpPr>
            <a:spLocks noGrp="1"/>
          </p:cNvSpPr>
          <p:nvPr>
            <p:ph idx="1"/>
          </p:nvPr>
        </p:nvSpPr>
        <p:spPr/>
        <p:txBody>
          <a:bodyPr>
            <a:normAutofit fontScale="92500" lnSpcReduction="10000"/>
          </a:bodyPr>
          <a:lstStyle/>
          <a:p>
            <a:pPr marL="365760" indent="-283464">
              <a:buNone/>
              <a:defRPr/>
            </a:pPr>
            <a:r>
              <a:rPr lang="en-GB" i="1" dirty="0"/>
              <a:t>private static </a:t>
            </a:r>
            <a:r>
              <a:rPr lang="en-GB" i="1" dirty="0" err="1"/>
              <a:t>SingletonExample</a:t>
            </a:r>
            <a:r>
              <a:rPr lang="en-GB" i="1" dirty="0"/>
              <a:t> </a:t>
            </a:r>
            <a:r>
              <a:rPr lang="en-GB" i="1" dirty="0" err="1"/>
              <a:t>theSingleInstance</a:t>
            </a:r>
            <a:r>
              <a:rPr lang="en-GB" i="1" dirty="0"/>
              <a:t>=null;</a:t>
            </a:r>
          </a:p>
          <a:p>
            <a:pPr marL="365760" indent="-283464">
              <a:buNone/>
              <a:defRPr/>
            </a:pPr>
            <a:endParaRPr lang="en-GB" i="1" dirty="0"/>
          </a:p>
          <a:p>
            <a:pPr marL="365760" indent="-283464">
              <a:buFont typeface="Wingdings 2"/>
              <a:buChar char=""/>
              <a:defRPr/>
            </a:pPr>
            <a:r>
              <a:rPr lang="en-GB" dirty="0"/>
              <a:t>The class </a:t>
            </a:r>
            <a:r>
              <a:rPr lang="en-GB" dirty="0" err="1"/>
              <a:t>SingletonExample</a:t>
            </a:r>
            <a:r>
              <a:rPr lang="en-GB" dirty="0"/>
              <a:t> stores a variable “</a:t>
            </a:r>
            <a:r>
              <a:rPr lang="en-GB" dirty="0" err="1"/>
              <a:t>theSingleInstance</a:t>
            </a:r>
            <a:r>
              <a:rPr lang="en-GB" dirty="0"/>
              <a:t>”. </a:t>
            </a:r>
          </a:p>
          <a:p>
            <a:pPr marL="365760" indent="-283464">
              <a:buFont typeface="Wingdings 2"/>
              <a:buChar char=""/>
              <a:defRPr/>
            </a:pPr>
            <a:endParaRPr lang="en-GB" dirty="0"/>
          </a:p>
          <a:p>
            <a:pPr marL="365760" indent="-283464">
              <a:buFont typeface="Wingdings 2"/>
              <a:buChar char=""/>
              <a:defRPr/>
            </a:pPr>
            <a:r>
              <a:rPr lang="en-GB" dirty="0"/>
              <a:t>There will only ever be one object of type </a:t>
            </a:r>
            <a:r>
              <a:rPr lang="en-GB" dirty="0" err="1"/>
              <a:t>SingletonExample</a:t>
            </a:r>
            <a:r>
              <a:rPr lang="en-GB" dirty="0"/>
              <a:t>.</a:t>
            </a:r>
          </a:p>
          <a:p>
            <a:pPr marL="365760" indent="-283464">
              <a:buFont typeface="Wingdings 2"/>
              <a:buChar char=""/>
              <a:defRPr/>
            </a:pPr>
            <a:endParaRPr lang="en-GB" dirty="0"/>
          </a:p>
          <a:p>
            <a:pPr marL="365760" indent="-283464">
              <a:buFont typeface="Wingdings 2"/>
              <a:buChar char=""/>
              <a:defRPr/>
            </a:pPr>
            <a:r>
              <a:rPr lang="en-GB" dirty="0"/>
              <a:t>The variable “</a:t>
            </a:r>
            <a:r>
              <a:rPr lang="en-GB" dirty="0" err="1"/>
              <a:t>theSingleInstance</a:t>
            </a:r>
            <a:r>
              <a:rPr lang="en-GB" dirty="0"/>
              <a:t>” stores the object reference to this single instance of </a:t>
            </a:r>
            <a:r>
              <a:rPr lang="en-GB" dirty="0" err="1"/>
              <a:t>SingletonExample</a:t>
            </a:r>
            <a:r>
              <a:rPr lang="en-GB" dirty="0"/>
              <a:t>.</a:t>
            </a:r>
          </a:p>
          <a:p>
            <a:pPr marL="365760" indent="-283464">
              <a:buFont typeface="Wingdings 2"/>
              <a:buChar char=""/>
              <a:defRPr/>
            </a:pPr>
            <a:endParaRPr lang="en-GB" dirty="0"/>
          </a:p>
          <a:p>
            <a:pPr marL="365760" indent="-283464">
              <a:buFont typeface="Wingdings 2"/>
              <a:buChar char=""/>
              <a:defRPr/>
            </a:pPr>
            <a:r>
              <a:rPr lang="en-GB" dirty="0"/>
              <a:t>We will look at static variables later in the course.</a:t>
            </a:r>
          </a:p>
          <a:p>
            <a:endParaRPr lang="en-IE" dirty="0"/>
          </a:p>
        </p:txBody>
      </p:sp>
    </p:spTree>
    <p:extLst>
      <p:ext uri="{BB962C8B-B14F-4D97-AF65-F5344CB8AC3E}">
        <p14:creationId xmlns:p14="http://schemas.microsoft.com/office/powerpoint/2010/main" val="250340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33E9-495E-454B-9F7E-0F4452753217}"/>
              </a:ext>
            </a:extLst>
          </p:cNvPr>
          <p:cNvSpPr>
            <a:spLocks noGrp="1"/>
          </p:cNvSpPr>
          <p:nvPr>
            <p:ph type="title"/>
          </p:nvPr>
        </p:nvSpPr>
        <p:spPr/>
        <p:txBody>
          <a:bodyPr/>
          <a:lstStyle/>
          <a:p>
            <a:r>
              <a:rPr lang="en-IE" dirty="0"/>
              <a:t>Understanding the code…</a:t>
            </a:r>
          </a:p>
        </p:txBody>
      </p:sp>
      <p:sp>
        <p:nvSpPr>
          <p:cNvPr id="3" name="Content Placeholder 2">
            <a:extLst>
              <a:ext uri="{FF2B5EF4-FFF2-40B4-BE49-F238E27FC236}">
                <a16:creationId xmlns:a16="http://schemas.microsoft.com/office/drawing/2014/main" id="{490AF8D7-1CAA-4CE4-B901-E91A589980C7}"/>
              </a:ext>
            </a:extLst>
          </p:cNvPr>
          <p:cNvSpPr>
            <a:spLocks noGrp="1"/>
          </p:cNvSpPr>
          <p:nvPr>
            <p:ph idx="1"/>
          </p:nvPr>
        </p:nvSpPr>
        <p:spPr/>
        <p:txBody>
          <a:bodyPr>
            <a:normAutofit fontScale="92500" lnSpcReduction="10000"/>
          </a:bodyPr>
          <a:lstStyle/>
          <a:p>
            <a:pPr marL="365760" indent="-283464">
              <a:buNone/>
              <a:defRPr/>
            </a:pPr>
            <a:r>
              <a:rPr lang="en-GB" i="1" dirty="0"/>
              <a:t>private </a:t>
            </a:r>
            <a:r>
              <a:rPr lang="en-GB" i="1" dirty="0" err="1"/>
              <a:t>SingletonExample</a:t>
            </a:r>
            <a:r>
              <a:rPr lang="en-GB" i="1" dirty="0"/>
              <a:t>(){</a:t>
            </a:r>
          </a:p>
          <a:p>
            <a:pPr marL="365760" indent="-283464">
              <a:buNone/>
              <a:defRPr/>
            </a:pPr>
            <a:r>
              <a:rPr lang="en-GB" i="1" dirty="0"/>
              <a:t>  </a:t>
            </a:r>
            <a:r>
              <a:rPr lang="en-GB" i="1" dirty="0" err="1"/>
              <a:t>System.out.println</a:t>
            </a:r>
            <a:r>
              <a:rPr lang="en-GB" i="1" dirty="0"/>
              <a:t>("Constructor for singleton has been called");</a:t>
            </a:r>
          </a:p>
          <a:p>
            <a:pPr marL="365760" indent="-283464">
              <a:buNone/>
              <a:defRPr/>
            </a:pPr>
            <a:r>
              <a:rPr lang="en-GB" i="1" dirty="0"/>
              <a:t>}</a:t>
            </a:r>
          </a:p>
          <a:p>
            <a:pPr marL="365760" indent="-283464">
              <a:buNone/>
              <a:defRPr/>
            </a:pPr>
            <a:endParaRPr lang="en-GB" i="1" dirty="0"/>
          </a:p>
          <a:p>
            <a:pPr marL="365760" indent="-283464">
              <a:buFont typeface="Wingdings 2"/>
              <a:buChar char=""/>
              <a:defRPr/>
            </a:pPr>
            <a:r>
              <a:rPr lang="en-GB" dirty="0"/>
              <a:t>This is the constructor for </a:t>
            </a:r>
            <a:r>
              <a:rPr lang="en-GB" dirty="0" err="1"/>
              <a:t>SingletonExample</a:t>
            </a:r>
            <a:r>
              <a:rPr lang="en-GB" dirty="0"/>
              <a:t>.</a:t>
            </a:r>
          </a:p>
          <a:p>
            <a:pPr marL="365760" indent="-283464">
              <a:buFont typeface="Wingdings 2"/>
              <a:buChar char=""/>
              <a:defRPr/>
            </a:pPr>
            <a:endParaRPr lang="en-GB" dirty="0"/>
          </a:p>
          <a:p>
            <a:pPr marL="365760" indent="-283464">
              <a:buFont typeface="Wingdings 2"/>
              <a:buChar char=""/>
              <a:defRPr/>
            </a:pPr>
            <a:r>
              <a:rPr lang="en-GB" dirty="0"/>
              <a:t>It is private which means that other classes can not create instances of </a:t>
            </a:r>
            <a:r>
              <a:rPr lang="en-GB" dirty="0" err="1"/>
              <a:t>SingletonExample</a:t>
            </a:r>
            <a:r>
              <a:rPr lang="en-GB" dirty="0"/>
              <a:t>.</a:t>
            </a:r>
          </a:p>
          <a:p>
            <a:pPr marL="365760" indent="-283464">
              <a:buFont typeface="Wingdings 2"/>
              <a:buChar char=""/>
              <a:defRPr/>
            </a:pPr>
            <a:endParaRPr lang="en-GB" dirty="0"/>
          </a:p>
          <a:p>
            <a:pPr marL="365760" indent="-283464">
              <a:buFont typeface="Wingdings 2"/>
              <a:buChar char=""/>
              <a:defRPr/>
            </a:pPr>
            <a:r>
              <a:rPr lang="en-GB" dirty="0"/>
              <a:t>Only </a:t>
            </a:r>
            <a:r>
              <a:rPr lang="en-GB" dirty="0" err="1"/>
              <a:t>SingletonExample</a:t>
            </a:r>
            <a:r>
              <a:rPr lang="en-GB" dirty="0"/>
              <a:t> itself can create instances of </a:t>
            </a:r>
            <a:r>
              <a:rPr lang="en-GB" dirty="0" err="1"/>
              <a:t>SingletonExample</a:t>
            </a:r>
            <a:r>
              <a:rPr lang="en-GB" dirty="0"/>
              <a:t>.</a:t>
            </a:r>
          </a:p>
          <a:p>
            <a:endParaRPr lang="en-IE" dirty="0"/>
          </a:p>
        </p:txBody>
      </p:sp>
    </p:spTree>
    <p:extLst>
      <p:ext uri="{BB962C8B-B14F-4D97-AF65-F5344CB8AC3E}">
        <p14:creationId xmlns:p14="http://schemas.microsoft.com/office/powerpoint/2010/main" val="638360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33E9-495E-454B-9F7E-0F4452753217}"/>
              </a:ext>
            </a:extLst>
          </p:cNvPr>
          <p:cNvSpPr>
            <a:spLocks noGrp="1"/>
          </p:cNvSpPr>
          <p:nvPr>
            <p:ph type="title"/>
          </p:nvPr>
        </p:nvSpPr>
        <p:spPr/>
        <p:txBody>
          <a:bodyPr/>
          <a:lstStyle/>
          <a:p>
            <a:r>
              <a:rPr lang="en-IE" dirty="0"/>
              <a:t>Understanding the code…</a:t>
            </a:r>
          </a:p>
        </p:txBody>
      </p:sp>
      <p:sp>
        <p:nvSpPr>
          <p:cNvPr id="3" name="Content Placeholder 2">
            <a:extLst>
              <a:ext uri="{FF2B5EF4-FFF2-40B4-BE49-F238E27FC236}">
                <a16:creationId xmlns:a16="http://schemas.microsoft.com/office/drawing/2014/main" id="{490AF8D7-1CAA-4CE4-B901-E91A589980C7}"/>
              </a:ext>
            </a:extLst>
          </p:cNvPr>
          <p:cNvSpPr>
            <a:spLocks noGrp="1"/>
          </p:cNvSpPr>
          <p:nvPr>
            <p:ph idx="1"/>
          </p:nvPr>
        </p:nvSpPr>
        <p:spPr/>
        <p:txBody>
          <a:bodyPr>
            <a:normAutofit/>
          </a:bodyPr>
          <a:lstStyle/>
          <a:p>
            <a:pPr marL="365760" indent="-283464">
              <a:buFont typeface="Wingdings 2"/>
              <a:buChar char=""/>
              <a:defRPr/>
            </a:pPr>
            <a:r>
              <a:rPr lang="en-GB" dirty="0"/>
              <a:t>Instead of the </a:t>
            </a:r>
            <a:r>
              <a:rPr lang="en-GB" dirty="0" err="1"/>
              <a:t>SingletonTester</a:t>
            </a:r>
            <a:r>
              <a:rPr lang="en-GB" dirty="0"/>
              <a:t> calling the constructor for </a:t>
            </a:r>
            <a:r>
              <a:rPr lang="en-GB" dirty="0" err="1"/>
              <a:t>SingletonExample</a:t>
            </a:r>
            <a:r>
              <a:rPr lang="en-GB" dirty="0"/>
              <a:t> as it normally would it calls a method called </a:t>
            </a:r>
            <a:r>
              <a:rPr lang="en-GB" dirty="0" err="1"/>
              <a:t>getInstance</a:t>
            </a:r>
            <a:r>
              <a:rPr lang="en-GB" dirty="0"/>
              <a:t>().</a:t>
            </a:r>
          </a:p>
          <a:p>
            <a:pPr marL="365760" indent="-283464">
              <a:buFont typeface="Wingdings 2"/>
              <a:buChar char=""/>
              <a:defRPr/>
            </a:pPr>
            <a:endParaRPr lang="en-GB" dirty="0"/>
          </a:p>
          <a:p>
            <a:pPr marL="365760" indent="-283464">
              <a:buNone/>
              <a:defRPr/>
            </a:pPr>
            <a:r>
              <a:rPr lang="en-GB" i="1" dirty="0"/>
              <a:t>public static </a:t>
            </a:r>
            <a:r>
              <a:rPr lang="en-GB" i="1" dirty="0" err="1"/>
              <a:t>SingletonExample</a:t>
            </a:r>
            <a:r>
              <a:rPr lang="en-GB" i="1" dirty="0"/>
              <a:t> </a:t>
            </a:r>
            <a:r>
              <a:rPr lang="en-GB" i="1" dirty="0" err="1"/>
              <a:t>getInstance</a:t>
            </a:r>
            <a:r>
              <a:rPr lang="en-GB" i="1" dirty="0"/>
              <a:t>(){</a:t>
            </a:r>
          </a:p>
          <a:p>
            <a:pPr marL="365760" indent="-283464">
              <a:buFont typeface="Wingdings 2"/>
              <a:buChar char=""/>
              <a:defRPr/>
            </a:pPr>
            <a:endParaRPr lang="en-GB" sz="1600" dirty="0"/>
          </a:p>
          <a:p>
            <a:pPr marL="365760" indent="-283464">
              <a:buFont typeface="Wingdings 2"/>
              <a:buChar char=""/>
              <a:defRPr/>
            </a:pPr>
            <a:r>
              <a:rPr lang="en-GB" dirty="0" err="1"/>
              <a:t>getInstance</a:t>
            </a:r>
            <a:r>
              <a:rPr lang="en-GB" dirty="0"/>
              <a:t>() determines if an instance of </a:t>
            </a:r>
            <a:r>
              <a:rPr lang="en-GB" dirty="0" err="1"/>
              <a:t>SingletonExample</a:t>
            </a:r>
            <a:r>
              <a:rPr lang="en-GB" dirty="0"/>
              <a:t>  already exists and it </a:t>
            </a:r>
            <a:r>
              <a:rPr lang="en-GB" dirty="0" err="1"/>
              <a:t>it</a:t>
            </a:r>
            <a:r>
              <a:rPr lang="en-GB" dirty="0"/>
              <a:t> does not exist it creates it and stores it in the variable </a:t>
            </a:r>
            <a:r>
              <a:rPr lang="en-GB" dirty="0" err="1"/>
              <a:t>theSingleInstance</a:t>
            </a:r>
            <a:r>
              <a:rPr lang="en-GB" dirty="0"/>
              <a:t>. It then returns the instance.</a:t>
            </a:r>
            <a:r>
              <a:rPr lang="en-GB" i="1" dirty="0"/>
              <a:t> </a:t>
            </a:r>
          </a:p>
          <a:p>
            <a:pPr marL="365760" indent="-283464">
              <a:buFont typeface="Wingdings 2"/>
              <a:buChar char=""/>
              <a:defRPr/>
            </a:pPr>
            <a:endParaRPr lang="en-GB" dirty="0"/>
          </a:p>
          <a:p>
            <a:endParaRPr lang="en-IE" dirty="0"/>
          </a:p>
        </p:txBody>
      </p:sp>
    </p:spTree>
    <p:extLst>
      <p:ext uri="{BB962C8B-B14F-4D97-AF65-F5344CB8AC3E}">
        <p14:creationId xmlns:p14="http://schemas.microsoft.com/office/powerpoint/2010/main" val="798692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33E9-495E-454B-9F7E-0F4452753217}"/>
              </a:ext>
            </a:extLst>
          </p:cNvPr>
          <p:cNvSpPr>
            <a:spLocks noGrp="1"/>
          </p:cNvSpPr>
          <p:nvPr>
            <p:ph type="title"/>
          </p:nvPr>
        </p:nvSpPr>
        <p:spPr/>
        <p:txBody>
          <a:bodyPr/>
          <a:lstStyle/>
          <a:p>
            <a:r>
              <a:rPr lang="en-IE" dirty="0"/>
              <a:t>Understanding the code…</a:t>
            </a:r>
          </a:p>
        </p:txBody>
      </p:sp>
      <p:sp>
        <p:nvSpPr>
          <p:cNvPr id="3" name="Content Placeholder 2">
            <a:extLst>
              <a:ext uri="{FF2B5EF4-FFF2-40B4-BE49-F238E27FC236}">
                <a16:creationId xmlns:a16="http://schemas.microsoft.com/office/drawing/2014/main" id="{490AF8D7-1CAA-4CE4-B901-E91A589980C7}"/>
              </a:ext>
            </a:extLst>
          </p:cNvPr>
          <p:cNvSpPr>
            <a:spLocks noGrp="1"/>
          </p:cNvSpPr>
          <p:nvPr>
            <p:ph idx="1"/>
          </p:nvPr>
        </p:nvSpPr>
        <p:spPr/>
        <p:txBody>
          <a:bodyPr>
            <a:normAutofit lnSpcReduction="10000"/>
          </a:bodyPr>
          <a:lstStyle/>
          <a:p>
            <a:pPr marL="365760" indent="-283464">
              <a:buNone/>
              <a:defRPr/>
            </a:pPr>
            <a:r>
              <a:rPr lang="en-GB" i="1" dirty="0"/>
              <a:t>if(</a:t>
            </a:r>
            <a:r>
              <a:rPr lang="en-GB" i="1" dirty="0" err="1"/>
              <a:t>theSingleInstance</a:t>
            </a:r>
            <a:r>
              <a:rPr lang="en-GB" i="1" dirty="0"/>
              <a:t> == null){  //doesn’t exist – create it!</a:t>
            </a:r>
          </a:p>
          <a:p>
            <a:pPr marL="365760" indent="-283464">
              <a:buNone/>
              <a:defRPr/>
            </a:pPr>
            <a:r>
              <a:rPr lang="en-GB" i="1" dirty="0"/>
              <a:t>    </a:t>
            </a:r>
            <a:r>
              <a:rPr lang="en-GB" i="1" dirty="0" err="1"/>
              <a:t>System.out.println</a:t>
            </a:r>
            <a:r>
              <a:rPr lang="en-GB" i="1" dirty="0"/>
              <a:t>("The Singleton does not exist so it will be 								created");</a:t>
            </a:r>
          </a:p>
          <a:p>
            <a:pPr marL="365760" indent="-283464">
              <a:buNone/>
              <a:defRPr/>
            </a:pPr>
            <a:r>
              <a:rPr lang="en-GB" i="1" dirty="0"/>
              <a:t>    </a:t>
            </a:r>
            <a:r>
              <a:rPr lang="en-GB" i="1" dirty="0" err="1"/>
              <a:t>theSingleInstance</a:t>
            </a:r>
            <a:r>
              <a:rPr lang="en-GB" i="1" dirty="0"/>
              <a:t> = new </a:t>
            </a:r>
            <a:r>
              <a:rPr lang="en-GB" i="1" dirty="0" err="1"/>
              <a:t>SingletonExample</a:t>
            </a:r>
            <a:r>
              <a:rPr lang="en-GB" i="1" dirty="0"/>
              <a:t>();</a:t>
            </a:r>
          </a:p>
          <a:p>
            <a:pPr marL="365760" indent="-283464">
              <a:buNone/>
              <a:defRPr/>
            </a:pPr>
            <a:r>
              <a:rPr lang="en-GB" i="1" dirty="0"/>
              <a:t>    return </a:t>
            </a:r>
            <a:r>
              <a:rPr lang="en-GB" i="1" dirty="0" err="1"/>
              <a:t>theSingleInstance</a:t>
            </a:r>
            <a:r>
              <a:rPr lang="en-GB" i="1" dirty="0"/>
              <a:t>;</a:t>
            </a:r>
          </a:p>
          <a:p>
            <a:pPr>
              <a:buNone/>
            </a:pPr>
            <a:r>
              <a:rPr lang="en-GB" i="1" dirty="0"/>
              <a:t>  }</a:t>
            </a:r>
            <a:r>
              <a:rPr lang="en-GB" altLang="en-US" i="1" dirty="0"/>
              <a:t> else{  //exists – return it!</a:t>
            </a:r>
          </a:p>
          <a:p>
            <a:pPr>
              <a:buNone/>
            </a:pPr>
            <a:r>
              <a:rPr lang="en-GB" altLang="en-US" i="1" dirty="0"/>
              <a:t>		</a:t>
            </a:r>
            <a:r>
              <a:rPr lang="en-GB" altLang="en-US" i="1" dirty="0" err="1"/>
              <a:t>System.out.println</a:t>
            </a:r>
            <a:r>
              <a:rPr lang="en-GB" altLang="en-US" i="1" dirty="0"/>
              <a:t>("The Singleton does already exist");</a:t>
            </a:r>
          </a:p>
          <a:p>
            <a:pPr>
              <a:buNone/>
            </a:pPr>
            <a:r>
              <a:rPr lang="en-GB" altLang="en-US" i="1" dirty="0"/>
              <a:t>		return </a:t>
            </a:r>
            <a:r>
              <a:rPr lang="en-GB" altLang="en-US" i="1" dirty="0" err="1"/>
              <a:t>theSingleInstance</a:t>
            </a:r>
            <a:r>
              <a:rPr lang="en-GB" altLang="en-US" i="1" dirty="0"/>
              <a:t>;</a:t>
            </a:r>
          </a:p>
          <a:p>
            <a:pPr>
              <a:buNone/>
            </a:pPr>
            <a:r>
              <a:rPr lang="en-GB" altLang="en-US" i="1" dirty="0"/>
              <a:t>	}</a:t>
            </a:r>
          </a:p>
          <a:p>
            <a:pPr marL="365760" indent="-283464">
              <a:buNone/>
              <a:defRPr/>
            </a:pPr>
            <a:endParaRPr lang="en-GB" dirty="0"/>
          </a:p>
          <a:p>
            <a:endParaRPr lang="en-IE" dirty="0"/>
          </a:p>
        </p:txBody>
      </p:sp>
    </p:spTree>
    <p:extLst>
      <p:ext uri="{BB962C8B-B14F-4D97-AF65-F5344CB8AC3E}">
        <p14:creationId xmlns:p14="http://schemas.microsoft.com/office/powerpoint/2010/main" val="3825362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33E9-495E-454B-9F7E-0F4452753217}"/>
              </a:ext>
            </a:extLst>
          </p:cNvPr>
          <p:cNvSpPr>
            <a:spLocks noGrp="1"/>
          </p:cNvSpPr>
          <p:nvPr>
            <p:ph type="title"/>
          </p:nvPr>
        </p:nvSpPr>
        <p:spPr/>
        <p:txBody>
          <a:bodyPr/>
          <a:lstStyle/>
          <a:p>
            <a:r>
              <a:rPr lang="en-IE" dirty="0"/>
              <a:t>Understanding the code…</a:t>
            </a:r>
          </a:p>
        </p:txBody>
      </p:sp>
      <p:sp>
        <p:nvSpPr>
          <p:cNvPr id="3" name="Content Placeholder 2">
            <a:extLst>
              <a:ext uri="{FF2B5EF4-FFF2-40B4-BE49-F238E27FC236}">
                <a16:creationId xmlns:a16="http://schemas.microsoft.com/office/drawing/2014/main" id="{490AF8D7-1CAA-4CE4-B901-E91A589980C7}"/>
              </a:ext>
            </a:extLst>
          </p:cNvPr>
          <p:cNvSpPr>
            <a:spLocks noGrp="1"/>
          </p:cNvSpPr>
          <p:nvPr>
            <p:ph idx="1"/>
          </p:nvPr>
        </p:nvSpPr>
        <p:spPr/>
        <p:txBody>
          <a:bodyPr>
            <a:normAutofit fontScale="85000" lnSpcReduction="20000"/>
          </a:bodyPr>
          <a:lstStyle/>
          <a:p>
            <a:pPr marL="365760" indent="-283464">
              <a:buNone/>
              <a:defRPr/>
            </a:pPr>
            <a:r>
              <a:rPr lang="en-GB" i="1" dirty="0"/>
              <a:t>public static void main(String </a:t>
            </a:r>
            <a:r>
              <a:rPr lang="en-GB" i="1" dirty="0" err="1"/>
              <a:t>args</a:t>
            </a:r>
            <a:r>
              <a:rPr lang="en-GB" i="1" dirty="0"/>
              <a:t>[]){</a:t>
            </a:r>
          </a:p>
          <a:p>
            <a:pPr marL="365760" indent="-283464">
              <a:buNone/>
              <a:defRPr/>
            </a:pPr>
            <a:r>
              <a:rPr lang="en-GB" i="1" dirty="0"/>
              <a:t>  </a:t>
            </a:r>
            <a:r>
              <a:rPr lang="en-GB" i="1" dirty="0" err="1"/>
              <a:t>SingletonExample</a:t>
            </a:r>
            <a:r>
              <a:rPr lang="en-GB" i="1" dirty="0"/>
              <a:t> </a:t>
            </a:r>
            <a:r>
              <a:rPr lang="en-GB" i="1" dirty="0" err="1"/>
              <a:t>aSingleton</a:t>
            </a:r>
            <a:r>
              <a:rPr lang="en-GB" i="1" dirty="0"/>
              <a:t> = </a:t>
            </a:r>
            <a:r>
              <a:rPr lang="en-GB" i="1" dirty="0" err="1"/>
              <a:t>SingletonExample.getInstance</a:t>
            </a:r>
            <a:r>
              <a:rPr lang="en-GB" i="1" dirty="0"/>
              <a:t>();</a:t>
            </a:r>
          </a:p>
          <a:p>
            <a:pPr marL="365760" indent="-283464">
              <a:buNone/>
              <a:defRPr/>
            </a:pPr>
            <a:r>
              <a:rPr lang="en-GB" i="1" dirty="0"/>
              <a:t>  </a:t>
            </a:r>
            <a:r>
              <a:rPr lang="en-GB" i="1" dirty="0" err="1"/>
              <a:t>SingletonExample</a:t>
            </a:r>
            <a:r>
              <a:rPr lang="en-GB" i="1" dirty="0"/>
              <a:t> aSingleton1 = </a:t>
            </a:r>
            <a:r>
              <a:rPr lang="en-GB" i="1" dirty="0" err="1"/>
              <a:t>SingletonExample.getInstance</a:t>
            </a:r>
            <a:r>
              <a:rPr lang="en-GB" i="1" dirty="0"/>
              <a:t>();</a:t>
            </a:r>
          </a:p>
          <a:p>
            <a:pPr marL="365760" indent="-283464">
              <a:buNone/>
              <a:defRPr/>
            </a:pPr>
            <a:r>
              <a:rPr lang="en-GB" i="1" dirty="0"/>
              <a:t>}</a:t>
            </a:r>
          </a:p>
          <a:p>
            <a:pPr marL="365760" indent="-283464">
              <a:buNone/>
              <a:defRPr/>
            </a:pPr>
            <a:endParaRPr lang="en-GB" i="1" dirty="0"/>
          </a:p>
          <a:p>
            <a:pPr marL="365760" indent="-283464">
              <a:buFont typeface="Wingdings 2"/>
              <a:buChar char=""/>
              <a:defRPr/>
            </a:pPr>
            <a:r>
              <a:rPr lang="en-GB" dirty="0" err="1"/>
              <a:t>SingletonTester</a:t>
            </a:r>
            <a:r>
              <a:rPr lang="en-GB" dirty="0"/>
              <a:t> can not create an object of type </a:t>
            </a:r>
            <a:r>
              <a:rPr lang="en-GB" dirty="0" err="1"/>
              <a:t>SingletonExample</a:t>
            </a:r>
            <a:r>
              <a:rPr lang="en-GB" dirty="0"/>
              <a:t> as the constructor for </a:t>
            </a:r>
            <a:r>
              <a:rPr lang="en-GB" dirty="0" err="1"/>
              <a:t>SingletonExample</a:t>
            </a:r>
            <a:r>
              <a:rPr lang="en-GB" dirty="0"/>
              <a:t> is private.</a:t>
            </a:r>
          </a:p>
          <a:p>
            <a:pPr marL="365760" indent="-283464">
              <a:buFont typeface="Wingdings 2"/>
              <a:buChar char=""/>
              <a:defRPr/>
            </a:pPr>
            <a:endParaRPr lang="en-GB" dirty="0"/>
          </a:p>
          <a:p>
            <a:pPr marL="365760" indent="-283464">
              <a:buFont typeface="Wingdings 2"/>
              <a:buChar char=""/>
              <a:defRPr/>
            </a:pPr>
            <a:r>
              <a:rPr lang="en-GB" dirty="0"/>
              <a:t>Instead the </a:t>
            </a:r>
            <a:r>
              <a:rPr lang="en-GB" dirty="0" err="1"/>
              <a:t>SingletonTester</a:t>
            </a:r>
            <a:r>
              <a:rPr lang="en-GB" dirty="0"/>
              <a:t> calls the </a:t>
            </a:r>
            <a:r>
              <a:rPr lang="en-GB" dirty="0" err="1"/>
              <a:t>getInstance</a:t>
            </a:r>
            <a:r>
              <a:rPr lang="en-GB" dirty="0"/>
              <a:t>() method.</a:t>
            </a:r>
          </a:p>
          <a:p>
            <a:pPr marL="365760" indent="-283464">
              <a:buFont typeface="Wingdings 2"/>
              <a:buChar char=""/>
              <a:defRPr/>
            </a:pPr>
            <a:endParaRPr lang="en-GB" dirty="0"/>
          </a:p>
          <a:p>
            <a:pPr marL="365760" indent="-283464">
              <a:buFont typeface="Wingdings 2"/>
              <a:buChar char=""/>
              <a:defRPr/>
            </a:pPr>
            <a:r>
              <a:rPr lang="en-GB" dirty="0"/>
              <a:t>In the above example </a:t>
            </a:r>
            <a:r>
              <a:rPr lang="en-GB" i="1" dirty="0" err="1"/>
              <a:t>aSingleton</a:t>
            </a:r>
            <a:r>
              <a:rPr lang="en-GB" i="1" dirty="0"/>
              <a:t> </a:t>
            </a:r>
            <a:r>
              <a:rPr lang="en-GB" dirty="0"/>
              <a:t>and</a:t>
            </a:r>
            <a:r>
              <a:rPr lang="en-GB" i="1" dirty="0"/>
              <a:t> aSingleton1 </a:t>
            </a:r>
            <a:r>
              <a:rPr lang="en-GB" dirty="0"/>
              <a:t>both have the same value as there is only one instance of</a:t>
            </a:r>
            <a:r>
              <a:rPr lang="en-GB" i="1" dirty="0"/>
              <a:t> </a:t>
            </a:r>
            <a:r>
              <a:rPr lang="en-GB" dirty="0" err="1"/>
              <a:t>SingletonExample</a:t>
            </a:r>
            <a:r>
              <a:rPr lang="en-GB" dirty="0"/>
              <a:t> </a:t>
            </a:r>
          </a:p>
          <a:p>
            <a:pPr marL="365760" indent="-283464">
              <a:buNone/>
              <a:defRPr/>
            </a:pPr>
            <a:endParaRPr lang="en-GB" i="1" dirty="0"/>
          </a:p>
        </p:txBody>
      </p:sp>
    </p:spTree>
    <p:extLst>
      <p:ext uri="{BB962C8B-B14F-4D97-AF65-F5344CB8AC3E}">
        <p14:creationId xmlns:p14="http://schemas.microsoft.com/office/powerpoint/2010/main" val="2435525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Factory Pattern</a:t>
            </a:r>
          </a:p>
        </p:txBody>
      </p:sp>
      <p:pic>
        <p:nvPicPr>
          <p:cNvPr id="18" name="Picture 17">
            <a:extLst>
              <a:ext uri="{FF2B5EF4-FFF2-40B4-BE49-F238E27FC236}">
                <a16:creationId xmlns:a16="http://schemas.microsoft.com/office/drawing/2014/main" id="{14DEBBE8-B1E3-405A-848C-A98C8C338B4A}"/>
              </a:ext>
            </a:extLst>
          </p:cNvPr>
          <p:cNvPicPr>
            <a:picLocks noChangeAspect="1"/>
          </p:cNvPicPr>
          <p:nvPr/>
        </p:nvPicPr>
        <p:blipFill>
          <a:blip r:embed="rId2"/>
          <a:stretch>
            <a:fillRect/>
          </a:stretch>
        </p:blipFill>
        <p:spPr>
          <a:xfrm>
            <a:off x="2676260" y="1979613"/>
            <a:ext cx="6839479" cy="3492500"/>
          </a:xfrm>
          <a:prstGeom prst="rect">
            <a:avLst/>
          </a:prstGeom>
        </p:spPr>
      </p:pic>
    </p:spTree>
    <p:extLst>
      <p:ext uri="{BB962C8B-B14F-4D97-AF65-F5344CB8AC3E}">
        <p14:creationId xmlns:p14="http://schemas.microsoft.com/office/powerpoint/2010/main" val="4026200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Factory</a:t>
            </a:r>
          </a:p>
        </p:txBody>
      </p:sp>
      <p:sp>
        <p:nvSpPr>
          <p:cNvPr id="3" name="Content Placeholder 2">
            <a:extLst>
              <a:ext uri="{FF2B5EF4-FFF2-40B4-BE49-F238E27FC236}">
                <a16:creationId xmlns:a16="http://schemas.microsoft.com/office/drawing/2014/main" id="{1FE7F43D-861E-46AF-B03C-D78CB3050741}"/>
              </a:ext>
            </a:extLst>
          </p:cNvPr>
          <p:cNvSpPr>
            <a:spLocks noGrp="1"/>
          </p:cNvSpPr>
          <p:nvPr>
            <p:ph idx="1"/>
          </p:nvPr>
        </p:nvSpPr>
        <p:spPr/>
        <p:txBody>
          <a:bodyPr>
            <a:normAutofit lnSpcReduction="10000"/>
          </a:bodyPr>
          <a:lstStyle/>
          <a:p>
            <a:r>
              <a:rPr lang="en-GB" altLang="en-US" b="1" dirty="0">
                <a:latin typeface="Garamond" panose="02020404030301010803" pitchFamily="18" charset="0"/>
              </a:rPr>
              <a:t>Name</a:t>
            </a:r>
            <a:r>
              <a:rPr lang="en-GB" altLang="en-US" dirty="0">
                <a:latin typeface="Garamond" panose="02020404030301010803" pitchFamily="18" charset="0"/>
              </a:rPr>
              <a:t>: Factory </a:t>
            </a:r>
          </a:p>
          <a:p>
            <a:endParaRPr lang="en-GB" altLang="en-US" dirty="0">
              <a:latin typeface="Garamond" panose="02020404030301010803" pitchFamily="18" charset="0"/>
            </a:endParaRPr>
          </a:p>
          <a:p>
            <a:r>
              <a:rPr lang="en-GB" altLang="en-US" b="1" dirty="0">
                <a:latin typeface="Garamond" panose="02020404030301010803" pitchFamily="18" charset="0"/>
              </a:rPr>
              <a:t>Problem</a:t>
            </a:r>
            <a:r>
              <a:rPr lang="en-GB" altLang="en-US" dirty="0">
                <a:latin typeface="Garamond" panose="02020404030301010803" pitchFamily="18" charset="0"/>
              </a:rPr>
              <a:t>: </a:t>
            </a:r>
            <a:r>
              <a:rPr lang="en-US" altLang="en-US" dirty="0">
                <a:latin typeface="Garamond" panose="02020404030301010803" pitchFamily="18" charset="0"/>
              </a:rPr>
              <a:t>We need to have a central location where objects are created and stored</a:t>
            </a:r>
          </a:p>
          <a:p>
            <a:pPr lvl="1"/>
            <a:endParaRPr lang="en-GB" altLang="en-US" sz="2800" dirty="0">
              <a:latin typeface="Garamond" panose="02020404030301010803" pitchFamily="18" charset="0"/>
            </a:endParaRPr>
          </a:p>
          <a:p>
            <a:r>
              <a:rPr lang="en-GB" altLang="en-US" b="1" dirty="0">
                <a:latin typeface="Garamond" panose="02020404030301010803" pitchFamily="18" charset="0"/>
              </a:rPr>
              <a:t>Solution</a:t>
            </a:r>
            <a:r>
              <a:rPr lang="en-GB" altLang="en-US" dirty="0">
                <a:latin typeface="Garamond" panose="02020404030301010803" pitchFamily="18" charset="0"/>
              </a:rPr>
              <a:t>: Don’t allow client classes to create objects. Objects must be created by a central creator class called a factory.</a:t>
            </a:r>
          </a:p>
          <a:p>
            <a:endParaRPr lang="en-GB" altLang="en-US" dirty="0">
              <a:latin typeface="Garamond" panose="02020404030301010803" pitchFamily="18" charset="0"/>
            </a:endParaRPr>
          </a:p>
          <a:p>
            <a:r>
              <a:rPr lang="en-GB" altLang="en-US" b="1" dirty="0">
                <a:latin typeface="Garamond" panose="02020404030301010803" pitchFamily="18" charset="0"/>
              </a:rPr>
              <a:t>Consequences</a:t>
            </a:r>
            <a:r>
              <a:rPr lang="en-GB" altLang="en-US" dirty="0">
                <a:latin typeface="Garamond" panose="02020404030301010803" pitchFamily="18" charset="0"/>
              </a:rPr>
              <a:t>: A single instance of a factory will be used to create and manage all objects in the system</a:t>
            </a:r>
            <a:r>
              <a:rPr lang="en-GB" altLang="en-US" dirty="0"/>
              <a:t>.</a:t>
            </a:r>
          </a:p>
          <a:p>
            <a:endParaRPr lang="en-IE" dirty="0"/>
          </a:p>
        </p:txBody>
      </p:sp>
    </p:spTree>
    <p:extLst>
      <p:ext uri="{BB962C8B-B14F-4D97-AF65-F5344CB8AC3E}">
        <p14:creationId xmlns:p14="http://schemas.microsoft.com/office/powerpoint/2010/main" val="1604126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Factory</a:t>
            </a:r>
          </a:p>
        </p:txBody>
      </p:sp>
      <p:sp>
        <p:nvSpPr>
          <p:cNvPr id="3" name="Content Placeholder 2">
            <a:extLst>
              <a:ext uri="{FF2B5EF4-FFF2-40B4-BE49-F238E27FC236}">
                <a16:creationId xmlns:a16="http://schemas.microsoft.com/office/drawing/2014/main" id="{1FE7F43D-861E-46AF-B03C-D78CB3050741}"/>
              </a:ext>
            </a:extLst>
          </p:cNvPr>
          <p:cNvSpPr>
            <a:spLocks noGrp="1"/>
          </p:cNvSpPr>
          <p:nvPr>
            <p:ph idx="1"/>
          </p:nvPr>
        </p:nvSpPr>
        <p:spPr/>
        <p:txBody>
          <a:bodyPr/>
          <a:lstStyle/>
          <a:p>
            <a:pPr>
              <a:spcBef>
                <a:spcPts val="500"/>
              </a:spcBef>
              <a:spcAft>
                <a:spcPts val="500"/>
              </a:spcAft>
            </a:pPr>
            <a:r>
              <a:rPr lang="en-GB" altLang="en-US" dirty="0"/>
              <a:t>A Factory is a creational pattern. </a:t>
            </a:r>
          </a:p>
          <a:p>
            <a:pPr>
              <a:spcBef>
                <a:spcPts val="500"/>
              </a:spcBef>
              <a:spcAft>
                <a:spcPts val="500"/>
              </a:spcAft>
            </a:pPr>
            <a:endParaRPr lang="en-GB" altLang="en-US" dirty="0"/>
          </a:p>
          <a:p>
            <a:pPr>
              <a:spcBef>
                <a:spcPts val="500"/>
              </a:spcBef>
              <a:spcAft>
                <a:spcPts val="500"/>
              </a:spcAft>
            </a:pPr>
            <a:r>
              <a:rPr lang="en-GB" altLang="en-US" dirty="0"/>
              <a:t>This pattern helps to model an interface for creating an object. </a:t>
            </a:r>
          </a:p>
          <a:p>
            <a:pPr>
              <a:spcBef>
                <a:spcPts val="500"/>
              </a:spcBef>
              <a:spcAft>
                <a:spcPts val="500"/>
              </a:spcAft>
            </a:pPr>
            <a:endParaRPr lang="en-GB" altLang="en-US" dirty="0"/>
          </a:p>
          <a:p>
            <a:pPr>
              <a:spcBef>
                <a:spcPts val="500"/>
              </a:spcBef>
              <a:spcAft>
                <a:spcPts val="500"/>
              </a:spcAft>
            </a:pPr>
            <a:r>
              <a:rPr lang="en-GB" altLang="en-US" dirty="0"/>
              <a:t>We call this a Factory Pattern since it is responsible for "Manufacturing" an Object. </a:t>
            </a:r>
          </a:p>
          <a:p>
            <a:endParaRPr lang="en-IE" dirty="0"/>
          </a:p>
        </p:txBody>
      </p:sp>
    </p:spTree>
    <p:extLst>
      <p:ext uri="{BB962C8B-B14F-4D97-AF65-F5344CB8AC3E}">
        <p14:creationId xmlns:p14="http://schemas.microsoft.com/office/powerpoint/2010/main" val="2030316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56CA4-C824-4BFA-9C90-A0CC803DC5FD}"/>
              </a:ext>
            </a:extLst>
          </p:cNvPr>
          <p:cNvSpPr>
            <a:spLocks noGrp="1"/>
          </p:cNvSpPr>
          <p:nvPr>
            <p:ph type="title"/>
          </p:nvPr>
        </p:nvSpPr>
        <p:spPr/>
        <p:txBody>
          <a:bodyPr/>
          <a:lstStyle/>
          <a:p>
            <a:r>
              <a:rPr lang="en-IE" dirty="0"/>
              <a:t>Factory Pattern</a:t>
            </a:r>
          </a:p>
        </p:txBody>
      </p:sp>
      <p:sp>
        <p:nvSpPr>
          <p:cNvPr id="3" name="Content Placeholder 2">
            <a:extLst>
              <a:ext uri="{FF2B5EF4-FFF2-40B4-BE49-F238E27FC236}">
                <a16:creationId xmlns:a16="http://schemas.microsoft.com/office/drawing/2014/main" id="{AEA2A01A-4743-42EE-B629-9697054972C0}"/>
              </a:ext>
            </a:extLst>
          </p:cNvPr>
          <p:cNvSpPr>
            <a:spLocks noGrp="1"/>
          </p:cNvSpPr>
          <p:nvPr>
            <p:ph idx="1"/>
          </p:nvPr>
        </p:nvSpPr>
        <p:spPr/>
        <p:txBody>
          <a:bodyPr/>
          <a:lstStyle/>
          <a:p>
            <a:r>
              <a:rPr lang="en-IE" dirty="0"/>
              <a:t>The calling program in simple factory design pattern typically has a way of telling the factory what it wants</a:t>
            </a:r>
          </a:p>
          <a:p>
            <a:endParaRPr lang="en-IE" dirty="0"/>
          </a:p>
          <a:p>
            <a:r>
              <a:rPr lang="en-IE" dirty="0"/>
              <a:t>The factory makes the decision which subclass should be returned to the calling program.  (likely an if statement)</a:t>
            </a:r>
          </a:p>
          <a:p>
            <a:endParaRPr lang="en-IE" dirty="0"/>
          </a:p>
          <a:p>
            <a:r>
              <a:rPr lang="en-IE" dirty="0"/>
              <a:t>It then creates an instance of that subclass, and then returns it to the calling program.</a:t>
            </a:r>
          </a:p>
        </p:txBody>
      </p:sp>
    </p:spTree>
    <p:extLst>
      <p:ext uri="{BB962C8B-B14F-4D97-AF65-F5344CB8AC3E}">
        <p14:creationId xmlns:p14="http://schemas.microsoft.com/office/powerpoint/2010/main" val="2594420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Decorator Pattern</a:t>
            </a:r>
          </a:p>
        </p:txBody>
      </p:sp>
      <p:pic>
        <p:nvPicPr>
          <p:cNvPr id="4" name="Picture 4">
            <a:extLst>
              <a:ext uri="{FF2B5EF4-FFF2-40B4-BE49-F238E27FC236}">
                <a16:creationId xmlns:a16="http://schemas.microsoft.com/office/drawing/2014/main" id="{6A794B66-AA19-405F-BC77-D9FADB5FBB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28912" y="2025783"/>
            <a:ext cx="6734175" cy="44670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5230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Decorator</a:t>
            </a:r>
          </a:p>
        </p:txBody>
      </p:sp>
      <p:sp>
        <p:nvSpPr>
          <p:cNvPr id="3" name="Content Placeholder 2">
            <a:extLst>
              <a:ext uri="{FF2B5EF4-FFF2-40B4-BE49-F238E27FC236}">
                <a16:creationId xmlns:a16="http://schemas.microsoft.com/office/drawing/2014/main" id="{1FE7F43D-861E-46AF-B03C-D78CB3050741}"/>
              </a:ext>
            </a:extLst>
          </p:cNvPr>
          <p:cNvSpPr>
            <a:spLocks noGrp="1"/>
          </p:cNvSpPr>
          <p:nvPr>
            <p:ph idx="1"/>
          </p:nvPr>
        </p:nvSpPr>
        <p:spPr/>
        <p:txBody>
          <a:bodyPr>
            <a:normAutofit fontScale="92500" lnSpcReduction="10000"/>
          </a:bodyPr>
          <a:lstStyle/>
          <a:p>
            <a:pPr marL="46037" indent="0">
              <a:buFont typeface="Wingdings" panose="05000000000000000000" pitchFamily="2" charset="2"/>
              <a:buNone/>
              <a:defRPr/>
            </a:pPr>
            <a:r>
              <a:rPr lang="en-IE" dirty="0"/>
              <a:t>The Decorator pattern allows you to add new functionality an existing object without altering its structure. </a:t>
            </a:r>
          </a:p>
          <a:p>
            <a:pPr marL="46037" indent="0">
              <a:buFont typeface="Wingdings" panose="05000000000000000000" pitchFamily="2" charset="2"/>
              <a:buNone/>
              <a:defRPr/>
            </a:pPr>
            <a:endParaRPr lang="en-US" dirty="0"/>
          </a:p>
          <a:p>
            <a:pPr marL="365760" indent="-283464">
              <a:buNone/>
              <a:defRPr/>
            </a:pPr>
            <a:r>
              <a:rPr lang="en-US" b="1" dirty="0"/>
              <a:t>Problem</a:t>
            </a:r>
            <a:r>
              <a:rPr lang="en-US" dirty="0"/>
              <a:t>:  </a:t>
            </a:r>
          </a:p>
          <a:p>
            <a:pPr marL="539496" indent="-457200">
              <a:defRPr/>
            </a:pPr>
            <a:r>
              <a:rPr lang="en-US" dirty="0"/>
              <a:t>How do you change an object e.g. its appearance without effecting the original object.</a:t>
            </a:r>
          </a:p>
          <a:p>
            <a:pPr marL="365760" indent="-283464">
              <a:buNone/>
              <a:defRPr/>
            </a:pPr>
            <a:endParaRPr lang="en-US" dirty="0"/>
          </a:p>
          <a:p>
            <a:pPr marL="365760" indent="-283464">
              <a:buNone/>
              <a:defRPr/>
            </a:pPr>
            <a:r>
              <a:rPr lang="en-US" b="1" dirty="0"/>
              <a:t>Solution</a:t>
            </a:r>
            <a:r>
              <a:rPr lang="en-US" dirty="0"/>
              <a:t>:</a:t>
            </a:r>
          </a:p>
          <a:p>
            <a:pPr>
              <a:defRPr/>
            </a:pPr>
            <a:r>
              <a:rPr lang="en-IE" dirty="0"/>
              <a:t>This pattern creates a decorator class which wraps the original class and provides additional functionality keeping class methods signature intact</a:t>
            </a:r>
          </a:p>
          <a:p>
            <a:endParaRPr lang="en-IE" dirty="0"/>
          </a:p>
        </p:txBody>
      </p:sp>
    </p:spTree>
    <p:extLst>
      <p:ext uri="{BB962C8B-B14F-4D97-AF65-F5344CB8AC3E}">
        <p14:creationId xmlns:p14="http://schemas.microsoft.com/office/powerpoint/2010/main" val="16035342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Wrapping the object in decoration…</a:t>
            </a:r>
          </a:p>
        </p:txBody>
      </p:sp>
      <p:sp>
        <p:nvSpPr>
          <p:cNvPr id="3" name="Content Placeholder 2">
            <a:extLst>
              <a:ext uri="{FF2B5EF4-FFF2-40B4-BE49-F238E27FC236}">
                <a16:creationId xmlns:a16="http://schemas.microsoft.com/office/drawing/2014/main" id="{1FE7F43D-861E-46AF-B03C-D78CB3050741}"/>
              </a:ext>
            </a:extLst>
          </p:cNvPr>
          <p:cNvSpPr>
            <a:spLocks noGrp="1"/>
          </p:cNvSpPr>
          <p:nvPr>
            <p:ph idx="1"/>
          </p:nvPr>
        </p:nvSpPr>
        <p:spPr/>
        <p:txBody>
          <a:bodyPr/>
          <a:lstStyle/>
          <a:p>
            <a:r>
              <a:rPr lang="en-IE" dirty="0"/>
              <a:t>The solution to this class of problems involves encapsulating the original object inside an abstract wrapper interface.</a:t>
            </a:r>
          </a:p>
          <a:p>
            <a:endParaRPr lang="en-IE" dirty="0"/>
          </a:p>
          <a:p>
            <a:r>
              <a:rPr lang="en-IE" dirty="0"/>
              <a:t> Both the decorator objects and the core object inherit from this abstract interface. </a:t>
            </a:r>
          </a:p>
          <a:p>
            <a:endParaRPr lang="en-IE" dirty="0"/>
          </a:p>
          <a:p>
            <a:r>
              <a:rPr lang="en-IE" dirty="0"/>
              <a:t>The interface uses recursive composition to allow an unlimited number of decorator "layers" to be added to each core object.</a:t>
            </a:r>
          </a:p>
        </p:txBody>
      </p:sp>
    </p:spTree>
    <p:extLst>
      <p:ext uri="{BB962C8B-B14F-4D97-AF65-F5344CB8AC3E}">
        <p14:creationId xmlns:p14="http://schemas.microsoft.com/office/powerpoint/2010/main" val="31481432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Leave it here….</a:t>
            </a:r>
          </a:p>
        </p:txBody>
      </p:sp>
      <p:sp>
        <p:nvSpPr>
          <p:cNvPr id="3" name="Content Placeholder 2">
            <a:extLst>
              <a:ext uri="{FF2B5EF4-FFF2-40B4-BE49-F238E27FC236}">
                <a16:creationId xmlns:a16="http://schemas.microsoft.com/office/drawing/2014/main" id="{1FE7F43D-861E-46AF-B03C-D78CB3050741}"/>
              </a:ext>
            </a:extLst>
          </p:cNvPr>
          <p:cNvSpPr>
            <a:spLocks noGrp="1"/>
          </p:cNvSpPr>
          <p:nvPr>
            <p:ph idx="1"/>
          </p:nvPr>
        </p:nvSpPr>
        <p:spPr/>
        <p:txBody>
          <a:bodyPr/>
          <a:lstStyle/>
          <a:p>
            <a:endParaRPr lang="en-IE"/>
          </a:p>
        </p:txBody>
      </p:sp>
    </p:spTree>
    <p:extLst>
      <p:ext uri="{BB962C8B-B14F-4D97-AF65-F5344CB8AC3E}">
        <p14:creationId xmlns:p14="http://schemas.microsoft.com/office/powerpoint/2010/main" val="3911642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Model View Controller Pattern</a:t>
            </a:r>
          </a:p>
        </p:txBody>
      </p:sp>
      <p:pic>
        <p:nvPicPr>
          <p:cNvPr id="4" name="Picture 6">
            <a:extLst>
              <a:ext uri="{FF2B5EF4-FFF2-40B4-BE49-F238E27FC236}">
                <a16:creationId xmlns:a16="http://schemas.microsoft.com/office/drawing/2014/main" id="{29BB3509-1266-4A8A-920D-248E68D13F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62399" y="2190750"/>
            <a:ext cx="4267200"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5EC39AB-E96A-4717-81D4-96D8BAC42A46}"/>
              </a:ext>
            </a:extLst>
          </p:cNvPr>
          <p:cNvSpPr txBox="1"/>
          <p:nvPr/>
        </p:nvSpPr>
        <p:spPr>
          <a:xfrm>
            <a:off x="4226032" y="1605975"/>
            <a:ext cx="3739935" cy="584775"/>
          </a:xfrm>
          <a:prstGeom prst="rect">
            <a:avLst/>
          </a:prstGeom>
          <a:noFill/>
        </p:spPr>
        <p:txBody>
          <a:bodyPr wrap="none" rtlCol="0">
            <a:spAutoFit/>
          </a:bodyPr>
          <a:lstStyle/>
          <a:p>
            <a:r>
              <a:rPr lang="en-IE" sz="3200" dirty="0"/>
              <a:t>Architecture Diagram</a:t>
            </a:r>
          </a:p>
        </p:txBody>
      </p:sp>
    </p:spTree>
    <p:extLst>
      <p:ext uri="{BB962C8B-B14F-4D97-AF65-F5344CB8AC3E}">
        <p14:creationId xmlns:p14="http://schemas.microsoft.com/office/powerpoint/2010/main" val="34937282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Model View Controller (MVC)</a:t>
            </a:r>
          </a:p>
        </p:txBody>
      </p:sp>
      <p:sp>
        <p:nvSpPr>
          <p:cNvPr id="3" name="Content Placeholder 2">
            <a:extLst>
              <a:ext uri="{FF2B5EF4-FFF2-40B4-BE49-F238E27FC236}">
                <a16:creationId xmlns:a16="http://schemas.microsoft.com/office/drawing/2014/main" id="{1FE7F43D-861E-46AF-B03C-D78CB3050741}"/>
              </a:ext>
            </a:extLst>
          </p:cNvPr>
          <p:cNvSpPr>
            <a:spLocks noGrp="1"/>
          </p:cNvSpPr>
          <p:nvPr>
            <p:ph idx="1"/>
          </p:nvPr>
        </p:nvSpPr>
        <p:spPr/>
        <p:txBody>
          <a:bodyPr>
            <a:normAutofit fontScale="92500"/>
          </a:bodyPr>
          <a:lstStyle/>
          <a:p>
            <a:pPr marL="82296" indent="0">
              <a:buNone/>
              <a:defRPr/>
            </a:pPr>
            <a:r>
              <a:rPr lang="en-IE" b="1" dirty="0"/>
              <a:t>Model–View–Controller</a:t>
            </a:r>
            <a:r>
              <a:rPr lang="en-IE" dirty="0"/>
              <a:t> (MVC) is a design pattern for user-facing software that separates the representation of information from the user's interaction with it.</a:t>
            </a:r>
          </a:p>
          <a:p>
            <a:pPr marL="82296" indent="0">
              <a:buNone/>
              <a:defRPr/>
            </a:pPr>
            <a:endParaRPr lang="en-US" dirty="0"/>
          </a:p>
          <a:p>
            <a:pPr marL="365760" indent="-283464">
              <a:buNone/>
              <a:defRPr/>
            </a:pPr>
            <a:r>
              <a:rPr lang="en-US" b="1" dirty="0"/>
              <a:t>Problem</a:t>
            </a:r>
            <a:r>
              <a:rPr lang="en-US" dirty="0"/>
              <a:t>:  I want to be able to update the look and feel of my application without affecting underlying functionality/I want to be able to update underlying functionality without effecting the look and feel</a:t>
            </a:r>
          </a:p>
          <a:p>
            <a:pPr marL="365760" indent="-283464">
              <a:buNone/>
              <a:defRPr/>
            </a:pPr>
            <a:endParaRPr lang="en-US" dirty="0"/>
          </a:p>
          <a:p>
            <a:pPr marL="365760" indent="-283464">
              <a:buNone/>
              <a:defRPr/>
            </a:pPr>
            <a:r>
              <a:rPr lang="en-US" b="1" dirty="0"/>
              <a:t>Solution</a:t>
            </a:r>
            <a:r>
              <a:rPr lang="en-US" dirty="0"/>
              <a:t>: </a:t>
            </a:r>
            <a:r>
              <a:rPr lang="en-IE" dirty="0"/>
              <a:t>Split your application into three distinct parts; model view and controller each of which can be replaced without affecting the others:</a:t>
            </a:r>
          </a:p>
          <a:p>
            <a:endParaRPr lang="en-IE" dirty="0"/>
          </a:p>
        </p:txBody>
      </p:sp>
    </p:spTree>
    <p:extLst>
      <p:ext uri="{BB962C8B-B14F-4D97-AF65-F5344CB8AC3E}">
        <p14:creationId xmlns:p14="http://schemas.microsoft.com/office/powerpoint/2010/main" val="42817429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MVC</a:t>
            </a:r>
          </a:p>
        </p:txBody>
      </p:sp>
      <p:sp>
        <p:nvSpPr>
          <p:cNvPr id="3" name="Content Placeholder 2">
            <a:extLst>
              <a:ext uri="{FF2B5EF4-FFF2-40B4-BE49-F238E27FC236}">
                <a16:creationId xmlns:a16="http://schemas.microsoft.com/office/drawing/2014/main" id="{1FE7F43D-861E-46AF-B03C-D78CB3050741}"/>
              </a:ext>
            </a:extLst>
          </p:cNvPr>
          <p:cNvSpPr>
            <a:spLocks noGrp="1"/>
          </p:cNvSpPr>
          <p:nvPr>
            <p:ph idx="1"/>
          </p:nvPr>
        </p:nvSpPr>
        <p:spPr/>
        <p:txBody>
          <a:bodyPr/>
          <a:lstStyle/>
          <a:p>
            <a:pPr>
              <a:defRPr/>
            </a:pPr>
            <a:r>
              <a:rPr lang="en-IE" dirty="0"/>
              <a:t>The MVC paradigm was introduced by Smalltalk developers at Xerox PARC (Palo Alto Research </a:t>
            </a:r>
            <a:r>
              <a:rPr lang="en-IE" dirty="0" err="1"/>
              <a:t>Center</a:t>
            </a:r>
            <a:r>
              <a:rPr lang="en-IE" dirty="0"/>
              <a:t>) in the late 1970's. The basic idea is to split your application into three distinct parts, each of which can be replaced without affecting the others:</a:t>
            </a:r>
          </a:p>
          <a:p>
            <a:pPr>
              <a:defRPr/>
            </a:pPr>
            <a:endParaRPr lang="en-IE" dirty="0"/>
          </a:p>
          <a:p>
            <a:pPr marL="342900" indent="-342900">
              <a:defRPr/>
            </a:pPr>
            <a:r>
              <a:rPr lang="en-IE" b="1" dirty="0"/>
              <a:t>Model</a:t>
            </a:r>
            <a:r>
              <a:rPr lang="en-IE" dirty="0"/>
              <a:t> - the data of your application, along with the business logic that defines how to change and access that data. The model can be shared among any number of view and controller objects.</a:t>
            </a:r>
          </a:p>
          <a:p>
            <a:endParaRPr lang="en-IE" dirty="0"/>
          </a:p>
        </p:txBody>
      </p:sp>
    </p:spTree>
    <p:extLst>
      <p:ext uri="{BB962C8B-B14F-4D97-AF65-F5344CB8AC3E}">
        <p14:creationId xmlns:p14="http://schemas.microsoft.com/office/powerpoint/2010/main" val="35489792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MVC</a:t>
            </a:r>
          </a:p>
        </p:txBody>
      </p:sp>
      <p:sp>
        <p:nvSpPr>
          <p:cNvPr id="3" name="Content Placeholder 2">
            <a:extLst>
              <a:ext uri="{FF2B5EF4-FFF2-40B4-BE49-F238E27FC236}">
                <a16:creationId xmlns:a16="http://schemas.microsoft.com/office/drawing/2014/main" id="{1FE7F43D-861E-46AF-B03C-D78CB3050741}"/>
              </a:ext>
            </a:extLst>
          </p:cNvPr>
          <p:cNvSpPr>
            <a:spLocks noGrp="1"/>
          </p:cNvSpPr>
          <p:nvPr>
            <p:ph idx="1"/>
          </p:nvPr>
        </p:nvSpPr>
        <p:spPr/>
        <p:txBody>
          <a:bodyPr/>
          <a:lstStyle/>
          <a:p>
            <a:r>
              <a:rPr lang="en-IE" altLang="en-US" b="1" dirty="0"/>
              <a:t>View</a:t>
            </a:r>
            <a:r>
              <a:rPr lang="en-IE" altLang="en-US" dirty="0"/>
              <a:t> - The means of presenting the model's data to the outside world. This could take the form of a GUI, generated speech, audible tones, printouts, or even non-user oriented output, such as turning on an air conditioner.</a:t>
            </a:r>
          </a:p>
          <a:p>
            <a:endParaRPr lang="en-IE" altLang="en-US" b="1" dirty="0"/>
          </a:p>
          <a:p>
            <a:r>
              <a:rPr lang="en-IE" altLang="en-US" b="1" dirty="0"/>
              <a:t>Controller</a:t>
            </a:r>
            <a:r>
              <a:rPr lang="en-IE" altLang="en-US" dirty="0"/>
              <a:t> - The means of gathering user or other environmental input and providing feedback to the model, normally changing some of the data in that model.</a:t>
            </a:r>
          </a:p>
          <a:p>
            <a:endParaRPr lang="en-IE" dirty="0"/>
          </a:p>
        </p:txBody>
      </p:sp>
    </p:spTree>
    <p:extLst>
      <p:ext uri="{BB962C8B-B14F-4D97-AF65-F5344CB8AC3E}">
        <p14:creationId xmlns:p14="http://schemas.microsoft.com/office/powerpoint/2010/main" val="32139272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MVC</a:t>
            </a:r>
          </a:p>
        </p:txBody>
      </p:sp>
      <p:pic>
        <p:nvPicPr>
          <p:cNvPr id="4" name="Picture 10">
            <a:extLst>
              <a:ext uri="{FF2B5EF4-FFF2-40B4-BE49-F238E27FC236}">
                <a16:creationId xmlns:a16="http://schemas.microsoft.com/office/drawing/2014/main" id="{00C2D464-7C13-498D-B64B-42AAB44207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400" y="5118100"/>
            <a:ext cx="6743700"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1">
            <a:extLst>
              <a:ext uri="{FF2B5EF4-FFF2-40B4-BE49-F238E27FC236}">
                <a16:creationId xmlns:a16="http://schemas.microsoft.com/office/drawing/2014/main" id="{920F54BC-7A93-47A8-8C97-3E9ACAC2F49E}"/>
              </a:ext>
            </a:extLst>
          </p:cNvPr>
          <p:cNvSpPr txBox="1">
            <a:spLocks noChangeArrowheads="1"/>
          </p:cNvSpPr>
          <p:nvPr/>
        </p:nvSpPr>
        <p:spPr bwMode="auto">
          <a:xfrm>
            <a:off x="4927600" y="1841500"/>
            <a:ext cx="2590800" cy="466725"/>
          </a:xfrm>
          <a:prstGeom prst="rect">
            <a:avLst/>
          </a:prstGeom>
          <a:solidFill>
            <a:schemeClr val="accent1"/>
          </a:solidFill>
          <a:ln w="9525">
            <a:solidFill>
              <a:schemeClr val="tx1"/>
            </a:solidFill>
            <a:miter lim="800000"/>
            <a:headEnd/>
            <a:tailEnd/>
          </a:ln>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a:latin typeface="Times" panose="02020603050405020304" pitchFamily="18" charset="0"/>
                <a:ea typeface="MS PGothic" panose="020B0600070205080204" pitchFamily="34" charset="-128"/>
              </a:rPr>
              <a:t>float sales[3][4];</a:t>
            </a:r>
          </a:p>
        </p:txBody>
      </p:sp>
      <p:pic>
        <p:nvPicPr>
          <p:cNvPr id="6" name="Picture 14" descr="BD05819_                                                       0002E799whitebook HD                   BAFCB06E:">
            <a:extLst>
              <a:ext uri="{FF2B5EF4-FFF2-40B4-BE49-F238E27FC236}">
                <a16:creationId xmlns:a16="http://schemas.microsoft.com/office/drawing/2014/main" id="{71EEF38A-1728-46E9-85AF-536B14FB25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3400" y="3060700"/>
            <a:ext cx="120491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16">
            <a:extLst>
              <a:ext uri="{FF2B5EF4-FFF2-40B4-BE49-F238E27FC236}">
                <a16:creationId xmlns:a16="http://schemas.microsoft.com/office/drawing/2014/main" id="{76EA01F0-6D78-4D3D-8543-0CBBD5C88E26}"/>
              </a:ext>
            </a:extLst>
          </p:cNvPr>
          <p:cNvSpPr txBox="1">
            <a:spLocks noChangeArrowheads="1"/>
          </p:cNvSpPr>
          <p:nvPr/>
        </p:nvSpPr>
        <p:spPr bwMode="auto">
          <a:xfrm>
            <a:off x="622300" y="1841500"/>
            <a:ext cx="13244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dirty="0">
                <a:latin typeface="Times" panose="02020603050405020304" pitchFamily="18" charset="0"/>
                <a:ea typeface="MS PGothic" panose="020B0600070205080204" pitchFamily="34" charset="-128"/>
              </a:rPr>
              <a:t>model:</a:t>
            </a:r>
          </a:p>
        </p:txBody>
      </p:sp>
      <p:sp>
        <p:nvSpPr>
          <p:cNvPr id="8" name="Text Box 17">
            <a:extLst>
              <a:ext uri="{FF2B5EF4-FFF2-40B4-BE49-F238E27FC236}">
                <a16:creationId xmlns:a16="http://schemas.microsoft.com/office/drawing/2014/main" id="{61A3193B-A908-48D0-B5B1-D103EC411558}"/>
              </a:ext>
            </a:extLst>
          </p:cNvPr>
          <p:cNvSpPr txBox="1">
            <a:spLocks noChangeArrowheads="1"/>
          </p:cNvSpPr>
          <p:nvPr/>
        </p:nvSpPr>
        <p:spPr bwMode="auto">
          <a:xfrm>
            <a:off x="406400" y="3429000"/>
            <a:ext cx="2159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3200" dirty="0">
                <a:latin typeface="Times" panose="02020603050405020304" pitchFamily="18" charset="0"/>
                <a:ea typeface="MS PGothic" panose="020B0600070205080204" pitchFamily="34" charset="-128"/>
              </a:rPr>
              <a:t>controller:</a:t>
            </a:r>
          </a:p>
        </p:txBody>
      </p:sp>
      <p:sp>
        <p:nvSpPr>
          <p:cNvPr id="9" name="Text Box 18">
            <a:extLst>
              <a:ext uri="{FF2B5EF4-FFF2-40B4-BE49-F238E27FC236}">
                <a16:creationId xmlns:a16="http://schemas.microsoft.com/office/drawing/2014/main" id="{3C2F3CEB-292A-4BB2-8908-1D54B620BE7C}"/>
              </a:ext>
            </a:extLst>
          </p:cNvPr>
          <p:cNvSpPr txBox="1">
            <a:spLocks noChangeArrowheads="1"/>
          </p:cNvSpPr>
          <p:nvPr/>
        </p:nvSpPr>
        <p:spPr bwMode="auto">
          <a:xfrm>
            <a:off x="660400" y="5558632"/>
            <a:ext cx="1371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3200" dirty="0">
                <a:latin typeface="Times" panose="02020603050405020304" pitchFamily="18" charset="0"/>
                <a:ea typeface="MS PGothic" panose="020B0600070205080204" pitchFamily="34" charset="-128"/>
              </a:rPr>
              <a:t>views:</a:t>
            </a:r>
          </a:p>
        </p:txBody>
      </p:sp>
      <p:sp>
        <p:nvSpPr>
          <p:cNvPr id="10" name="Line 19">
            <a:extLst>
              <a:ext uri="{FF2B5EF4-FFF2-40B4-BE49-F238E27FC236}">
                <a16:creationId xmlns:a16="http://schemas.microsoft.com/office/drawing/2014/main" id="{087899A9-402C-4B7C-B463-A5E1323CEFCA}"/>
              </a:ext>
            </a:extLst>
          </p:cNvPr>
          <p:cNvSpPr>
            <a:spLocks noChangeShapeType="1"/>
          </p:cNvSpPr>
          <p:nvPr/>
        </p:nvSpPr>
        <p:spPr bwMode="auto">
          <a:xfrm>
            <a:off x="6223000" y="2374900"/>
            <a:ext cx="0" cy="7620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IE"/>
          </a:p>
        </p:txBody>
      </p:sp>
      <p:sp>
        <p:nvSpPr>
          <p:cNvPr id="11" name="Line 20">
            <a:extLst>
              <a:ext uri="{FF2B5EF4-FFF2-40B4-BE49-F238E27FC236}">
                <a16:creationId xmlns:a16="http://schemas.microsoft.com/office/drawing/2014/main" id="{D01C39F3-9AAD-424D-8E14-5E0994E41C29}"/>
              </a:ext>
            </a:extLst>
          </p:cNvPr>
          <p:cNvSpPr>
            <a:spLocks noChangeShapeType="1"/>
          </p:cNvSpPr>
          <p:nvPr/>
        </p:nvSpPr>
        <p:spPr bwMode="auto">
          <a:xfrm flipH="1">
            <a:off x="4394200" y="4203700"/>
            <a:ext cx="1219200" cy="10668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IE"/>
          </a:p>
        </p:txBody>
      </p:sp>
      <p:sp>
        <p:nvSpPr>
          <p:cNvPr id="12" name="Line 21">
            <a:extLst>
              <a:ext uri="{FF2B5EF4-FFF2-40B4-BE49-F238E27FC236}">
                <a16:creationId xmlns:a16="http://schemas.microsoft.com/office/drawing/2014/main" id="{C328C40A-1CDF-4E57-B853-71F6CEB04104}"/>
              </a:ext>
            </a:extLst>
          </p:cNvPr>
          <p:cNvSpPr>
            <a:spLocks noChangeShapeType="1"/>
          </p:cNvSpPr>
          <p:nvPr/>
        </p:nvSpPr>
        <p:spPr bwMode="auto">
          <a:xfrm>
            <a:off x="6223000" y="4203700"/>
            <a:ext cx="152400" cy="914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IE"/>
          </a:p>
        </p:txBody>
      </p:sp>
      <p:sp>
        <p:nvSpPr>
          <p:cNvPr id="13" name="Line 22">
            <a:extLst>
              <a:ext uri="{FF2B5EF4-FFF2-40B4-BE49-F238E27FC236}">
                <a16:creationId xmlns:a16="http://schemas.microsoft.com/office/drawing/2014/main" id="{141BA828-5A3B-4F1E-B6FB-48A8C8113DB5}"/>
              </a:ext>
            </a:extLst>
          </p:cNvPr>
          <p:cNvSpPr>
            <a:spLocks noChangeShapeType="1"/>
          </p:cNvSpPr>
          <p:nvPr/>
        </p:nvSpPr>
        <p:spPr bwMode="auto">
          <a:xfrm>
            <a:off x="6680200" y="4203700"/>
            <a:ext cx="1905000" cy="10668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IE"/>
          </a:p>
        </p:txBody>
      </p:sp>
    </p:spTree>
    <p:extLst>
      <p:ext uri="{BB962C8B-B14F-4D97-AF65-F5344CB8AC3E}">
        <p14:creationId xmlns:p14="http://schemas.microsoft.com/office/powerpoint/2010/main" val="945112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MVC….</a:t>
            </a:r>
          </a:p>
        </p:txBody>
      </p:sp>
      <p:sp>
        <p:nvSpPr>
          <p:cNvPr id="3" name="Content Placeholder 2">
            <a:extLst>
              <a:ext uri="{FF2B5EF4-FFF2-40B4-BE49-F238E27FC236}">
                <a16:creationId xmlns:a16="http://schemas.microsoft.com/office/drawing/2014/main" id="{1FE7F43D-861E-46AF-B03C-D78CB3050741}"/>
              </a:ext>
            </a:extLst>
          </p:cNvPr>
          <p:cNvSpPr>
            <a:spLocks noGrp="1"/>
          </p:cNvSpPr>
          <p:nvPr>
            <p:ph idx="1"/>
          </p:nvPr>
        </p:nvSpPr>
        <p:spPr/>
        <p:txBody>
          <a:bodyPr/>
          <a:lstStyle/>
          <a:p>
            <a:r>
              <a:rPr lang="en-IE" altLang="en-US" dirty="0"/>
              <a:t>The view and controller will typically "listen" for changes to the model. </a:t>
            </a:r>
          </a:p>
          <a:p>
            <a:endParaRPr lang="en-IE" altLang="en-US" dirty="0"/>
          </a:p>
          <a:p>
            <a:r>
              <a:rPr lang="en-IE" altLang="en-US" dirty="0"/>
              <a:t>The Java language implements this notification using events. </a:t>
            </a:r>
          </a:p>
          <a:p>
            <a:endParaRPr lang="en-IE" altLang="en-US" dirty="0"/>
          </a:p>
          <a:p>
            <a:r>
              <a:rPr lang="en-IE" altLang="en-US" dirty="0"/>
              <a:t>Whenever the model says "I have changed," the view and controller can ask for the new state of the model's data, then update their presentation to the user.</a:t>
            </a:r>
          </a:p>
          <a:p>
            <a:endParaRPr lang="en-IE" dirty="0"/>
          </a:p>
        </p:txBody>
      </p:sp>
    </p:spTree>
    <p:extLst>
      <p:ext uri="{BB962C8B-B14F-4D97-AF65-F5344CB8AC3E}">
        <p14:creationId xmlns:p14="http://schemas.microsoft.com/office/powerpoint/2010/main" val="28525655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0A5-ABE4-44B3-AC10-37F7CFED06E3}"/>
              </a:ext>
            </a:extLst>
          </p:cNvPr>
          <p:cNvSpPr>
            <a:spLocks noGrp="1"/>
          </p:cNvSpPr>
          <p:nvPr>
            <p:ph type="title"/>
          </p:nvPr>
        </p:nvSpPr>
        <p:spPr/>
        <p:txBody>
          <a:bodyPr/>
          <a:lstStyle/>
          <a:p>
            <a:r>
              <a:rPr lang="en-IE" dirty="0"/>
              <a:t>MVC Tester</a:t>
            </a:r>
          </a:p>
        </p:txBody>
      </p:sp>
      <p:sp>
        <p:nvSpPr>
          <p:cNvPr id="3" name="Content Placeholder 2">
            <a:extLst>
              <a:ext uri="{FF2B5EF4-FFF2-40B4-BE49-F238E27FC236}">
                <a16:creationId xmlns:a16="http://schemas.microsoft.com/office/drawing/2014/main" id="{1FE7F43D-861E-46AF-B03C-D78CB3050741}"/>
              </a:ext>
            </a:extLst>
          </p:cNvPr>
          <p:cNvSpPr>
            <a:spLocks noGrp="1"/>
          </p:cNvSpPr>
          <p:nvPr>
            <p:ph idx="1"/>
          </p:nvPr>
        </p:nvSpPr>
        <p:spPr/>
        <p:txBody>
          <a:bodyPr>
            <a:normAutofit fontScale="85000" lnSpcReduction="20000"/>
          </a:bodyPr>
          <a:lstStyle/>
          <a:p>
            <a:r>
              <a:rPr lang="en-IE" altLang="en-US" dirty="0"/>
              <a:t>The </a:t>
            </a:r>
            <a:r>
              <a:rPr lang="en-IE" altLang="en-US" dirty="0" err="1"/>
              <a:t>MVCTester</a:t>
            </a:r>
            <a:r>
              <a:rPr lang="en-IE" altLang="en-US" dirty="0"/>
              <a:t> creates objects of types Model, View and Controller</a:t>
            </a:r>
          </a:p>
          <a:p>
            <a:endParaRPr lang="en-IE" altLang="en-US" dirty="0"/>
          </a:p>
          <a:p>
            <a:r>
              <a:rPr lang="en-IE" altLang="en-US" dirty="0"/>
              <a:t>It initializes the Controller using both the Model and View object references.</a:t>
            </a:r>
          </a:p>
          <a:p>
            <a:endParaRPr lang="en-IE" dirty="0"/>
          </a:p>
          <a:p>
            <a:r>
              <a:rPr lang="en-IE" altLang="en-US" dirty="0">
                <a:solidFill>
                  <a:srgbClr val="FF0000"/>
                </a:solidFill>
              </a:rPr>
              <a:t>the Model knows nothing about the View and Controller.</a:t>
            </a:r>
          </a:p>
          <a:p>
            <a:r>
              <a:rPr lang="en-IE" altLang="en-US" dirty="0">
                <a:solidFill>
                  <a:srgbClr val="FF0000"/>
                </a:solidFill>
              </a:rPr>
              <a:t>the View is unaware of the Model and Controller</a:t>
            </a:r>
          </a:p>
          <a:p>
            <a:r>
              <a:rPr lang="en-IE" altLang="en-US" dirty="0">
                <a:solidFill>
                  <a:srgbClr val="FF0000"/>
                </a:solidFill>
              </a:rPr>
              <a:t>The Controller class keeps references to the Model and View classes. </a:t>
            </a:r>
          </a:p>
          <a:p>
            <a:endParaRPr lang="en-IE" altLang="en-US" dirty="0"/>
          </a:p>
          <a:p>
            <a:r>
              <a:rPr lang="en-IE" altLang="en-US" dirty="0"/>
              <a:t>So the Controller sees the Model and View interfaces. </a:t>
            </a:r>
          </a:p>
          <a:p>
            <a:endParaRPr lang="en-IE" altLang="en-US" dirty="0"/>
          </a:p>
          <a:p>
            <a:r>
              <a:rPr lang="en-IE" altLang="en-US"/>
              <a:t>The Controller provides interaction between the Model and View. </a:t>
            </a:r>
          </a:p>
          <a:p>
            <a:endParaRPr lang="en-IE" altLang="en-US" dirty="0">
              <a:solidFill>
                <a:srgbClr val="FF0000"/>
              </a:solidFill>
            </a:endParaRPr>
          </a:p>
          <a:p>
            <a:endParaRPr lang="en-IE" dirty="0"/>
          </a:p>
        </p:txBody>
      </p:sp>
    </p:spTree>
    <p:extLst>
      <p:ext uri="{BB962C8B-B14F-4D97-AF65-F5344CB8AC3E}">
        <p14:creationId xmlns:p14="http://schemas.microsoft.com/office/powerpoint/2010/main" val="1020176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2363</TotalTime>
  <Words>1690</Words>
  <Application>Microsoft Office PowerPoint</Application>
  <PresentationFormat>Widescreen</PresentationFormat>
  <Paragraphs>219</Paragraphs>
  <Slides>38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vt:lpstr>
      <vt:lpstr>Calibri</vt:lpstr>
      <vt:lpstr>Calibri Light</vt:lpstr>
      <vt:lpstr>Garamond</vt:lpstr>
      <vt:lpstr>Times</vt:lpstr>
      <vt:lpstr>Wingdings</vt:lpstr>
      <vt:lpstr>Wingdings 2</vt:lpstr>
      <vt:lpstr>Office Theme</vt:lpstr>
      <vt:lpstr>Software Development 3</vt:lpstr>
      <vt:lpstr>Introducing Patterns</vt:lpstr>
      <vt:lpstr>Introducing Patterns</vt:lpstr>
      <vt:lpstr>Definition Of A Design Pattern</vt:lpstr>
      <vt:lpstr>Pattern Origins</vt:lpstr>
      <vt:lpstr>Pattern Origins</vt:lpstr>
      <vt:lpstr>Pattern Origins and GOF (Gang of Four)</vt:lpstr>
      <vt:lpstr>Usage of Design Patterns</vt:lpstr>
      <vt:lpstr>Common Platform for Developers</vt:lpstr>
      <vt:lpstr>Best Practices</vt:lpstr>
      <vt:lpstr>What is a pattern anyway?</vt:lpstr>
      <vt:lpstr>Elements of a Design Pattern</vt:lpstr>
      <vt:lpstr>Name of a Design Pattern</vt:lpstr>
      <vt:lpstr>Problem</vt:lpstr>
      <vt:lpstr>Solution</vt:lpstr>
      <vt:lpstr>Consequences</vt:lpstr>
      <vt:lpstr>Singleton Pattern</vt:lpstr>
      <vt:lpstr>Singleton</vt:lpstr>
      <vt:lpstr>Understanding the code…</vt:lpstr>
      <vt:lpstr>Understanding the code…</vt:lpstr>
      <vt:lpstr>Understanding the code…</vt:lpstr>
      <vt:lpstr>Understanding the code…</vt:lpstr>
      <vt:lpstr>Understanding the code…</vt:lpstr>
      <vt:lpstr>Factory Pattern</vt:lpstr>
      <vt:lpstr>Factory</vt:lpstr>
      <vt:lpstr>Factory</vt:lpstr>
      <vt:lpstr>Factory Pattern</vt:lpstr>
      <vt:lpstr>Decorator Pattern</vt:lpstr>
      <vt:lpstr>Decorator</vt:lpstr>
      <vt:lpstr>Wrapping the object in decoration…</vt:lpstr>
      <vt:lpstr>Leave it here….</vt:lpstr>
      <vt:lpstr>Model View Controller Pattern</vt:lpstr>
      <vt:lpstr>Model View Controller (MVC)</vt:lpstr>
      <vt:lpstr>MVC</vt:lpstr>
      <vt:lpstr>MVC</vt:lpstr>
      <vt:lpstr>MVC</vt:lpstr>
      <vt:lpstr>MVC….</vt:lpstr>
      <vt:lpstr>MVC Tester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Apps and Connected Devices </dc:title>
  <dc:creator>CURRAN, MARTINA</dc:creator>
  <cp:lastModifiedBy>CURRAN, MARTINA</cp:lastModifiedBy>
  <cp:revision>26</cp:revision>
  <dcterms:created xsi:type="dcterms:W3CDTF">2019-08-12T15:58:15Z</dcterms:created>
  <dcterms:modified xsi:type="dcterms:W3CDTF">2019-10-09T08:19:23Z</dcterms:modified>
</cp:coreProperties>
</file>