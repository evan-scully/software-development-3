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  <p:sldId id="266" r:id="rId9"/>
    <p:sldId id="263" r:id="rId10"/>
    <p:sldId id="264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5" r:id="rId19"/>
    <p:sldId id="274" r:id="rId20"/>
    <p:sldId id="278" r:id="rId21"/>
    <p:sldId id="277" r:id="rId22"/>
    <p:sldId id="276" r:id="rId23"/>
    <p:sldId id="279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3" r:id="rId32"/>
    <p:sldId id="292" r:id="rId33"/>
    <p:sldId id="294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296" autoAdjust="0"/>
    <p:restoredTop sz="93613" autoAdjust="0"/>
  </p:normalViewPr>
  <p:slideViewPr>
    <p:cSldViewPr snapToGrid="0">
      <p:cViewPr varScale="1">
        <p:scale>
          <a:sx n="35" d="100"/>
          <a:sy n="35" d="100"/>
        </p:scale>
        <p:origin x="84" y="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3B76B-C7D4-49BF-A2E4-D04F88646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CBF0D5-2968-4562-A170-9AAE2ADFB8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1AC4F-FEBB-40D3-9B31-76BA1D370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EEBBA-AB33-4253-9E7D-EB8720863F89}" type="datetimeFigureOut">
              <a:rPr lang="en-IE" smtClean="0"/>
              <a:t>17/09/2019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81ED0-BF40-4B02-BDC0-764EC5A4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BDCD4-80AE-4A76-A819-B9ABE9EA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F1F56-D5C8-4A94-92EA-C75F001D3EF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85807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78B66-D4A7-41FF-990F-E74DA34E3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7C406-3174-433F-B9D3-19FFD3829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07528-503B-408D-B153-D0E1DFBB2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EEBBA-AB33-4253-9E7D-EB8720863F89}" type="datetimeFigureOut">
              <a:rPr lang="en-IE" smtClean="0"/>
              <a:t>17/09/2019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63B34-F2C0-41BC-B934-3AB1340B6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86FFF-CFE0-41DB-B4B8-DAA09FE82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F1F56-D5C8-4A94-92EA-C75F001D3EF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81423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91574-FFDC-4A6F-9FAA-4636F43AF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B1C9D-364C-4476-A35A-1F4FF30FE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FA483-78C2-4FFC-B47A-B7B38A719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EEBBA-AB33-4253-9E7D-EB8720863F89}" type="datetimeFigureOut">
              <a:rPr lang="en-IE" smtClean="0"/>
              <a:t>17/09/2019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C8FFB-0768-4AA7-92F8-E87C6E78B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1CA50-38B1-4714-AA01-D5A1E75B1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F1F56-D5C8-4A94-92EA-C75F001D3EF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09357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BDA53-4EE5-4750-AFE8-892B9AA4E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FB976-D97F-49B3-A567-5AB04A5290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D868FB-A25A-406C-A001-F5996EA3F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D6935-AAF2-4496-A68E-FFF43459E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EEBBA-AB33-4253-9E7D-EB8720863F89}" type="datetimeFigureOut">
              <a:rPr lang="en-IE" smtClean="0"/>
              <a:t>17/09/2019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232C8-AF7B-4CE8-AEC6-CCC591FEC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640DC-39D6-420D-A1ED-52DADE6A2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F1F56-D5C8-4A94-92EA-C75F001D3EF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62545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D727D-65AD-46A2-9AA1-9144A1F9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0A19B3-A1A2-4893-B4E1-F2A96D5FE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11E1CA-732E-4EB8-B2F1-3338560A45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32D0B1-99E7-4912-85E1-E5545FF402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24FD4A-3199-4C26-84EE-7729AB38AD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50D651-ACD0-4E39-B60C-F86B2E3A1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EEBBA-AB33-4253-9E7D-EB8720863F89}" type="datetimeFigureOut">
              <a:rPr lang="en-IE" smtClean="0"/>
              <a:t>17/09/2019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2B64A8-46EA-4134-A47C-00594D958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C8243C-446E-4544-86F5-D9CF9384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F1F56-D5C8-4A94-92EA-C75F001D3EF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33343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13EB9-2490-4A7B-A07C-424F48EB3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8ED2C9-A41D-48DE-A8F8-8AD385C8D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EEBBA-AB33-4253-9E7D-EB8720863F89}" type="datetimeFigureOut">
              <a:rPr lang="en-IE" smtClean="0"/>
              <a:t>17/09/2019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544F4D-636C-409C-AD3F-93DB8337A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0A574A-DF73-43B8-B207-0E7097C8F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F1F56-D5C8-4A94-92EA-C75F001D3EF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71930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3A143D-A4D3-4401-BA0C-6CB5C4A1B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EEBBA-AB33-4253-9E7D-EB8720863F89}" type="datetimeFigureOut">
              <a:rPr lang="en-IE" smtClean="0"/>
              <a:t>17/09/2019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E3B9C3-760C-4088-8D4C-8CB56F92F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22F23-A870-4F06-A40C-242863593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F1F56-D5C8-4A94-92EA-C75F001D3EF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41341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539C6-2809-436C-ADEE-DD37BFD51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D5AD5-8EA9-4F09-9CCE-D0FDCD4F7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4925B2-3F48-433E-8FF9-94059152C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5B8C2-1CF6-4438-9282-3E2538B1B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EEBBA-AB33-4253-9E7D-EB8720863F89}" type="datetimeFigureOut">
              <a:rPr lang="en-IE" smtClean="0"/>
              <a:t>17/09/2019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6CCD98-0647-4107-822F-85FD6A0A4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877C4F-D024-4065-A5A3-EF864F273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F1F56-D5C8-4A94-92EA-C75F001D3EF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07125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D770A-5E69-452D-8B0E-622A1237B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160DD6-ACA0-4A05-9ED3-F02A31B2FF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1FB562-643D-4496-9A50-C7D635C04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AF07-0724-47C6-B087-544F319AD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EEBBA-AB33-4253-9E7D-EB8720863F89}" type="datetimeFigureOut">
              <a:rPr lang="en-IE" smtClean="0"/>
              <a:t>17/09/2019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F6E3A8-03CB-4789-979D-54D43BD9A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7767D1-871B-412B-A86F-3E870D973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F1F56-D5C8-4A94-92EA-C75F001D3EF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41778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DA59B-EB59-4BF6-B076-B29351C3A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A3EAAB-BFED-4146-AF53-258060B494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BEE75-F76D-4DD2-A1F4-46A2B9E82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EEBBA-AB33-4253-9E7D-EB8720863F89}" type="datetimeFigureOut">
              <a:rPr lang="en-IE" smtClean="0"/>
              <a:t>17/09/2019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4DCAE-75DF-4BC9-B959-525EFAD5C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2E59E-CE8C-4225-9BF5-A2E031B44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F1F56-D5C8-4A94-92EA-C75F001D3EF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69454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47467C-0DFB-4C7B-87C3-C23EAB7F76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6C097D-E2B5-4B40-8C64-CEA213F68B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1EE03-5C02-4354-87E2-CE751E079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EEBBA-AB33-4253-9E7D-EB8720863F89}" type="datetimeFigureOut">
              <a:rPr lang="en-IE" smtClean="0"/>
              <a:t>17/09/2019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93992-A251-447C-B200-4038998F0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DDC53-CCC4-4FDB-86C0-718CDBED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F1F56-D5C8-4A94-92EA-C75F001D3EF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59716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08342A-C84B-4FDA-AEC6-A74FD53E5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A134D-359F-49F6-977F-C7F5AC777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854E6-A454-4FBD-BD40-A4095A24E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5EEBBA-AB33-4253-9E7D-EB8720863F89}" type="datetimeFigureOut">
              <a:rPr lang="en-IE" smtClean="0"/>
              <a:t>17/09/2019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FF660-86E6-4ACD-B6ED-4DE137BE21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5EC12-8021-4D46-A4B0-7A80E1874E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CF1F56-D5C8-4A94-92EA-C75F001D3EF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3727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9A5B6-5FB0-4C38-8C7A-8E797223DC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Software Development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7ED21D-27D6-41F5-8E8E-C874A3D14E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GUIs</a:t>
            </a:r>
          </a:p>
        </p:txBody>
      </p:sp>
    </p:spTree>
    <p:extLst>
      <p:ext uri="{BB962C8B-B14F-4D97-AF65-F5344CB8AC3E}">
        <p14:creationId xmlns:p14="http://schemas.microsoft.com/office/powerpoint/2010/main" val="1539509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2AB2A-6E5A-4C03-BDC0-A12B93C60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Graphical User 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2E89A-D21C-457B-B4E4-143F4962D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Graphical User Interface</a:t>
            </a:r>
          </a:p>
          <a:p>
            <a:pPr lvl="1"/>
            <a:r>
              <a:rPr lang="en-IE" sz="2800" dirty="0"/>
              <a:t>Has graphics for the user to “interface” (use) a system</a:t>
            </a:r>
          </a:p>
          <a:p>
            <a:pPr lvl="1"/>
            <a:r>
              <a:rPr lang="en-IE" sz="2800" dirty="0"/>
              <a:t>In Java often windows</a:t>
            </a:r>
          </a:p>
          <a:p>
            <a:pPr lvl="1"/>
            <a:r>
              <a:rPr lang="en-IE" sz="2800" dirty="0"/>
              <a:t>Swing library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89E777-45CE-473D-B963-34C32921B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130" y="3689460"/>
            <a:ext cx="3487618" cy="2803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3CD58605-455C-4336-A251-957A8ABD8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4635" y="4109737"/>
            <a:ext cx="3514914" cy="2385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FE5931A3-701A-42F9-AA5B-D4A85C3AA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6437" y="3689459"/>
            <a:ext cx="3175433" cy="2803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6646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4711B-E4CA-4239-A5ED-2B2076DFA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Swing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8ACB2-FFB5-40AD-8E67-E0F0CFABE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Swing contains group of feature to help build GUIs</a:t>
            </a:r>
          </a:p>
          <a:p>
            <a:r>
              <a:rPr lang="en-IE" dirty="0"/>
              <a:t>Swing is part of the Java Foundation Classes (JFC)</a:t>
            </a:r>
          </a:p>
          <a:p>
            <a:r>
              <a:rPr lang="en-IE" dirty="0"/>
              <a:t>Provides all of the components – buttons, tables, labels…</a:t>
            </a:r>
          </a:p>
          <a:p>
            <a:r>
              <a:rPr lang="en-IE" dirty="0"/>
              <a:t>Swing was the code name of the project (unofficial name but frequently used)</a:t>
            </a:r>
            <a:r>
              <a:rPr lang="en-GB" dirty="0"/>
              <a:t>. </a:t>
            </a:r>
            <a:r>
              <a:rPr lang="en-GB" altLang="en-US" dirty="0"/>
              <a:t>It's immortalized in the package names for the Swing API, which begin with </a:t>
            </a:r>
            <a:r>
              <a:rPr lang="en-GB" altLang="en-US" dirty="0" err="1">
                <a:latin typeface="Courier New" pitchFamily="49" charset="0"/>
                <a:cs typeface="Courier New" pitchFamily="49" charset="0"/>
              </a:rPr>
              <a:t>javax.swing</a:t>
            </a:r>
            <a:endParaRPr lang="en-GB" alt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GB" altLang="en-US" dirty="0">
                <a:cs typeface="Courier New" pitchFamily="49" charset="0"/>
              </a:rPr>
              <a:t>Used by importing the package: import </a:t>
            </a:r>
            <a:r>
              <a:rPr lang="en-GB" altLang="en-US" dirty="0" err="1">
                <a:cs typeface="Courier New" pitchFamily="49" charset="0"/>
              </a:rPr>
              <a:t>javax.swing</a:t>
            </a:r>
            <a:r>
              <a:rPr lang="en-GB" altLang="en-US" dirty="0">
                <a:cs typeface="Courier New" pitchFamily="49" charset="0"/>
              </a:rPr>
              <a:t>.*;</a:t>
            </a:r>
          </a:p>
          <a:p>
            <a:endParaRPr lang="en-GB" altLang="en-US" dirty="0"/>
          </a:p>
          <a:p>
            <a:endParaRPr lang="en-GB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616878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7B13C-9D88-44D8-B8C0-9E2E1B019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Creating a window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56D60C-D8B6-4F99-8927-B494FFCEF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25625"/>
            <a:ext cx="10601779" cy="372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293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115F7-A8BB-4B16-8036-6640E6506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4FD1C-7916-4ED2-B664-F5D6388D5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Swing is a library of JAVA components which can be used to create GUIs.</a:t>
            </a:r>
          </a:p>
          <a:p>
            <a:r>
              <a:rPr lang="en-GB" altLang="en-US" b="1" i="1" dirty="0"/>
              <a:t>“A component is an object having a graphical representation that can be displayed on the screen and that can interact with the user.”</a:t>
            </a:r>
            <a:r>
              <a:rPr lang="en-GB" altLang="en-US" b="1" dirty="0"/>
              <a:t> </a:t>
            </a:r>
          </a:p>
          <a:p>
            <a:r>
              <a:rPr lang="en-IE" dirty="0"/>
              <a:t>These can be buttons, labels, scrollbars, etc.</a:t>
            </a:r>
          </a:p>
          <a:p>
            <a:endParaRPr lang="en-IE" dirty="0"/>
          </a:p>
        </p:txBody>
      </p:sp>
      <p:pic>
        <p:nvPicPr>
          <p:cNvPr id="4" name="Picture 1029" descr="C:\Lectures\BSC3SoftwareSys\L8\cg-combobox.gif">
            <a:extLst>
              <a:ext uri="{FF2B5EF4-FFF2-40B4-BE49-F238E27FC236}">
                <a16:creationId xmlns:a16="http://schemas.microsoft.com/office/drawing/2014/main" id="{5E250642-EC88-443C-BAC7-886CBEC12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765" y="4595359"/>
            <a:ext cx="2438400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030" descr="C:\Lectures\BSC3SoftwareSys\L8\cg-list.gif">
            <a:extLst>
              <a:ext uri="{FF2B5EF4-FFF2-40B4-BE49-F238E27FC236}">
                <a16:creationId xmlns:a16="http://schemas.microsoft.com/office/drawing/2014/main" id="{E35E2E82-F683-49A3-B287-0B15AB92E0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529" y="4712155"/>
            <a:ext cx="2438400" cy="191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1031">
            <a:extLst>
              <a:ext uri="{FF2B5EF4-FFF2-40B4-BE49-F238E27FC236}">
                <a16:creationId xmlns:a16="http://schemas.microsoft.com/office/drawing/2014/main" id="{CA146ABA-5613-43ED-B164-DD96AE690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3890" y="4138159"/>
            <a:ext cx="170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altLang="en-US" dirty="0" err="1"/>
              <a:t>JComboBox</a:t>
            </a:r>
            <a:endParaRPr lang="en-GB" altLang="en-US" dirty="0"/>
          </a:p>
        </p:txBody>
      </p:sp>
      <p:sp>
        <p:nvSpPr>
          <p:cNvPr id="7" name="Text Box 1032">
            <a:extLst>
              <a:ext uri="{FF2B5EF4-FFF2-40B4-BE49-F238E27FC236}">
                <a16:creationId xmlns:a16="http://schemas.microsoft.com/office/drawing/2014/main" id="{437A6BB3-A2CF-4454-A89D-3D89EB0C0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05585" y="4138159"/>
            <a:ext cx="776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altLang="en-US"/>
              <a:t>JList</a:t>
            </a:r>
          </a:p>
        </p:txBody>
      </p:sp>
    </p:spTree>
    <p:extLst>
      <p:ext uri="{BB962C8B-B14F-4D97-AF65-F5344CB8AC3E}">
        <p14:creationId xmlns:p14="http://schemas.microsoft.com/office/powerpoint/2010/main" val="3640692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F734E-296B-4790-AAE7-A1C264AAE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F2104-3D16-435A-A33E-A5FC45892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b="1" i="1" dirty="0"/>
              <a:t>“A container is a component that can contain other components”</a:t>
            </a:r>
          </a:p>
          <a:p>
            <a:endParaRPr lang="en-IE" dirty="0"/>
          </a:p>
          <a:p>
            <a:r>
              <a:rPr lang="en-IE" dirty="0"/>
              <a:t>Earlier we created a </a:t>
            </a:r>
            <a:r>
              <a:rPr lang="en-IE" dirty="0" err="1"/>
              <a:t>JFrame</a:t>
            </a:r>
            <a:r>
              <a:rPr lang="en-IE" dirty="0"/>
              <a:t> window – a commonly used container</a:t>
            </a:r>
          </a:p>
          <a:p>
            <a:endParaRPr lang="en-IE" dirty="0"/>
          </a:p>
          <a:p>
            <a:r>
              <a:rPr lang="en-IE" dirty="0"/>
              <a:t>We can add more components to the </a:t>
            </a:r>
            <a:r>
              <a:rPr lang="en-IE" dirty="0" err="1"/>
              <a:t>JFrame</a:t>
            </a:r>
            <a:r>
              <a:rPr lang="en-IE" dirty="0"/>
              <a:t> to let the user interact with it…</a:t>
            </a:r>
          </a:p>
        </p:txBody>
      </p:sp>
    </p:spTree>
    <p:extLst>
      <p:ext uri="{BB962C8B-B14F-4D97-AF65-F5344CB8AC3E}">
        <p14:creationId xmlns:p14="http://schemas.microsoft.com/office/powerpoint/2010/main" val="944915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2D0AE-C9AE-446C-87AE-E773B50B1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Abstract Windowing Toolkit (AWT)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73B00-F10E-4116-87D9-33D1E494E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Original windowing library for Java</a:t>
            </a:r>
          </a:p>
          <a:p>
            <a:endParaRPr lang="en-IE" dirty="0"/>
          </a:p>
          <a:p>
            <a:r>
              <a:rPr lang="en-IE" dirty="0"/>
              <a:t>Basic UI Components and Containers</a:t>
            </a:r>
          </a:p>
          <a:p>
            <a:endParaRPr lang="en-IE" dirty="0"/>
          </a:p>
          <a:p>
            <a:r>
              <a:rPr lang="en-IE" dirty="0"/>
              <a:t>Native code for each OS-platform meant AWT was not portable going against one of the corner stones of the JAVA language</a:t>
            </a:r>
          </a:p>
          <a:p>
            <a:endParaRPr lang="en-IE" dirty="0"/>
          </a:p>
          <a:p>
            <a:r>
              <a:rPr lang="en-IE" dirty="0"/>
              <a:t>The biggest difference between the AWT and Swing components is that Swing components are implemented with no native code.</a:t>
            </a:r>
          </a:p>
        </p:txBody>
      </p:sp>
    </p:spTree>
    <p:extLst>
      <p:ext uri="{BB962C8B-B14F-4D97-AF65-F5344CB8AC3E}">
        <p14:creationId xmlns:p14="http://schemas.microsoft.com/office/powerpoint/2010/main" val="4181753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58B93-9A41-4B08-B975-8647509D2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Differences between AWT and Swing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A8D61-D34F-40BC-AA64-FCF41DAF6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 err="1"/>
              <a:t>java.awt</a:t>
            </a:r>
            <a:r>
              <a:rPr lang="en-IE" dirty="0"/>
              <a:t> vs </a:t>
            </a:r>
            <a:r>
              <a:rPr lang="en-IE" dirty="0" err="1"/>
              <a:t>javax.swing</a:t>
            </a:r>
            <a:endParaRPr lang="en-IE" dirty="0"/>
          </a:p>
          <a:p>
            <a:r>
              <a:rPr lang="en-IE" dirty="0"/>
              <a:t>Swing buttons and labels can display images instead of, or in addition to text</a:t>
            </a:r>
          </a:p>
          <a:p>
            <a:r>
              <a:rPr lang="en-IE" dirty="0"/>
              <a:t>Easily add or change the borders drawn around most Swing components – easy to put a box around the outside of a container or label</a:t>
            </a:r>
          </a:p>
          <a:p>
            <a:r>
              <a:rPr lang="en-IE" dirty="0"/>
              <a:t>Swing components don’t have to be rectangular – </a:t>
            </a:r>
            <a:r>
              <a:rPr lang="en-IE" dirty="0" err="1"/>
              <a:t>eg</a:t>
            </a:r>
            <a:r>
              <a:rPr lang="en-IE" dirty="0"/>
              <a:t> round buttons</a:t>
            </a:r>
          </a:p>
          <a:p>
            <a:r>
              <a:rPr lang="en-IE" dirty="0"/>
              <a:t>Swing lets you specify which look and feel your program’s GUI uses. AWT components always have the look and feel of the native platform</a:t>
            </a:r>
          </a:p>
        </p:txBody>
      </p:sp>
    </p:spTree>
    <p:extLst>
      <p:ext uri="{BB962C8B-B14F-4D97-AF65-F5344CB8AC3E}">
        <p14:creationId xmlns:p14="http://schemas.microsoft.com/office/powerpoint/2010/main" val="2454039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D845A-47CD-491A-AF1C-641CF8CD4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56CEAE-F2B9-4CA5-9BBE-B8BE4EB6F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1849" y="2477949"/>
            <a:ext cx="2819048" cy="2352381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25B5226-BB73-4496-84E2-FF9A93877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AAB95E-EC3E-4E03-AE37-E9C338052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32" y="1630228"/>
            <a:ext cx="6039929" cy="502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581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C36CF-1792-49DA-9F74-86E466DA5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Importing Swing and AWT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568A4-8658-4068-965E-744C344DD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We previously imported javax.swing.* - all classes in the Swing package</a:t>
            </a:r>
          </a:p>
          <a:p>
            <a:r>
              <a:rPr lang="en-IE" dirty="0"/>
              <a:t>Could have specified which ones: </a:t>
            </a:r>
            <a:r>
              <a:rPr lang="en-IE" dirty="0" err="1"/>
              <a:t>javax.swing.JFrame</a:t>
            </a:r>
            <a:r>
              <a:rPr lang="en-IE" dirty="0"/>
              <a:t>;</a:t>
            </a:r>
          </a:p>
          <a:p>
            <a:r>
              <a:rPr lang="en-IE" dirty="0"/>
              <a:t>Most Swing programs will need AWT</a:t>
            </a:r>
          </a:p>
          <a:p>
            <a:r>
              <a:rPr lang="en-IE" dirty="0"/>
              <a:t>import </a:t>
            </a:r>
            <a:r>
              <a:rPr lang="en-IE" dirty="0" err="1"/>
              <a:t>java.awt</a:t>
            </a:r>
            <a:r>
              <a:rPr lang="en-IE" dirty="0"/>
              <a:t>.*; - imports all classes</a:t>
            </a:r>
          </a:p>
          <a:p>
            <a:endParaRPr lang="en-IE" dirty="0"/>
          </a:p>
          <a:p>
            <a:r>
              <a:rPr lang="en-IE" dirty="0"/>
              <a:t>Swing components use the AWT event model for event handling – how does a component react to a button click…. (what does it do?)</a:t>
            </a:r>
          </a:p>
        </p:txBody>
      </p:sp>
    </p:spTree>
    <p:extLst>
      <p:ext uri="{BB962C8B-B14F-4D97-AF65-F5344CB8AC3E}">
        <p14:creationId xmlns:p14="http://schemas.microsoft.com/office/powerpoint/2010/main" val="470049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A0E78-D3D1-4E85-A6C7-B7601563E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 Level 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5EE56-AB2E-447A-831C-14DD47EEB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Every program with a Swing GUI must contain one top-level Swing container</a:t>
            </a:r>
          </a:p>
          <a:p>
            <a:endParaRPr lang="en-IE" dirty="0"/>
          </a:p>
          <a:p>
            <a:r>
              <a:rPr lang="en-IE" dirty="0"/>
              <a:t>Top-level Swing container provides the support that Swing components need to perform their paining and event handling.</a:t>
            </a:r>
          </a:p>
          <a:p>
            <a:endParaRPr lang="en-IE" dirty="0"/>
          </a:p>
          <a:p>
            <a:r>
              <a:rPr lang="en-IE" dirty="0"/>
              <a:t>Our example used a </a:t>
            </a:r>
            <a:r>
              <a:rPr lang="en-IE" dirty="0" err="1"/>
              <a:t>JFrame</a:t>
            </a:r>
            <a:r>
              <a:rPr lang="en-IE" dirty="0"/>
              <a:t> – there are three types:</a:t>
            </a:r>
          </a:p>
          <a:p>
            <a:endParaRPr lang="en-IE" dirty="0"/>
          </a:p>
          <a:p>
            <a:r>
              <a:rPr lang="en-IE" dirty="0" err="1"/>
              <a:t>JFrame</a:t>
            </a:r>
            <a:r>
              <a:rPr lang="en-IE" dirty="0"/>
              <a:t>, </a:t>
            </a:r>
            <a:r>
              <a:rPr lang="en-IE" dirty="0" err="1"/>
              <a:t>JDialog</a:t>
            </a:r>
            <a:r>
              <a:rPr lang="en-IE" dirty="0"/>
              <a:t>, </a:t>
            </a:r>
            <a:r>
              <a:rPr lang="en-IE" dirty="0" err="1"/>
              <a:t>JApplet</a:t>
            </a:r>
            <a:r>
              <a:rPr lang="en-IE" dirty="0"/>
              <a:t> (for applets!)</a:t>
            </a:r>
          </a:p>
          <a:p>
            <a:endParaRPr lang="en-IE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439605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286C2-47C5-4623-A663-556920062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 Level Containers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131A85-B02F-4341-A94E-C7597B700F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3652838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BCA989-E29A-4123-87BC-F61D13553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3595" y="1690688"/>
            <a:ext cx="3614738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1518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58E80-5B2F-44AA-80B0-D6E8890EA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Buttons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94A19-CBE1-43AC-A041-864B8B413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2726" y="3429000"/>
            <a:ext cx="3041073" cy="2747962"/>
          </a:xfrm>
        </p:spPr>
        <p:txBody>
          <a:bodyPr/>
          <a:lstStyle/>
          <a:p>
            <a:r>
              <a:rPr lang="en-IE" dirty="0"/>
              <a:t>Creating and adding the button</a:t>
            </a:r>
          </a:p>
          <a:p>
            <a:r>
              <a:rPr lang="en-IE" dirty="0"/>
              <a:t>Button takes whole container.</a:t>
            </a:r>
          </a:p>
          <a:p>
            <a:r>
              <a:rPr lang="en-IE" dirty="0"/>
              <a:t>Why?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553EDB-4425-42A4-8138-5FED43057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6582436" cy="48021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62F898-F87D-40C6-BBCB-EE1EC14F1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2456" y="365125"/>
            <a:ext cx="1904762" cy="29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245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61DEE-D4BD-4CC5-85D7-55B45FA98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Buttons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8534A-7B39-4FA0-8AAC-F337639BE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Previous example showed the button took the whole space – need to use a panel to add multiple components.</a:t>
            </a:r>
          </a:p>
          <a:p>
            <a:endParaRPr lang="en-IE" dirty="0"/>
          </a:p>
          <a:p>
            <a:pPr marL="0" indent="0">
              <a:buNone/>
            </a:pPr>
            <a:endParaRPr lang="en-I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6D6D62-AF2A-406D-8B84-A9E2297F6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52" y="2691249"/>
            <a:ext cx="5219048" cy="34857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51A7FF-C77D-4362-84FE-D89326DBC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955" y="2837119"/>
            <a:ext cx="2258608" cy="3474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126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792BC-9D08-4C6C-9B8B-051FBACC9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Button Layout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F3442EE-8947-4129-A160-4A72C92744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5690" y="1275051"/>
            <a:ext cx="6809509" cy="54910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88953E-B5C0-48B7-9A5B-A35460708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444" y="480868"/>
            <a:ext cx="7077538" cy="1094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65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CABE-5E9F-4DA5-ACAF-E5D1E4C77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Event Driven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5AA08-713F-42FE-8064-B76C6B0D1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E" dirty="0"/>
              <a:t>Buttons will not do anything when they are clicked</a:t>
            </a:r>
          </a:p>
          <a:p>
            <a:endParaRPr lang="en-IE" dirty="0"/>
          </a:p>
          <a:p>
            <a:r>
              <a:rPr lang="en-IE" dirty="0"/>
              <a:t>Need to add functionality – Event Driven Programming</a:t>
            </a:r>
          </a:p>
          <a:p>
            <a:endParaRPr lang="en-IE" dirty="0"/>
          </a:p>
          <a:p>
            <a:r>
              <a:rPr lang="en-IE" dirty="0"/>
              <a:t>Button clicks: the button ‘listens’ for an event to occur (click)</a:t>
            </a:r>
          </a:p>
          <a:p>
            <a:endParaRPr lang="en-IE" dirty="0"/>
          </a:p>
          <a:p>
            <a:r>
              <a:rPr lang="en-IE" dirty="0"/>
              <a:t>Object implements the appropriate interface, is registered as an event listener on the appropriate event</a:t>
            </a:r>
          </a:p>
          <a:p>
            <a:endParaRPr lang="en-IE" dirty="0"/>
          </a:p>
          <a:p>
            <a:r>
              <a:rPr lang="en-IE" dirty="0"/>
              <a:t>We create a class that listens for events to happen to specific components</a:t>
            </a:r>
          </a:p>
          <a:p>
            <a:endParaRPr lang="en-IE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803349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5901A-CCF7-4C67-B702-69953BB61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(Some) Listener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14088-A927-41C2-8215-53E66755E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E" dirty="0"/>
              <a:t>ActionListener: For receiving action events – mouse click</a:t>
            </a:r>
          </a:p>
          <a:p>
            <a:endParaRPr lang="en-IE" dirty="0"/>
          </a:p>
          <a:p>
            <a:r>
              <a:rPr lang="en-IE" dirty="0" err="1"/>
              <a:t>FocusListener</a:t>
            </a:r>
            <a:r>
              <a:rPr lang="en-IE" dirty="0"/>
              <a:t>: For receiving keyboard focus events on a component</a:t>
            </a:r>
          </a:p>
          <a:p>
            <a:endParaRPr lang="en-IE" dirty="0"/>
          </a:p>
          <a:p>
            <a:r>
              <a:rPr lang="en-IE" dirty="0" err="1"/>
              <a:t>KeyListener</a:t>
            </a:r>
            <a:r>
              <a:rPr lang="en-IE" dirty="0"/>
              <a:t>: For receiving keyboard events (keystrokes)</a:t>
            </a:r>
          </a:p>
          <a:p>
            <a:endParaRPr lang="en-IE" dirty="0"/>
          </a:p>
          <a:p>
            <a:r>
              <a:rPr lang="en-IE" dirty="0" err="1"/>
              <a:t>MouseListener</a:t>
            </a:r>
            <a:r>
              <a:rPr lang="en-IE" dirty="0"/>
              <a:t>: For receiving ‘interesting’ mouse events (press, release, click, enter (hover), exit (stop hovering)</a:t>
            </a:r>
          </a:p>
          <a:p>
            <a:endParaRPr lang="en-IE" dirty="0"/>
          </a:p>
          <a:p>
            <a:r>
              <a:rPr lang="en-IE" dirty="0" err="1"/>
              <a:t>MouseMotionListener</a:t>
            </a:r>
            <a:r>
              <a:rPr lang="en-IE" dirty="0"/>
              <a:t>: For receiving mouse motion events on a component</a:t>
            </a:r>
          </a:p>
        </p:txBody>
      </p:sp>
    </p:spTree>
    <p:extLst>
      <p:ext uri="{BB962C8B-B14F-4D97-AF65-F5344CB8AC3E}">
        <p14:creationId xmlns:p14="http://schemas.microsoft.com/office/powerpoint/2010/main" val="30187314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5901A-CCF7-4C67-B702-69953BB61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(Some) Listener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14088-A927-41C2-8215-53E66755E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 err="1"/>
              <a:t>MouseListener</a:t>
            </a:r>
            <a:r>
              <a:rPr lang="en-IE" dirty="0"/>
              <a:t>: For receiving ‘interesting’ mouse events (press, release, click, enter (hover), exit (stop hovering)</a:t>
            </a:r>
          </a:p>
          <a:p>
            <a:endParaRPr lang="en-IE" dirty="0"/>
          </a:p>
          <a:p>
            <a:r>
              <a:rPr lang="en-IE" dirty="0" err="1"/>
              <a:t>MouseWheelListener</a:t>
            </a:r>
            <a:r>
              <a:rPr lang="en-IE" dirty="0"/>
              <a:t>: For receiving mouse wheel events on a component</a:t>
            </a:r>
          </a:p>
          <a:p>
            <a:endParaRPr lang="en-IE" dirty="0"/>
          </a:p>
          <a:p>
            <a:r>
              <a:rPr lang="en-IE" dirty="0" err="1"/>
              <a:t>WindowFocusListener</a:t>
            </a:r>
            <a:r>
              <a:rPr lang="en-IE" dirty="0"/>
              <a:t>: For receiving </a:t>
            </a:r>
            <a:r>
              <a:rPr lang="en-IE" dirty="0" err="1"/>
              <a:t>WindowEvents</a:t>
            </a:r>
            <a:r>
              <a:rPr lang="en-IE" dirty="0"/>
              <a:t>: WINDOW_GAINED_FOCUS, WINDOW_LOST_FOCUS</a:t>
            </a:r>
          </a:p>
          <a:p>
            <a:endParaRPr lang="en-IE" dirty="0"/>
          </a:p>
          <a:p>
            <a:r>
              <a:rPr lang="en-IE" dirty="0" err="1"/>
              <a:t>WindowListener</a:t>
            </a:r>
            <a:r>
              <a:rPr lang="en-IE" dirty="0"/>
              <a:t>: For receiving window events</a:t>
            </a:r>
          </a:p>
        </p:txBody>
      </p:sp>
    </p:spTree>
    <p:extLst>
      <p:ext uri="{BB962C8B-B14F-4D97-AF65-F5344CB8AC3E}">
        <p14:creationId xmlns:p14="http://schemas.microsoft.com/office/powerpoint/2010/main" val="3199571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3F94E-4EC2-40F4-AE37-39B04FF31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6B5B6-5A56-48B7-B882-6CFEA660F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Create a class to change the text of a label saying which button was pressed…. With a ‘tester’ class to implement it</a:t>
            </a:r>
          </a:p>
          <a:p>
            <a:endParaRPr lang="en-IE" dirty="0"/>
          </a:p>
          <a:p>
            <a:r>
              <a:rPr lang="en-IE" dirty="0"/>
              <a:t>Done in class…..</a:t>
            </a:r>
          </a:p>
        </p:txBody>
      </p:sp>
    </p:spTree>
    <p:extLst>
      <p:ext uri="{BB962C8B-B14F-4D97-AF65-F5344CB8AC3E}">
        <p14:creationId xmlns:p14="http://schemas.microsoft.com/office/powerpoint/2010/main" val="1288512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963AA-10E6-4D2C-A36D-1ED0CCCDE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D6D5C-8DF9-4AB4-9950-3E37704EA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Create a class to change the background of the buttons depending on the button pressed… (with a main method in the same class)</a:t>
            </a:r>
          </a:p>
          <a:p>
            <a:endParaRPr lang="en-IE" dirty="0"/>
          </a:p>
          <a:p>
            <a:r>
              <a:rPr lang="en-IE" dirty="0"/>
              <a:t>Done in class….. </a:t>
            </a:r>
          </a:p>
        </p:txBody>
      </p:sp>
    </p:spTree>
    <p:extLst>
      <p:ext uri="{BB962C8B-B14F-4D97-AF65-F5344CB8AC3E}">
        <p14:creationId xmlns:p14="http://schemas.microsoft.com/office/powerpoint/2010/main" val="20095492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BE09F-180A-498C-8FE6-3B449B530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err="1"/>
              <a:t>java.awt.color</a:t>
            </a:r>
            <a:r>
              <a:rPr lang="en-IE" dirty="0"/>
              <a:t>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A3063-FA11-4E45-8F97-48A54A5A3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3">
            <a:normAutofit/>
          </a:bodyPr>
          <a:lstStyle/>
          <a:p>
            <a:r>
              <a:rPr lang="en-IE" dirty="0"/>
              <a:t>black</a:t>
            </a:r>
          </a:p>
          <a:p>
            <a:r>
              <a:rPr lang="en-IE" dirty="0"/>
              <a:t>blue</a:t>
            </a:r>
          </a:p>
          <a:p>
            <a:r>
              <a:rPr lang="en-IE" dirty="0"/>
              <a:t>cyan</a:t>
            </a:r>
          </a:p>
          <a:p>
            <a:r>
              <a:rPr lang="en-IE" dirty="0" err="1"/>
              <a:t>darkGray</a:t>
            </a:r>
            <a:endParaRPr lang="en-IE" dirty="0"/>
          </a:p>
          <a:p>
            <a:r>
              <a:rPr lang="en-IE" dirty="0" err="1"/>
              <a:t>Gray</a:t>
            </a:r>
            <a:endParaRPr lang="en-IE" dirty="0"/>
          </a:p>
          <a:p>
            <a:r>
              <a:rPr lang="en-IE" dirty="0"/>
              <a:t>green</a:t>
            </a:r>
          </a:p>
          <a:p>
            <a:r>
              <a:rPr lang="en-IE" dirty="0" err="1"/>
              <a:t>lightGray</a:t>
            </a:r>
            <a:endParaRPr lang="en-IE" dirty="0"/>
          </a:p>
          <a:p>
            <a:r>
              <a:rPr lang="en-IE" dirty="0"/>
              <a:t>Orange.	</a:t>
            </a:r>
          </a:p>
        </p:txBody>
      </p:sp>
    </p:spTree>
    <p:extLst>
      <p:ext uri="{BB962C8B-B14F-4D97-AF65-F5344CB8AC3E}">
        <p14:creationId xmlns:p14="http://schemas.microsoft.com/office/powerpoint/2010/main" val="31503241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963AA-10E6-4D2C-A36D-1ED0CCCDE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D6D5C-8DF9-4AB4-9950-3E37704EA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Create a class to change which checkbox is checked (ticked)… with a main method in the same class….</a:t>
            </a:r>
          </a:p>
          <a:p>
            <a:endParaRPr lang="en-IE" dirty="0"/>
          </a:p>
          <a:p>
            <a:r>
              <a:rPr lang="en-IE" dirty="0"/>
              <a:t>Done in class….. </a:t>
            </a:r>
          </a:p>
        </p:txBody>
      </p:sp>
    </p:spTree>
    <p:extLst>
      <p:ext uri="{BB962C8B-B14F-4D97-AF65-F5344CB8AC3E}">
        <p14:creationId xmlns:p14="http://schemas.microsoft.com/office/powerpoint/2010/main" val="6684846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963AA-10E6-4D2C-A36D-1ED0CCCDE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D6D5C-8DF9-4AB4-9950-3E37704EA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Create a class to change the background of the buttons depending on the button pressed… (with a main method in the same class)</a:t>
            </a:r>
          </a:p>
          <a:p>
            <a:endParaRPr lang="en-IE" dirty="0"/>
          </a:p>
          <a:p>
            <a:r>
              <a:rPr lang="en-IE" dirty="0"/>
              <a:t>Done in class….. </a:t>
            </a:r>
          </a:p>
        </p:txBody>
      </p:sp>
    </p:spTree>
    <p:extLst>
      <p:ext uri="{BB962C8B-B14F-4D97-AF65-F5344CB8AC3E}">
        <p14:creationId xmlns:p14="http://schemas.microsoft.com/office/powerpoint/2010/main" val="34068284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46EF9-2E06-42F3-BCC2-C06CE1D76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Layout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0B071-64CF-490D-9D7D-0D2DA8124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IE" dirty="0"/>
              <a:t>Five GUIs each with 5 buttons but different layouts….</a:t>
            </a:r>
          </a:p>
          <a:p>
            <a:r>
              <a:rPr lang="en-IE" dirty="0"/>
              <a:t>Identical buttons, almost identical code, but </a:t>
            </a:r>
            <a:r>
              <a:rPr lang="en-IE" b="1" dirty="0"/>
              <a:t>different layout managers controlling the size and position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808DC8-E13A-4031-9D60-F5DFB62FF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338" y="3354388"/>
            <a:ext cx="3328554" cy="1448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068467-9BEC-4361-BFB8-4AC7BBD033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2262" y="3354388"/>
            <a:ext cx="1824731" cy="1448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C940B5-52AA-4EEA-B00A-6BFF10631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338" y="5194300"/>
            <a:ext cx="8077200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9A126B-9C8E-4307-97B6-DBADD44AD9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6600" y="3354388"/>
            <a:ext cx="4098800" cy="1448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7EC61B-3C74-4346-8F68-0FF3E250E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4255" y="5192560"/>
            <a:ext cx="2219741" cy="1448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31533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421E5-11D4-4911-8445-D75671803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Layout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ED022-4577-4B6A-A62C-5C3203F51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i="1" dirty="0"/>
              <a:t>Layout management is the process of determining the size and position of components.</a:t>
            </a:r>
            <a:r>
              <a:rPr lang="en-GB" altLang="en-US" dirty="0"/>
              <a:t> </a:t>
            </a:r>
          </a:p>
          <a:p>
            <a:endParaRPr lang="en-GB" altLang="en-US" dirty="0"/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en-GB" altLang="en-US" dirty="0"/>
              <a:t> By default, each container has a </a:t>
            </a:r>
            <a:r>
              <a:rPr lang="en-GB" altLang="en-US" i="1" dirty="0"/>
              <a:t>layout manager</a:t>
            </a:r>
            <a:r>
              <a:rPr lang="en-GB" altLang="en-US" dirty="0"/>
              <a:t> -- an object that performs layout management for the components within the container. </a:t>
            </a:r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en-GB" altLang="en-US" dirty="0"/>
              <a:t> Components can provide size and alignment hints to layout managers, but layout managers have the final say on the size and position of those components. 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2759841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86AB9-25D9-4905-A4A1-164E15477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Layout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B81CA-ED54-4B85-A0F4-FBD3ED7A6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en-GB" altLang="en-US" dirty="0"/>
              <a:t>The Java platform supplies five commonly used layout managers: </a:t>
            </a:r>
            <a:r>
              <a:rPr lang="en-GB" altLang="en-US" dirty="0" err="1">
                <a:latin typeface="Courier New" panose="02070309020205020404" pitchFamily="49" charset="0"/>
              </a:rPr>
              <a:t>BorderLayout</a:t>
            </a:r>
            <a:r>
              <a:rPr lang="en-GB" altLang="en-US" dirty="0">
                <a:latin typeface="Courier New" panose="02070309020205020404" pitchFamily="49" charset="0"/>
              </a:rPr>
              <a:t>, </a:t>
            </a:r>
            <a:r>
              <a:rPr lang="en-GB" altLang="en-US" dirty="0" err="1">
                <a:latin typeface="Courier New" panose="02070309020205020404" pitchFamily="49" charset="0"/>
              </a:rPr>
              <a:t>BoxLayout</a:t>
            </a:r>
            <a:r>
              <a:rPr lang="en-GB" altLang="en-US" dirty="0">
                <a:latin typeface="Courier New" panose="02070309020205020404" pitchFamily="49" charset="0"/>
              </a:rPr>
              <a:t>, </a:t>
            </a:r>
            <a:r>
              <a:rPr lang="en-GB" altLang="en-US" dirty="0" err="1">
                <a:latin typeface="Courier New" panose="02070309020205020404" pitchFamily="49" charset="0"/>
              </a:rPr>
              <a:t>FlowLayout</a:t>
            </a:r>
            <a:r>
              <a:rPr lang="en-GB" altLang="en-US" dirty="0">
                <a:latin typeface="Courier New" panose="02070309020205020404" pitchFamily="49" charset="0"/>
              </a:rPr>
              <a:t>, </a:t>
            </a:r>
            <a:r>
              <a:rPr lang="en-GB" altLang="en-US" dirty="0" err="1">
                <a:latin typeface="Courier New" panose="02070309020205020404" pitchFamily="49" charset="0"/>
              </a:rPr>
              <a:t>GridBagLayout</a:t>
            </a:r>
            <a:r>
              <a:rPr lang="en-GB" altLang="en-US" dirty="0">
                <a:latin typeface="Courier New" panose="02070309020205020404" pitchFamily="49" charset="0"/>
              </a:rPr>
              <a:t>, </a:t>
            </a:r>
            <a:r>
              <a:rPr lang="en-GB" altLang="en-US" dirty="0"/>
              <a:t>and</a:t>
            </a:r>
            <a:r>
              <a:rPr lang="en-GB" altLang="en-US" dirty="0">
                <a:latin typeface="Courier New" panose="02070309020205020404" pitchFamily="49" charset="0"/>
              </a:rPr>
              <a:t> </a:t>
            </a:r>
            <a:r>
              <a:rPr lang="en-GB" altLang="en-US" dirty="0" err="1">
                <a:latin typeface="Courier New" panose="02070309020205020404" pitchFamily="49" charset="0"/>
              </a:rPr>
              <a:t>GridLayout</a:t>
            </a:r>
            <a:r>
              <a:rPr lang="en-GB" altLang="en-US" dirty="0">
                <a:latin typeface="Courier New" panose="02070309020205020404" pitchFamily="49" charset="0"/>
              </a:rPr>
              <a:t>. </a:t>
            </a:r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endParaRPr lang="en-GB" altLang="en-US" dirty="0">
              <a:latin typeface="Courier New" panose="02070309020205020404" pitchFamily="49" charset="0"/>
            </a:endParaRPr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en-GB" altLang="en-US" dirty="0"/>
              <a:t> Generally, you only ever set the layout manager of two types of containers: content panes (Like in a </a:t>
            </a:r>
            <a:r>
              <a:rPr lang="en-GB" altLang="en-US" dirty="0" err="1"/>
              <a:t>Jframe</a:t>
            </a:r>
            <a:r>
              <a:rPr lang="en-GB" altLang="en-US" dirty="0"/>
              <a:t>, which use </a:t>
            </a:r>
            <a:r>
              <a:rPr lang="en-GB" altLang="en-US" dirty="0" err="1"/>
              <a:t>BorderLayout</a:t>
            </a:r>
            <a:r>
              <a:rPr lang="en-GB" altLang="en-US" dirty="0"/>
              <a:t> by default) and </a:t>
            </a:r>
            <a:r>
              <a:rPr lang="en-GB" altLang="en-US" dirty="0" err="1"/>
              <a:t>JPanels</a:t>
            </a:r>
            <a:r>
              <a:rPr lang="en-GB" altLang="en-US" dirty="0"/>
              <a:t> (which use </a:t>
            </a:r>
            <a:r>
              <a:rPr lang="en-GB" altLang="en-US" dirty="0" err="1"/>
              <a:t>FlowLayout</a:t>
            </a:r>
            <a:r>
              <a:rPr lang="en-GB" altLang="en-US" dirty="0"/>
              <a:t> by default). </a:t>
            </a:r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endParaRPr lang="en-GB" altLang="en-US" dirty="0">
              <a:latin typeface="Courier New" panose="02070309020205020404" pitchFamily="49" charset="0"/>
            </a:endParaRPr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en-GB" altLang="en-US" dirty="0">
                <a:latin typeface="Courier New" panose="02070309020205020404" pitchFamily="49" charset="0"/>
              </a:rPr>
              <a:t> </a:t>
            </a:r>
            <a:r>
              <a:rPr lang="en-GB" altLang="en-US" dirty="0"/>
              <a:t>These layout managers are designed for displaying multiple components at once.</a:t>
            </a:r>
            <a:r>
              <a:rPr lang="en-GB" altLang="en-US" dirty="0">
                <a:latin typeface="Courier New" panose="02070309020205020404" pitchFamily="49" charset="0"/>
              </a:rPr>
              <a:t> 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3477109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EC23C-AA88-48CD-8C63-F6DA37CCB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Layout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F2AFB-9BE3-4C68-BF1C-02585CB16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en-GB" altLang="en-US" dirty="0"/>
              <a:t>Whenever you use the add method to put a component in a container, you need to think about the layout manager. </a:t>
            </a:r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endParaRPr lang="en-GB" altLang="en-US" dirty="0"/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en-GB" altLang="en-US" dirty="0"/>
              <a:t> Some layout managers, such as </a:t>
            </a:r>
            <a:r>
              <a:rPr lang="en-GB" altLang="en-US" dirty="0" err="1"/>
              <a:t>BorderLayout</a:t>
            </a:r>
            <a:r>
              <a:rPr lang="en-GB" altLang="en-US" dirty="0"/>
              <a:t>, require you to specify the component's </a:t>
            </a:r>
            <a:r>
              <a:rPr lang="en-GB" altLang="en-US" b="1" dirty="0"/>
              <a:t>relative</a:t>
            </a:r>
            <a:r>
              <a:rPr lang="en-GB" altLang="en-US" dirty="0"/>
              <a:t> position in the container, using an </a:t>
            </a:r>
            <a:r>
              <a:rPr lang="en-GB" altLang="en-US" b="1" dirty="0"/>
              <a:t>additional argument</a:t>
            </a:r>
            <a:r>
              <a:rPr lang="en-GB" altLang="en-US" dirty="0"/>
              <a:t> with the add method. </a:t>
            </a:r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endParaRPr lang="en-GB" altLang="en-US" dirty="0"/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en-GB" altLang="en-US" dirty="0"/>
              <a:t> Occasionally, a layout manager such as </a:t>
            </a:r>
            <a:r>
              <a:rPr lang="en-GB" altLang="en-US" dirty="0" err="1"/>
              <a:t>GridBagLayout</a:t>
            </a:r>
            <a:r>
              <a:rPr lang="en-GB" altLang="en-US" dirty="0"/>
              <a:t> requires elaborate setup procedures. Many layout managers, however, simply place components based on the order they were added to their container. 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541559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757BD-608B-4BBD-AE12-B7320FA6C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Border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FC147-B873-4843-8075-86E9AB0DC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en-GB" altLang="en-US" dirty="0" err="1"/>
              <a:t>BorderLayout</a:t>
            </a:r>
            <a:r>
              <a:rPr lang="en-GB" altLang="en-US" dirty="0"/>
              <a:t> is the default layout manager for every content pane</a:t>
            </a:r>
          </a:p>
          <a:p>
            <a:pPr marL="0" indent="0">
              <a:spcBef>
                <a:spcPts val="500"/>
              </a:spcBef>
              <a:spcAft>
                <a:spcPts val="500"/>
              </a:spcAft>
              <a:buNone/>
            </a:pPr>
            <a:endParaRPr lang="en-GB" altLang="en-US" dirty="0"/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en-GB" altLang="en-US" dirty="0"/>
              <a:t> The content pane is the main container in all frames, applets, and dialogs</a:t>
            </a:r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endParaRPr lang="en-GB" altLang="en-US" dirty="0"/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en-GB" altLang="en-US" dirty="0"/>
              <a:t> A </a:t>
            </a:r>
            <a:r>
              <a:rPr lang="en-GB" altLang="en-US" dirty="0" err="1"/>
              <a:t>BorderLayout</a:t>
            </a:r>
            <a:r>
              <a:rPr lang="en-GB" altLang="en-US" dirty="0"/>
              <a:t> has five areas available to hold components: north, south, east, west, and centre </a:t>
            </a:r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endParaRPr lang="en-GB" altLang="en-US" dirty="0"/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en-GB" altLang="en-US" dirty="0"/>
              <a:t> All extra space is placed in the centre area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6488392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5AF54-A8AB-4C70-BC60-97D6DBABE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Border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7B593-0655-4C7E-9F7C-7A26904FF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en-GB" altLang="en-US" dirty="0"/>
              <a:t>If you enlarge the window, the </a:t>
            </a:r>
            <a:r>
              <a:rPr lang="en-GB" altLang="en-US" dirty="0" err="1"/>
              <a:t>center</a:t>
            </a:r>
            <a:r>
              <a:rPr lang="en-GB" altLang="en-US" dirty="0"/>
              <a:t> area gets as much of the available space as possible. </a:t>
            </a:r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endParaRPr lang="en-GB" altLang="en-US" dirty="0"/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en-GB" altLang="en-US" dirty="0"/>
              <a:t> The other areas expand only as much as necessary to fill all available space. </a:t>
            </a:r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endParaRPr lang="en-GB" altLang="en-US" dirty="0"/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en-GB" altLang="en-US" dirty="0"/>
              <a:t> Often, a container uses only one or two of the areas of the </a:t>
            </a:r>
            <a:r>
              <a:rPr lang="en-GB" altLang="en-US" dirty="0" err="1"/>
              <a:t>BorderLayout</a:t>
            </a:r>
            <a:r>
              <a:rPr lang="en-GB" altLang="en-US" dirty="0"/>
              <a:t> -- just the </a:t>
            </a:r>
            <a:r>
              <a:rPr lang="en-GB" altLang="en-US" dirty="0" err="1"/>
              <a:t>center</a:t>
            </a:r>
            <a:r>
              <a:rPr lang="en-GB" altLang="en-US" dirty="0"/>
              <a:t>, or </a:t>
            </a:r>
            <a:r>
              <a:rPr lang="en-GB" altLang="en-US" dirty="0" err="1"/>
              <a:t>center</a:t>
            </a:r>
            <a:r>
              <a:rPr lang="en-GB" altLang="en-US" dirty="0"/>
              <a:t> and south, for example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8014820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9017D-A22A-4011-BFA1-DB18CE1B9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Grid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453C9-6910-47E8-B9D6-8803E6A1F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Tx/>
              <a:buChar char="•"/>
            </a:pPr>
            <a:r>
              <a:rPr lang="en-US" altLang="en-US" dirty="0" err="1">
                <a:latin typeface="Arial Unicode MS" panose="020B0604020202020204" pitchFamily="34" charset="-128"/>
              </a:rPr>
              <a:t>GridLayout</a:t>
            </a:r>
            <a:r>
              <a:rPr lang="en-US" altLang="en-US" dirty="0"/>
              <a:t> simply makes a bunch of components equal in size and displays them in the requested number of rows and columns</a:t>
            </a:r>
          </a:p>
          <a:p>
            <a:pPr>
              <a:buFontTx/>
              <a:buChar char="•"/>
            </a:pPr>
            <a:endParaRPr lang="en-US" altLang="en-US" dirty="0"/>
          </a:p>
          <a:p>
            <a:pPr>
              <a:buFontTx/>
              <a:buChar char="•"/>
            </a:pPr>
            <a:r>
              <a:rPr lang="en-US" altLang="en-US" dirty="0"/>
              <a:t> A </a:t>
            </a:r>
            <a:r>
              <a:rPr lang="en-US" altLang="en-US" dirty="0" err="1">
                <a:latin typeface="Arial Unicode MS" panose="020B0604020202020204" pitchFamily="34" charset="-128"/>
              </a:rPr>
              <a:t>GridLayout</a:t>
            </a:r>
            <a:r>
              <a:rPr lang="en-US" altLang="en-US" dirty="0"/>
              <a:t> places components in a grid of cells</a:t>
            </a:r>
          </a:p>
          <a:p>
            <a:pPr>
              <a:buFontTx/>
              <a:buChar char="•"/>
            </a:pPr>
            <a:endParaRPr lang="en-US" altLang="en-US" dirty="0"/>
          </a:p>
          <a:p>
            <a:pPr>
              <a:buFontTx/>
              <a:buChar char="•"/>
            </a:pPr>
            <a:r>
              <a:rPr lang="en-US" altLang="en-US" dirty="0"/>
              <a:t> Each component takes all the available space within its cell, and each cell is exactly the same size.</a:t>
            </a:r>
          </a:p>
          <a:p>
            <a:pPr>
              <a:buFontTx/>
              <a:buChar char="•"/>
            </a:pPr>
            <a:endParaRPr lang="en-US" altLang="en-US" dirty="0"/>
          </a:p>
          <a:p>
            <a:pPr>
              <a:buFontTx/>
              <a:buChar char="•"/>
            </a:pPr>
            <a:r>
              <a:rPr lang="en-US" altLang="en-US" dirty="0"/>
              <a:t> If you resize the </a:t>
            </a:r>
            <a:r>
              <a:rPr lang="en-US" altLang="en-US" dirty="0" err="1">
                <a:latin typeface="Arial Unicode MS" panose="020B0604020202020204" pitchFamily="34" charset="-128"/>
              </a:rPr>
              <a:t>GridLayout</a:t>
            </a:r>
            <a:r>
              <a:rPr lang="en-US" altLang="en-US" dirty="0"/>
              <a:t> window, you'll see that the </a:t>
            </a:r>
            <a:r>
              <a:rPr lang="en-US" altLang="en-US" dirty="0" err="1">
                <a:latin typeface="Arial Unicode MS" panose="020B0604020202020204" pitchFamily="34" charset="-128"/>
              </a:rPr>
              <a:t>GridLayout</a:t>
            </a:r>
            <a:r>
              <a:rPr lang="en-US" altLang="en-US" dirty="0"/>
              <a:t> changes the cell size so that the cells are as large as possible, given the space available to the container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2718212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0AA2F-BD25-49E5-AF69-16C273450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Box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97180-59D3-41C0-A30A-E3ADE77B3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 err="1">
                <a:latin typeface="Arial Unicode MS" panose="020B0604020202020204" pitchFamily="34" charset="-128"/>
              </a:rPr>
              <a:t>BoxLayout</a:t>
            </a:r>
            <a:r>
              <a:rPr lang="en-US" altLang="en-US" dirty="0"/>
              <a:t> puts components in a single row or column</a:t>
            </a:r>
          </a:p>
          <a:p>
            <a:pPr>
              <a:buFontTx/>
              <a:buChar char="•"/>
            </a:pPr>
            <a:endParaRPr lang="en-US" altLang="en-US" dirty="0"/>
          </a:p>
          <a:p>
            <a:pPr>
              <a:buFontTx/>
              <a:buChar char="•"/>
            </a:pPr>
            <a:r>
              <a:rPr lang="en-US" altLang="en-US" dirty="0"/>
              <a:t> It respects the components' requested maximum sizes, and also lets you align components</a:t>
            </a:r>
          </a:p>
          <a:p>
            <a:pPr>
              <a:buFontTx/>
              <a:buChar char="•"/>
            </a:pPr>
            <a:endParaRPr lang="en-US" altLang="en-US" dirty="0"/>
          </a:p>
          <a:p>
            <a:pPr>
              <a:buFontTx/>
              <a:buChar char="•"/>
            </a:pPr>
            <a:r>
              <a:rPr lang="en-US" altLang="en-US" dirty="0"/>
              <a:t> </a:t>
            </a:r>
            <a:r>
              <a:rPr lang="en-US" altLang="en-US" dirty="0" err="1">
                <a:latin typeface="Arial Unicode MS" panose="020B0604020202020204" pitchFamily="34" charset="-128"/>
              </a:rPr>
              <a:t>BoxLayout</a:t>
            </a:r>
            <a:r>
              <a:rPr lang="en-US" altLang="en-US" dirty="0"/>
              <a:t> either stacks its components on top of each other (with the first component at the top) or places them in a tight row from left to right -- your choice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0019798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E1816-86CD-4197-85AC-530CEB96B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Flow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AEB6D-EE48-4CE5-AC69-83916C5CF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en-GB" altLang="en-US" dirty="0" err="1"/>
              <a:t>FlowLayout</a:t>
            </a:r>
            <a:r>
              <a:rPr lang="en-GB" altLang="en-US" dirty="0"/>
              <a:t> is the default layout manager for every </a:t>
            </a:r>
            <a:r>
              <a:rPr lang="en-GB" altLang="en-US" dirty="0" err="1"/>
              <a:t>JPanel</a:t>
            </a:r>
            <a:endParaRPr lang="en-GB" altLang="en-US" dirty="0"/>
          </a:p>
          <a:p>
            <a:pPr>
              <a:spcBef>
                <a:spcPts val="500"/>
              </a:spcBef>
              <a:spcAft>
                <a:spcPts val="500"/>
              </a:spcAft>
            </a:pPr>
            <a:endParaRPr lang="en-GB" altLang="en-US" dirty="0"/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en-GB" altLang="en-US" dirty="0" err="1"/>
              <a:t>FlowLayout</a:t>
            </a:r>
            <a:r>
              <a:rPr lang="en-GB" altLang="en-US" dirty="0"/>
              <a:t> puts components in a row, sized at their preferred size</a:t>
            </a:r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endParaRPr lang="en-GB" altLang="en-US" dirty="0"/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en-GB" altLang="en-US" dirty="0"/>
              <a:t> If the horizontal space in the container is too small to put all the components in one row, </a:t>
            </a:r>
            <a:r>
              <a:rPr lang="en-GB" altLang="en-US" dirty="0" err="1"/>
              <a:t>FlowLayout</a:t>
            </a:r>
            <a:r>
              <a:rPr lang="en-GB" altLang="en-US" dirty="0"/>
              <a:t> uses multiple rows</a:t>
            </a:r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endParaRPr lang="en-GB" altLang="en-US" dirty="0"/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en-GB" altLang="en-US" dirty="0"/>
              <a:t> Within each row, components are </a:t>
            </a:r>
            <a:r>
              <a:rPr lang="en-GB" altLang="en-US" dirty="0" err="1"/>
              <a:t>centered</a:t>
            </a:r>
            <a:r>
              <a:rPr lang="en-GB" altLang="en-US" dirty="0"/>
              <a:t> (the default), left-aligned, or right-aligned as specified when the </a:t>
            </a:r>
            <a:r>
              <a:rPr lang="en-GB" altLang="en-US" dirty="0" err="1"/>
              <a:t>FlowLayout</a:t>
            </a:r>
            <a:r>
              <a:rPr lang="en-GB" altLang="en-US" dirty="0"/>
              <a:t> is created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0809968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4BD18-E542-4B98-B08A-CB937B45C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err="1"/>
              <a:t>GridBox</a:t>
            </a:r>
            <a:r>
              <a:rPr lang="en-IE" dirty="0"/>
              <a:t>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901A2-602C-4048-B6B4-0B6F3E840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Tx/>
              <a:buChar char="•"/>
            </a:pPr>
            <a:r>
              <a:rPr lang="en-US" altLang="en-US" dirty="0" err="1">
                <a:latin typeface="Arial Unicode MS" panose="020B0604020202020204" pitchFamily="34" charset="-128"/>
              </a:rPr>
              <a:t>GridBagLayout</a:t>
            </a:r>
            <a:r>
              <a:rPr lang="en-US" altLang="en-US" dirty="0"/>
              <a:t> is the most sophisticated, flexible layout manager the Java platform provides</a:t>
            </a:r>
          </a:p>
          <a:p>
            <a:pPr>
              <a:buFontTx/>
              <a:buChar char="•"/>
            </a:pPr>
            <a:endParaRPr lang="en-US" altLang="en-US" dirty="0"/>
          </a:p>
          <a:p>
            <a:pPr>
              <a:buFontTx/>
              <a:buChar char="•"/>
            </a:pPr>
            <a:r>
              <a:rPr lang="en-US" altLang="en-US" dirty="0"/>
              <a:t> It aligns components by placing them within a grid of cells, allowing some components to span more than one cell</a:t>
            </a:r>
          </a:p>
          <a:p>
            <a:pPr>
              <a:buFontTx/>
              <a:buChar char="•"/>
            </a:pPr>
            <a:endParaRPr lang="en-US" altLang="en-US" dirty="0"/>
          </a:p>
          <a:p>
            <a:pPr>
              <a:buFontTx/>
              <a:buChar char="•"/>
            </a:pPr>
            <a:r>
              <a:rPr lang="en-US" altLang="en-US" dirty="0"/>
              <a:t> The rows in the grid aren't necessarily all the same height; similarly, grid columns can have different widths</a:t>
            </a:r>
          </a:p>
          <a:p>
            <a:pPr>
              <a:buFontTx/>
              <a:buChar char="•"/>
            </a:pPr>
            <a:endParaRPr lang="en-US" altLang="en-US" dirty="0"/>
          </a:p>
          <a:p>
            <a:pPr>
              <a:buFontTx/>
              <a:buChar char="•"/>
            </a:pPr>
            <a:r>
              <a:rPr lang="en-US" altLang="en-US" dirty="0">
                <a:latin typeface="Arial Unicode MS" panose="020B0604020202020204" pitchFamily="34" charset="-128"/>
              </a:rPr>
              <a:t> </a:t>
            </a:r>
            <a:r>
              <a:rPr lang="en-US" altLang="en-US" dirty="0" err="1">
                <a:latin typeface="Arial Unicode MS" panose="020B0604020202020204" pitchFamily="34" charset="-128"/>
              </a:rPr>
              <a:t>GridBagLayout</a:t>
            </a:r>
            <a:r>
              <a:rPr lang="en-US" altLang="en-US" dirty="0"/>
              <a:t> places components in rectangles (cells) in a grid, and then uses the components' preferred sizes to determine how big the cells should be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338530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1993</TotalTime>
  <Words>1534</Words>
  <Application>Microsoft Office PowerPoint</Application>
  <PresentationFormat>Widescreen</PresentationFormat>
  <Paragraphs>182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 Unicode MS</vt:lpstr>
      <vt:lpstr>Arial</vt:lpstr>
      <vt:lpstr>Calibri</vt:lpstr>
      <vt:lpstr>Calibri Light</vt:lpstr>
      <vt:lpstr>Courier New</vt:lpstr>
      <vt:lpstr>Times New Roman</vt:lpstr>
      <vt:lpstr>Office Theme</vt:lpstr>
      <vt:lpstr>Software Development 3</vt:lpstr>
      <vt:lpstr>Graphical User Interfaces</vt:lpstr>
      <vt:lpstr>Swing Overview</vt:lpstr>
      <vt:lpstr>Creating a window</vt:lpstr>
      <vt:lpstr>Components</vt:lpstr>
      <vt:lpstr>Containers</vt:lpstr>
      <vt:lpstr>Abstract Windowing Toolkit (AWT)</vt:lpstr>
      <vt:lpstr>Differences between AWT and Swing</vt:lpstr>
      <vt:lpstr>Example</vt:lpstr>
      <vt:lpstr>Importing Swing and AWT</vt:lpstr>
      <vt:lpstr>Top Level Containers</vt:lpstr>
      <vt:lpstr>Top Level Containers</vt:lpstr>
      <vt:lpstr>Buttons</vt:lpstr>
      <vt:lpstr>Buttons</vt:lpstr>
      <vt:lpstr>Button Layout</vt:lpstr>
      <vt:lpstr>Event Driven Programming</vt:lpstr>
      <vt:lpstr>(Some) Listener Types</vt:lpstr>
      <vt:lpstr>(Some) Listener Types</vt:lpstr>
      <vt:lpstr>Exercise</vt:lpstr>
      <vt:lpstr>Exercise</vt:lpstr>
      <vt:lpstr>java.awt.color;</vt:lpstr>
      <vt:lpstr>Exercise</vt:lpstr>
      <vt:lpstr>Exercise</vt:lpstr>
      <vt:lpstr>Layout Management</vt:lpstr>
      <vt:lpstr>Layout Management</vt:lpstr>
      <vt:lpstr>Layout Management</vt:lpstr>
      <vt:lpstr>Layout Management</vt:lpstr>
      <vt:lpstr>Border Layout</vt:lpstr>
      <vt:lpstr>Border Layout</vt:lpstr>
      <vt:lpstr>Grid Layout</vt:lpstr>
      <vt:lpstr>Box Layout</vt:lpstr>
      <vt:lpstr>Flow Layout</vt:lpstr>
      <vt:lpstr>GridBox Layout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Development for Connected Devices 2</dc:title>
  <dc:creator>CURRAN, MARTINA</dc:creator>
  <cp:lastModifiedBy>CURRAN, MARTINA</cp:lastModifiedBy>
  <cp:revision>22</cp:revision>
  <dcterms:created xsi:type="dcterms:W3CDTF">2019-09-16T13:54:51Z</dcterms:created>
  <dcterms:modified xsi:type="dcterms:W3CDTF">2019-09-17T23:09:04Z</dcterms:modified>
</cp:coreProperties>
</file>