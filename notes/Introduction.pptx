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3" r:id="rId3"/>
    <p:sldId id="261" r:id="rId4"/>
    <p:sldId id="257" r:id="rId5"/>
    <p:sldId id="262" r:id="rId6"/>
    <p:sldId id="272" r:id="rId7"/>
    <p:sldId id="276" r:id="rId8"/>
    <p:sldId id="278" r:id="rId9"/>
    <p:sldId id="277" r:id="rId10"/>
    <p:sldId id="279" r:id="rId11"/>
    <p:sldId id="280" r:id="rId12"/>
    <p:sldId id="281" r:id="rId13"/>
    <p:sldId id="282" r:id="rId14"/>
    <p:sldId id="283"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034" autoAdjust="0"/>
    <p:restoredTop sz="94660"/>
  </p:normalViewPr>
  <p:slideViewPr>
    <p:cSldViewPr snapToGrid="0">
      <p:cViewPr varScale="1">
        <p:scale>
          <a:sx n="68" d="100"/>
          <a:sy n="68" d="100"/>
        </p:scale>
        <p:origin x="57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11678-2D86-4DAE-847A-55B8AAA65B8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E"/>
          </a:p>
        </p:txBody>
      </p:sp>
      <p:sp>
        <p:nvSpPr>
          <p:cNvPr id="3" name="Subtitle 2">
            <a:extLst>
              <a:ext uri="{FF2B5EF4-FFF2-40B4-BE49-F238E27FC236}">
                <a16:creationId xmlns:a16="http://schemas.microsoft.com/office/drawing/2014/main" id="{6641B2CF-975D-4351-9694-6F1AFAA445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E"/>
          </a:p>
        </p:txBody>
      </p:sp>
      <p:sp>
        <p:nvSpPr>
          <p:cNvPr id="4" name="Date Placeholder 3">
            <a:extLst>
              <a:ext uri="{FF2B5EF4-FFF2-40B4-BE49-F238E27FC236}">
                <a16:creationId xmlns:a16="http://schemas.microsoft.com/office/drawing/2014/main" id="{896B876B-2BBD-4769-833E-D503374BB544}"/>
              </a:ext>
            </a:extLst>
          </p:cNvPr>
          <p:cNvSpPr>
            <a:spLocks noGrp="1"/>
          </p:cNvSpPr>
          <p:nvPr>
            <p:ph type="dt" sz="half" idx="10"/>
          </p:nvPr>
        </p:nvSpPr>
        <p:spPr/>
        <p:txBody>
          <a:bodyPr/>
          <a:lstStyle/>
          <a:p>
            <a:fld id="{D185572E-433B-4C3C-9216-427A579344CD}" type="datetimeFigureOut">
              <a:rPr lang="en-IE" smtClean="0"/>
              <a:t>13/09/2020</a:t>
            </a:fld>
            <a:endParaRPr lang="en-IE"/>
          </a:p>
        </p:txBody>
      </p:sp>
      <p:sp>
        <p:nvSpPr>
          <p:cNvPr id="5" name="Footer Placeholder 4">
            <a:extLst>
              <a:ext uri="{FF2B5EF4-FFF2-40B4-BE49-F238E27FC236}">
                <a16:creationId xmlns:a16="http://schemas.microsoft.com/office/drawing/2014/main" id="{BC502A31-A755-4B89-9E8A-DC2074EA48A3}"/>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264F5046-4908-4092-97DA-BB710C0592D4}"/>
              </a:ext>
            </a:extLst>
          </p:cNvPr>
          <p:cNvSpPr>
            <a:spLocks noGrp="1"/>
          </p:cNvSpPr>
          <p:nvPr>
            <p:ph type="sldNum" sz="quarter" idx="12"/>
          </p:nvPr>
        </p:nvSpPr>
        <p:spPr/>
        <p:txBody>
          <a:bodyPr/>
          <a:lstStyle/>
          <a:p>
            <a:fld id="{C4FE6887-6153-4429-AEB1-AABFEB6BB666}" type="slidenum">
              <a:rPr lang="en-IE" smtClean="0"/>
              <a:t>‹#›</a:t>
            </a:fld>
            <a:endParaRPr lang="en-IE"/>
          </a:p>
        </p:txBody>
      </p:sp>
    </p:spTree>
    <p:extLst>
      <p:ext uri="{BB962C8B-B14F-4D97-AF65-F5344CB8AC3E}">
        <p14:creationId xmlns:p14="http://schemas.microsoft.com/office/powerpoint/2010/main" val="31657171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299EF-45DF-43CB-B92F-7BBD6ACAAC73}"/>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4546D277-84F6-428A-B396-8687052ECA4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8013A558-0664-448D-BA15-FCA859ADC2D7}"/>
              </a:ext>
            </a:extLst>
          </p:cNvPr>
          <p:cNvSpPr>
            <a:spLocks noGrp="1"/>
          </p:cNvSpPr>
          <p:nvPr>
            <p:ph type="dt" sz="half" idx="10"/>
          </p:nvPr>
        </p:nvSpPr>
        <p:spPr/>
        <p:txBody>
          <a:bodyPr/>
          <a:lstStyle/>
          <a:p>
            <a:fld id="{D185572E-433B-4C3C-9216-427A579344CD}" type="datetimeFigureOut">
              <a:rPr lang="en-IE" smtClean="0"/>
              <a:t>13/09/2020</a:t>
            </a:fld>
            <a:endParaRPr lang="en-IE"/>
          </a:p>
        </p:txBody>
      </p:sp>
      <p:sp>
        <p:nvSpPr>
          <p:cNvPr id="5" name="Footer Placeholder 4">
            <a:extLst>
              <a:ext uri="{FF2B5EF4-FFF2-40B4-BE49-F238E27FC236}">
                <a16:creationId xmlns:a16="http://schemas.microsoft.com/office/drawing/2014/main" id="{D7BB2868-56D3-4FDB-8897-19830FC28E24}"/>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8FC4A271-070A-4321-9A04-B951AC6323B3}"/>
              </a:ext>
            </a:extLst>
          </p:cNvPr>
          <p:cNvSpPr>
            <a:spLocks noGrp="1"/>
          </p:cNvSpPr>
          <p:nvPr>
            <p:ph type="sldNum" sz="quarter" idx="12"/>
          </p:nvPr>
        </p:nvSpPr>
        <p:spPr/>
        <p:txBody>
          <a:bodyPr/>
          <a:lstStyle/>
          <a:p>
            <a:fld id="{C4FE6887-6153-4429-AEB1-AABFEB6BB666}" type="slidenum">
              <a:rPr lang="en-IE" smtClean="0"/>
              <a:t>‹#›</a:t>
            </a:fld>
            <a:endParaRPr lang="en-IE"/>
          </a:p>
        </p:txBody>
      </p:sp>
    </p:spTree>
    <p:extLst>
      <p:ext uri="{BB962C8B-B14F-4D97-AF65-F5344CB8AC3E}">
        <p14:creationId xmlns:p14="http://schemas.microsoft.com/office/powerpoint/2010/main" val="9273900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2AB5C-EBFD-4E56-8963-D648BF2B1F1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E"/>
          </a:p>
        </p:txBody>
      </p:sp>
      <p:sp>
        <p:nvSpPr>
          <p:cNvPr id="3" name="Text Placeholder 2">
            <a:extLst>
              <a:ext uri="{FF2B5EF4-FFF2-40B4-BE49-F238E27FC236}">
                <a16:creationId xmlns:a16="http://schemas.microsoft.com/office/drawing/2014/main" id="{BB6890B5-7649-4B23-828C-C28C84C7FAD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6175F4E-409A-4954-899A-0C545322D559}"/>
              </a:ext>
            </a:extLst>
          </p:cNvPr>
          <p:cNvSpPr>
            <a:spLocks noGrp="1"/>
          </p:cNvSpPr>
          <p:nvPr>
            <p:ph type="dt" sz="half" idx="10"/>
          </p:nvPr>
        </p:nvSpPr>
        <p:spPr/>
        <p:txBody>
          <a:bodyPr/>
          <a:lstStyle/>
          <a:p>
            <a:fld id="{D185572E-433B-4C3C-9216-427A579344CD}" type="datetimeFigureOut">
              <a:rPr lang="en-IE" smtClean="0"/>
              <a:t>13/09/2020</a:t>
            </a:fld>
            <a:endParaRPr lang="en-IE"/>
          </a:p>
        </p:txBody>
      </p:sp>
      <p:sp>
        <p:nvSpPr>
          <p:cNvPr id="5" name="Footer Placeholder 4">
            <a:extLst>
              <a:ext uri="{FF2B5EF4-FFF2-40B4-BE49-F238E27FC236}">
                <a16:creationId xmlns:a16="http://schemas.microsoft.com/office/drawing/2014/main" id="{E5E4AC6F-9ECE-48D8-8ABD-54D5DB0B64B2}"/>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0DC46D47-CB26-4D81-897F-F840B153F210}"/>
              </a:ext>
            </a:extLst>
          </p:cNvPr>
          <p:cNvSpPr>
            <a:spLocks noGrp="1"/>
          </p:cNvSpPr>
          <p:nvPr>
            <p:ph type="sldNum" sz="quarter" idx="12"/>
          </p:nvPr>
        </p:nvSpPr>
        <p:spPr/>
        <p:txBody>
          <a:bodyPr/>
          <a:lstStyle/>
          <a:p>
            <a:fld id="{C4FE6887-6153-4429-AEB1-AABFEB6BB666}" type="slidenum">
              <a:rPr lang="en-IE" smtClean="0"/>
              <a:t>‹#›</a:t>
            </a:fld>
            <a:endParaRPr lang="en-IE"/>
          </a:p>
        </p:txBody>
      </p:sp>
    </p:spTree>
    <p:extLst>
      <p:ext uri="{BB962C8B-B14F-4D97-AF65-F5344CB8AC3E}">
        <p14:creationId xmlns:p14="http://schemas.microsoft.com/office/powerpoint/2010/main" val="40678959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116C9-C584-4BDD-88DF-DDC3FCE43272}"/>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FE90686E-1BD6-4FC9-BE5C-94C3CC27C7E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a:extLst>
              <a:ext uri="{FF2B5EF4-FFF2-40B4-BE49-F238E27FC236}">
                <a16:creationId xmlns:a16="http://schemas.microsoft.com/office/drawing/2014/main" id="{8DF83F51-9A68-42D5-B79F-2CEB32173A5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Date Placeholder 4">
            <a:extLst>
              <a:ext uri="{FF2B5EF4-FFF2-40B4-BE49-F238E27FC236}">
                <a16:creationId xmlns:a16="http://schemas.microsoft.com/office/drawing/2014/main" id="{FCABC281-9E06-4C6B-A2D5-2267188F6BF1}"/>
              </a:ext>
            </a:extLst>
          </p:cNvPr>
          <p:cNvSpPr>
            <a:spLocks noGrp="1"/>
          </p:cNvSpPr>
          <p:nvPr>
            <p:ph type="dt" sz="half" idx="10"/>
          </p:nvPr>
        </p:nvSpPr>
        <p:spPr/>
        <p:txBody>
          <a:bodyPr/>
          <a:lstStyle/>
          <a:p>
            <a:fld id="{D185572E-433B-4C3C-9216-427A579344CD}" type="datetimeFigureOut">
              <a:rPr lang="en-IE" smtClean="0"/>
              <a:t>13/09/2020</a:t>
            </a:fld>
            <a:endParaRPr lang="en-IE"/>
          </a:p>
        </p:txBody>
      </p:sp>
      <p:sp>
        <p:nvSpPr>
          <p:cNvPr id="6" name="Footer Placeholder 5">
            <a:extLst>
              <a:ext uri="{FF2B5EF4-FFF2-40B4-BE49-F238E27FC236}">
                <a16:creationId xmlns:a16="http://schemas.microsoft.com/office/drawing/2014/main" id="{146E3BFB-7E00-48D5-849C-CDB782A7AE53}"/>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5207D561-473C-4AC5-928F-29F225D09353}"/>
              </a:ext>
            </a:extLst>
          </p:cNvPr>
          <p:cNvSpPr>
            <a:spLocks noGrp="1"/>
          </p:cNvSpPr>
          <p:nvPr>
            <p:ph type="sldNum" sz="quarter" idx="12"/>
          </p:nvPr>
        </p:nvSpPr>
        <p:spPr/>
        <p:txBody>
          <a:bodyPr/>
          <a:lstStyle/>
          <a:p>
            <a:fld id="{C4FE6887-6153-4429-AEB1-AABFEB6BB666}" type="slidenum">
              <a:rPr lang="en-IE" smtClean="0"/>
              <a:t>‹#›</a:t>
            </a:fld>
            <a:endParaRPr lang="en-IE"/>
          </a:p>
        </p:txBody>
      </p:sp>
    </p:spTree>
    <p:extLst>
      <p:ext uri="{BB962C8B-B14F-4D97-AF65-F5344CB8AC3E}">
        <p14:creationId xmlns:p14="http://schemas.microsoft.com/office/powerpoint/2010/main" val="3854313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7055D-0FF3-4678-B9AE-A46C620B4F7C}"/>
              </a:ext>
            </a:extLst>
          </p:cNvPr>
          <p:cNvSpPr>
            <a:spLocks noGrp="1"/>
          </p:cNvSpPr>
          <p:nvPr>
            <p:ph type="title"/>
          </p:nvPr>
        </p:nvSpPr>
        <p:spPr>
          <a:xfrm>
            <a:off x="839788" y="365125"/>
            <a:ext cx="10515600" cy="1325563"/>
          </a:xfrm>
        </p:spPr>
        <p:txBody>
          <a:bodyPr/>
          <a:lstStyle/>
          <a:p>
            <a:r>
              <a:rPr lang="en-US"/>
              <a:t>Click to edit Master title style</a:t>
            </a:r>
            <a:endParaRPr lang="en-IE"/>
          </a:p>
        </p:txBody>
      </p:sp>
      <p:sp>
        <p:nvSpPr>
          <p:cNvPr id="3" name="Text Placeholder 2">
            <a:extLst>
              <a:ext uri="{FF2B5EF4-FFF2-40B4-BE49-F238E27FC236}">
                <a16:creationId xmlns:a16="http://schemas.microsoft.com/office/drawing/2014/main" id="{79DF3C1A-4C0E-4EB8-96B8-8A8F0F77ABE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1404207-17C4-459A-A3C8-007ED704020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Text Placeholder 4">
            <a:extLst>
              <a:ext uri="{FF2B5EF4-FFF2-40B4-BE49-F238E27FC236}">
                <a16:creationId xmlns:a16="http://schemas.microsoft.com/office/drawing/2014/main" id="{D1BD13C8-58F1-44FB-BDFB-65977225F0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E8CD19A-A846-4C99-8BD3-8911AD26764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7" name="Date Placeholder 6">
            <a:extLst>
              <a:ext uri="{FF2B5EF4-FFF2-40B4-BE49-F238E27FC236}">
                <a16:creationId xmlns:a16="http://schemas.microsoft.com/office/drawing/2014/main" id="{BF5A3DFA-FCA8-403E-8164-3A9F52608162}"/>
              </a:ext>
            </a:extLst>
          </p:cNvPr>
          <p:cNvSpPr>
            <a:spLocks noGrp="1"/>
          </p:cNvSpPr>
          <p:nvPr>
            <p:ph type="dt" sz="half" idx="10"/>
          </p:nvPr>
        </p:nvSpPr>
        <p:spPr/>
        <p:txBody>
          <a:bodyPr/>
          <a:lstStyle/>
          <a:p>
            <a:fld id="{D185572E-433B-4C3C-9216-427A579344CD}" type="datetimeFigureOut">
              <a:rPr lang="en-IE" smtClean="0"/>
              <a:t>13/09/2020</a:t>
            </a:fld>
            <a:endParaRPr lang="en-IE"/>
          </a:p>
        </p:txBody>
      </p:sp>
      <p:sp>
        <p:nvSpPr>
          <p:cNvPr id="8" name="Footer Placeholder 7">
            <a:extLst>
              <a:ext uri="{FF2B5EF4-FFF2-40B4-BE49-F238E27FC236}">
                <a16:creationId xmlns:a16="http://schemas.microsoft.com/office/drawing/2014/main" id="{39CCD9E3-A548-464D-8063-249E902FC38A}"/>
              </a:ext>
            </a:extLst>
          </p:cNvPr>
          <p:cNvSpPr>
            <a:spLocks noGrp="1"/>
          </p:cNvSpPr>
          <p:nvPr>
            <p:ph type="ftr" sz="quarter" idx="11"/>
          </p:nvPr>
        </p:nvSpPr>
        <p:spPr/>
        <p:txBody>
          <a:bodyPr/>
          <a:lstStyle/>
          <a:p>
            <a:endParaRPr lang="en-IE"/>
          </a:p>
        </p:txBody>
      </p:sp>
      <p:sp>
        <p:nvSpPr>
          <p:cNvPr id="9" name="Slide Number Placeholder 8">
            <a:extLst>
              <a:ext uri="{FF2B5EF4-FFF2-40B4-BE49-F238E27FC236}">
                <a16:creationId xmlns:a16="http://schemas.microsoft.com/office/drawing/2014/main" id="{83A65957-7643-4F72-A1FC-14E62C7206A2}"/>
              </a:ext>
            </a:extLst>
          </p:cNvPr>
          <p:cNvSpPr>
            <a:spLocks noGrp="1"/>
          </p:cNvSpPr>
          <p:nvPr>
            <p:ph type="sldNum" sz="quarter" idx="12"/>
          </p:nvPr>
        </p:nvSpPr>
        <p:spPr/>
        <p:txBody>
          <a:bodyPr/>
          <a:lstStyle/>
          <a:p>
            <a:fld id="{C4FE6887-6153-4429-AEB1-AABFEB6BB666}" type="slidenum">
              <a:rPr lang="en-IE" smtClean="0"/>
              <a:t>‹#›</a:t>
            </a:fld>
            <a:endParaRPr lang="en-IE"/>
          </a:p>
        </p:txBody>
      </p:sp>
    </p:spTree>
    <p:extLst>
      <p:ext uri="{BB962C8B-B14F-4D97-AF65-F5344CB8AC3E}">
        <p14:creationId xmlns:p14="http://schemas.microsoft.com/office/powerpoint/2010/main" val="18884664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F6596-C70F-4B23-8192-74234FE2F373}"/>
              </a:ext>
            </a:extLst>
          </p:cNvPr>
          <p:cNvSpPr>
            <a:spLocks noGrp="1"/>
          </p:cNvSpPr>
          <p:nvPr>
            <p:ph type="title"/>
          </p:nvPr>
        </p:nvSpPr>
        <p:spPr/>
        <p:txBody>
          <a:bodyPr/>
          <a:lstStyle/>
          <a:p>
            <a:r>
              <a:rPr lang="en-US"/>
              <a:t>Click to edit Master title style</a:t>
            </a:r>
            <a:endParaRPr lang="en-IE"/>
          </a:p>
        </p:txBody>
      </p:sp>
      <p:sp>
        <p:nvSpPr>
          <p:cNvPr id="3" name="Date Placeholder 2">
            <a:extLst>
              <a:ext uri="{FF2B5EF4-FFF2-40B4-BE49-F238E27FC236}">
                <a16:creationId xmlns:a16="http://schemas.microsoft.com/office/drawing/2014/main" id="{2CCA9698-A2D2-4EA9-BEE3-21DEEB677098}"/>
              </a:ext>
            </a:extLst>
          </p:cNvPr>
          <p:cNvSpPr>
            <a:spLocks noGrp="1"/>
          </p:cNvSpPr>
          <p:nvPr>
            <p:ph type="dt" sz="half" idx="10"/>
          </p:nvPr>
        </p:nvSpPr>
        <p:spPr/>
        <p:txBody>
          <a:bodyPr/>
          <a:lstStyle/>
          <a:p>
            <a:fld id="{D185572E-433B-4C3C-9216-427A579344CD}" type="datetimeFigureOut">
              <a:rPr lang="en-IE" smtClean="0"/>
              <a:t>13/09/2020</a:t>
            </a:fld>
            <a:endParaRPr lang="en-IE"/>
          </a:p>
        </p:txBody>
      </p:sp>
      <p:sp>
        <p:nvSpPr>
          <p:cNvPr id="4" name="Footer Placeholder 3">
            <a:extLst>
              <a:ext uri="{FF2B5EF4-FFF2-40B4-BE49-F238E27FC236}">
                <a16:creationId xmlns:a16="http://schemas.microsoft.com/office/drawing/2014/main" id="{CD97ACFD-DA4F-408B-A623-5B451F27208B}"/>
              </a:ext>
            </a:extLst>
          </p:cNvPr>
          <p:cNvSpPr>
            <a:spLocks noGrp="1"/>
          </p:cNvSpPr>
          <p:nvPr>
            <p:ph type="ftr" sz="quarter" idx="11"/>
          </p:nvPr>
        </p:nvSpPr>
        <p:spPr/>
        <p:txBody>
          <a:bodyPr/>
          <a:lstStyle/>
          <a:p>
            <a:endParaRPr lang="en-IE"/>
          </a:p>
        </p:txBody>
      </p:sp>
      <p:sp>
        <p:nvSpPr>
          <p:cNvPr id="5" name="Slide Number Placeholder 4">
            <a:extLst>
              <a:ext uri="{FF2B5EF4-FFF2-40B4-BE49-F238E27FC236}">
                <a16:creationId xmlns:a16="http://schemas.microsoft.com/office/drawing/2014/main" id="{DF5B1EEC-3EB0-4701-AFE6-AD468C956010}"/>
              </a:ext>
            </a:extLst>
          </p:cNvPr>
          <p:cNvSpPr>
            <a:spLocks noGrp="1"/>
          </p:cNvSpPr>
          <p:nvPr>
            <p:ph type="sldNum" sz="quarter" idx="12"/>
          </p:nvPr>
        </p:nvSpPr>
        <p:spPr/>
        <p:txBody>
          <a:bodyPr/>
          <a:lstStyle/>
          <a:p>
            <a:fld id="{C4FE6887-6153-4429-AEB1-AABFEB6BB666}" type="slidenum">
              <a:rPr lang="en-IE" smtClean="0"/>
              <a:t>‹#›</a:t>
            </a:fld>
            <a:endParaRPr lang="en-IE"/>
          </a:p>
        </p:txBody>
      </p:sp>
    </p:spTree>
    <p:extLst>
      <p:ext uri="{BB962C8B-B14F-4D97-AF65-F5344CB8AC3E}">
        <p14:creationId xmlns:p14="http://schemas.microsoft.com/office/powerpoint/2010/main" val="35944461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A6EEC7-E653-4288-B1A7-C2CAFFA8152C}"/>
              </a:ext>
            </a:extLst>
          </p:cNvPr>
          <p:cNvSpPr>
            <a:spLocks noGrp="1"/>
          </p:cNvSpPr>
          <p:nvPr>
            <p:ph type="dt" sz="half" idx="10"/>
          </p:nvPr>
        </p:nvSpPr>
        <p:spPr/>
        <p:txBody>
          <a:bodyPr/>
          <a:lstStyle/>
          <a:p>
            <a:fld id="{D185572E-433B-4C3C-9216-427A579344CD}" type="datetimeFigureOut">
              <a:rPr lang="en-IE" smtClean="0"/>
              <a:t>13/09/2020</a:t>
            </a:fld>
            <a:endParaRPr lang="en-IE"/>
          </a:p>
        </p:txBody>
      </p:sp>
      <p:sp>
        <p:nvSpPr>
          <p:cNvPr id="3" name="Footer Placeholder 2">
            <a:extLst>
              <a:ext uri="{FF2B5EF4-FFF2-40B4-BE49-F238E27FC236}">
                <a16:creationId xmlns:a16="http://schemas.microsoft.com/office/drawing/2014/main" id="{6D86EFED-B925-4903-9BA0-526E6D60369C}"/>
              </a:ext>
            </a:extLst>
          </p:cNvPr>
          <p:cNvSpPr>
            <a:spLocks noGrp="1"/>
          </p:cNvSpPr>
          <p:nvPr>
            <p:ph type="ftr" sz="quarter" idx="11"/>
          </p:nvPr>
        </p:nvSpPr>
        <p:spPr/>
        <p:txBody>
          <a:bodyPr/>
          <a:lstStyle/>
          <a:p>
            <a:endParaRPr lang="en-IE"/>
          </a:p>
        </p:txBody>
      </p:sp>
      <p:sp>
        <p:nvSpPr>
          <p:cNvPr id="4" name="Slide Number Placeholder 3">
            <a:extLst>
              <a:ext uri="{FF2B5EF4-FFF2-40B4-BE49-F238E27FC236}">
                <a16:creationId xmlns:a16="http://schemas.microsoft.com/office/drawing/2014/main" id="{F6865E58-B2CE-41DD-861C-2220E228D38E}"/>
              </a:ext>
            </a:extLst>
          </p:cNvPr>
          <p:cNvSpPr>
            <a:spLocks noGrp="1"/>
          </p:cNvSpPr>
          <p:nvPr>
            <p:ph type="sldNum" sz="quarter" idx="12"/>
          </p:nvPr>
        </p:nvSpPr>
        <p:spPr/>
        <p:txBody>
          <a:bodyPr/>
          <a:lstStyle/>
          <a:p>
            <a:fld id="{C4FE6887-6153-4429-AEB1-AABFEB6BB666}" type="slidenum">
              <a:rPr lang="en-IE" smtClean="0"/>
              <a:t>‹#›</a:t>
            </a:fld>
            <a:endParaRPr lang="en-IE"/>
          </a:p>
        </p:txBody>
      </p:sp>
    </p:spTree>
    <p:extLst>
      <p:ext uri="{BB962C8B-B14F-4D97-AF65-F5344CB8AC3E}">
        <p14:creationId xmlns:p14="http://schemas.microsoft.com/office/powerpoint/2010/main" val="25908368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7061E-BE60-4B35-9006-7C13398F5D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Content Placeholder 2">
            <a:extLst>
              <a:ext uri="{FF2B5EF4-FFF2-40B4-BE49-F238E27FC236}">
                <a16:creationId xmlns:a16="http://schemas.microsoft.com/office/drawing/2014/main" id="{32F17D56-040E-47CA-8F46-0A16F7E110A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Text Placeholder 3">
            <a:extLst>
              <a:ext uri="{FF2B5EF4-FFF2-40B4-BE49-F238E27FC236}">
                <a16:creationId xmlns:a16="http://schemas.microsoft.com/office/drawing/2014/main" id="{A28EEDAA-7971-4D0F-88CF-DDAC099798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41E7E2D-9D6C-4977-87F1-0C7B116FD374}"/>
              </a:ext>
            </a:extLst>
          </p:cNvPr>
          <p:cNvSpPr>
            <a:spLocks noGrp="1"/>
          </p:cNvSpPr>
          <p:nvPr>
            <p:ph type="dt" sz="half" idx="10"/>
          </p:nvPr>
        </p:nvSpPr>
        <p:spPr/>
        <p:txBody>
          <a:bodyPr/>
          <a:lstStyle/>
          <a:p>
            <a:fld id="{D185572E-433B-4C3C-9216-427A579344CD}" type="datetimeFigureOut">
              <a:rPr lang="en-IE" smtClean="0"/>
              <a:t>13/09/2020</a:t>
            </a:fld>
            <a:endParaRPr lang="en-IE"/>
          </a:p>
        </p:txBody>
      </p:sp>
      <p:sp>
        <p:nvSpPr>
          <p:cNvPr id="6" name="Footer Placeholder 5">
            <a:extLst>
              <a:ext uri="{FF2B5EF4-FFF2-40B4-BE49-F238E27FC236}">
                <a16:creationId xmlns:a16="http://schemas.microsoft.com/office/drawing/2014/main" id="{45F64070-92C5-41D2-92E1-A90384A1C5D4}"/>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6FDA36A9-8D9C-497E-8E13-272C4BF5084F}"/>
              </a:ext>
            </a:extLst>
          </p:cNvPr>
          <p:cNvSpPr>
            <a:spLocks noGrp="1"/>
          </p:cNvSpPr>
          <p:nvPr>
            <p:ph type="sldNum" sz="quarter" idx="12"/>
          </p:nvPr>
        </p:nvSpPr>
        <p:spPr/>
        <p:txBody>
          <a:bodyPr/>
          <a:lstStyle/>
          <a:p>
            <a:fld id="{C4FE6887-6153-4429-AEB1-AABFEB6BB666}" type="slidenum">
              <a:rPr lang="en-IE" smtClean="0"/>
              <a:t>‹#›</a:t>
            </a:fld>
            <a:endParaRPr lang="en-IE"/>
          </a:p>
        </p:txBody>
      </p:sp>
    </p:spTree>
    <p:extLst>
      <p:ext uri="{BB962C8B-B14F-4D97-AF65-F5344CB8AC3E}">
        <p14:creationId xmlns:p14="http://schemas.microsoft.com/office/powerpoint/2010/main" val="28713762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82A43-46DA-492B-9F3B-CCCC16B3D7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Picture Placeholder 2">
            <a:extLst>
              <a:ext uri="{FF2B5EF4-FFF2-40B4-BE49-F238E27FC236}">
                <a16:creationId xmlns:a16="http://schemas.microsoft.com/office/drawing/2014/main" id="{CF9E27B6-2EDE-45AA-9C71-EE637E536E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E"/>
          </a:p>
        </p:txBody>
      </p:sp>
      <p:sp>
        <p:nvSpPr>
          <p:cNvPr id="4" name="Text Placeholder 3">
            <a:extLst>
              <a:ext uri="{FF2B5EF4-FFF2-40B4-BE49-F238E27FC236}">
                <a16:creationId xmlns:a16="http://schemas.microsoft.com/office/drawing/2014/main" id="{469A5422-60E5-4EB9-BA9B-749EAB1ED4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837829-CFAD-444D-9F28-09A1BC8A970E}"/>
              </a:ext>
            </a:extLst>
          </p:cNvPr>
          <p:cNvSpPr>
            <a:spLocks noGrp="1"/>
          </p:cNvSpPr>
          <p:nvPr>
            <p:ph type="dt" sz="half" idx="10"/>
          </p:nvPr>
        </p:nvSpPr>
        <p:spPr/>
        <p:txBody>
          <a:bodyPr/>
          <a:lstStyle/>
          <a:p>
            <a:fld id="{D185572E-433B-4C3C-9216-427A579344CD}" type="datetimeFigureOut">
              <a:rPr lang="en-IE" smtClean="0"/>
              <a:t>13/09/2020</a:t>
            </a:fld>
            <a:endParaRPr lang="en-IE"/>
          </a:p>
        </p:txBody>
      </p:sp>
      <p:sp>
        <p:nvSpPr>
          <p:cNvPr id="6" name="Footer Placeholder 5">
            <a:extLst>
              <a:ext uri="{FF2B5EF4-FFF2-40B4-BE49-F238E27FC236}">
                <a16:creationId xmlns:a16="http://schemas.microsoft.com/office/drawing/2014/main" id="{F7A95C8D-44E8-45E0-92B0-CD0D7D53EEF8}"/>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E31551FF-4C4C-433A-B1F1-B286ADB0856B}"/>
              </a:ext>
            </a:extLst>
          </p:cNvPr>
          <p:cNvSpPr>
            <a:spLocks noGrp="1"/>
          </p:cNvSpPr>
          <p:nvPr>
            <p:ph type="sldNum" sz="quarter" idx="12"/>
          </p:nvPr>
        </p:nvSpPr>
        <p:spPr/>
        <p:txBody>
          <a:bodyPr/>
          <a:lstStyle/>
          <a:p>
            <a:fld id="{C4FE6887-6153-4429-AEB1-AABFEB6BB666}" type="slidenum">
              <a:rPr lang="en-IE" smtClean="0"/>
              <a:t>‹#›</a:t>
            </a:fld>
            <a:endParaRPr lang="en-IE"/>
          </a:p>
        </p:txBody>
      </p:sp>
    </p:spTree>
    <p:extLst>
      <p:ext uri="{BB962C8B-B14F-4D97-AF65-F5344CB8AC3E}">
        <p14:creationId xmlns:p14="http://schemas.microsoft.com/office/powerpoint/2010/main" val="13177481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6684D-CEF2-4F8F-AB87-8998E84FF9A6}"/>
              </a:ext>
            </a:extLst>
          </p:cNvPr>
          <p:cNvSpPr>
            <a:spLocks noGrp="1"/>
          </p:cNvSpPr>
          <p:nvPr>
            <p:ph type="title"/>
          </p:nvPr>
        </p:nvSpPr>
        <p:spPr/>
        <p:txBody>
          <a:bodyPr/>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1D8EDC20-95A1-40ED-A4C8-8014779707B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18B4F649-EEF3-4D9F-9ADA-DAB0EEEC67D8}"/>
              </a:ext>
            </a:extLst>
          </p:cNvPr>
          <p:cNvSpPr>
            <a:spLocks noGrp="1"/>
          </p:cNvSpPr>
          <p:nvPr>
            <p:ph type="dt" sz="half" idx="10"/>
          </p:nvPr>
        </p:nvSpPr>
        <p:spPr/>
        <p:txBody>
          <a:bodyPr/>
          <a:lstStyle/>
          <a:p>
            <a:fld id="{D185572E-433B-4C3C-9216-427A579344CD}" type="datetimeFigureOut">
              <a:rPr lang="en-IE" smtClean="0"/>
              <a:t>13/09/2020</a:t>
            </a:fld>
            <a:endParaRPr lang="en-IE"/>
          </a:p>
        </p:txBody>
      </p:sp>
      <p:sp>
        <p:nvSpPr>
          <p:cNvPr id="5" name="Footer Placeholder 4">
            <a:extLst>
              <a:ext uri="{FF2B5EF4-FFF2-40B4-BE49-F238E27FC236}">
                <a16:creationId xmlns:a16="http://schemas.microsoft.com/office/drawing/2014/main" id="{A7373AD7-B3D6-47F2-86A2-40B9BF3B593E}"/>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9380D4E4-3868-40AF-A75B-C12657A836B2}"/>
              </a:ext>
            </a:extLst>
          </p:cNvPr>
          <p:cNvSpPr>
            <a:spLocks noGrp="1"/>
          </p:cNvSpPr>
          <p:nvPr>
            <p:ph type="sldNum" sz="quarter" idx="12"/>
          </p:nvPr>
        </p:nvSpPr>
        <p:spPr/>
        <p:txBody>
          <a:bodyPr/>
          <a:lstStyle/>
          <a:p>
            <a:fld id="{C4FE6887-6153-4429-AEB1-AABFEB6BB666}" type="slidenum">
              <a:rPr lang="en-IE" smtClean="0"/>
              <a:t>‹#›</a:t>
            </a:fld>
            <a:endParaRPr lang="en-IE"/>
          </a:p>
        </p:txBody>
      </p:sp>
    </p:spTree>
    <p:extLst>
      <p:ext uri="{BB962C8B-B14F-4D97-AF65-F5344CB8AC3E}">
        <p14:creationId xmlns:p14="http://schemas.microsoft.com/office/powerpoint/2010/main" val="26880950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65D7399-0E97-4804-9311-75631F1876F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C4DE05F4-E523-4848-AAB8-4341BEAEEF5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E60F6C01-7D91-432F-B037-5422A2F56E8B}"/>
              </a:ext>
            </a:extLst>
          </p:cNvPr>
          <p:cNvSpPr>
            <a:spLocks noGrp="1"/>
          </p:cNvSpPr>
          <p:nvPr>
            <p:ph type="dt" sz="half" idx="10"/>
          </p:nvPr>
        </p:nvSpPr>
        <p:spPr/>
        <p:txBody>
          <a:bodyPr/>
          <a:lstStyle/>
          <a:p>
            <a:fld id="{D185572E-433B-4C3C-9216-427A579344CD}" type="datetimeFigureOut">
              <a:rPr lang="en-IE" smtClean="0"/>
              <a:t>13/09/2020</a:t>
            </a:fld>
            <a:endParaRPr lang="en-IE"/>
          </a:p>
        </p:txBody>
      </p:sp>
      <p:sp>
        <p:nvSpPr>
          <p:cNvPr id="5" name="Footer Placeholder 4">
            <a:extLst>
              <a:ext uri="{FF2B5EF4-FFF2-40B4-BE49-F238E27FC236}">
                <a16:creationId xmlns:a16="http://schemas.microsoft.com/office/drawing/2014/main" id="{064A7E6F-89F0-42FA-AACC-D211E5F35923}"/>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E892E5C9-5637-46EA-9E55-1C3C132B9DEA}"/>
              </a:ext>
            </a:extLst>
          </p:cNvPr>
          <p:cNvSpPr>
            <a:spLocks noGrp="1"/>
          </p:cNvSpPr>
          <p:nvPr>
            <p:ph type="sldNum" sz="quarter" idx="12"/>
          </p:nvPr>
        </p:nvSpPr>
        <p:spPr/>
        <p:txBody>
          <a:bodyPr/>
          <a:lstStyle/>
          <a:p>
            <a:fld id="{C4FE6887-6153-4429-AEB1-AABFEB6BB666}" type="slidenum">
              <a:rPr lang="en-IE" smtClean="0"/>
              <a:t>‹#›</a:t>
            </a:fld>
            <a:endParaRPr lang="en-IE"/>
          </a:p>
        </p:txBody>
      </p:sp>
    </p:spTree>
    <p:extLst>
      <p:ext uri="{BB962C8B-B14F-4D97-AF65-F5344CB8AC3E}">
        <p14:creationId xmlns:p14="http://schemas.microsoft.com/office/powerpoint/2010/main" val="33712432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B2E40E-CD1F-4D6A-A5C0-6AB99C161A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E"/>
          </a:p>
        </p:txBody>
      </p:sp>
      <p:sp>
        <p:nvSpPr>
          <p:cNvPr id="3" name="Text Placeholder 2">
            <a:extLst>
              <a:ext uri="{FF2B5EF4-FFF2-40B4-BE49-F238E27FC236}">
                <a16:creationId xmlns:a16="http://schemas.microsoft.com/office/drawing/2014/main" id="{04DA7F4A-CFF7-4801-B83C-7281DFA0969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76C708A6-8026-43C5-A6DF-205DA743150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185572E-433B-4C3C-9216-427A579344CD}" type="datetimeFigureOut">
              <a:rPr lang="en-IE" smtClean="0"/>
              <a:t>13/09/2020</a:t>
            </a:fld>
            <a:endParaRPr lang="en-IE"/>
          </a:p>
        </p:txBody>
      </p:sp>
      <p:sp>
        <p:nvSpPr>
          <p:cNvPr id="5" name="Footer Placeholder 4">
            <a:extLst>
              <a:ext uri="{FF2B5EF4-FFF2-40B4-BE49-F238E27FC236}">
                <a16:creationId xmlns:a16="http://schemas.microsoft.com/office/drawing/2014/main" id="{A55F329E-D46A-4C6D-8C77-B38E864120B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E"/>
          </a:p>
        </p:txBody>
      </p:sp>
      <p:sp>
        <p:nvSpPr>
          <p:cNvPr id="6" name="Slide Number Placeholder 5">
            <a:extLst>
              <a:ext uri="{FF2B5EF4-FFF2-40B4-BE49-F238E27FC236}">
                <a16:creationId xmlns:a16="http://schemas.microsoft.com/office/drawing/2014/main" id="{D9C745A8-7D25-4353-B61B-79E8C939FA1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FE6887-6153-4429-AEB1-AABFEB6BB666}" type="slidenum">
              <a:rPr lang="en-IE" smtClean="0"/>
              <a:t>‹#›</a:t>
            </a:fld>
            <a:endParaRPr lang="en-IE"/>
          </a:p>
        </p:txBody>
      </p:sp>
    </p:spTree>
    <p:extLst>
      <p:ext uri="{BB962C8B-B14F-4D97-AF65-F5344CB8AC3E}">
        <p14:creationId xmlns:p14="http://schemas.microsoft.com/office/powerpoint/2010/main" val="17175152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7D82C-2767-4733-92AF-759DBF7BA337}"/>
              </a:ext>
            </a:extLst>
          </p:cNvPr>
          <p:cNvSpPr>
            <a:spLocks noGrp="1"/>
          </p:cNvSpPr>
          <p:nvPr>
            <p:ph type="ctrTitle"/>
          </p:nvPr>
        </p:nvSpPr>
        <p:spPr/>
        <p:txBody>
          <a:bodyPr/>
          <a:lstStyle/>
          <a:p>
            <a:r>
              <a:rPr lang="en-IE" dirty="0"/>
              <a:t>Software Development 3</a:t>
            </a:r>
          </a:p>
        </p:txBody>
      </p:sp>
      <p:sp>
        <p:nvSpPr>
          <p:cNvPr id="3" name="Subtitle 2">
            <a:extLst>
              <a:ext uri="{FF2B5EF4-FFF2-40B4-BE49-F238E27FC236}">
                <a16:creationId xmlns:a16="http://schemas.microsoft.com/office/drawing/2014/main" id="{C3CE9A08-CC23-4E26-9F82-CC9B76F72CBB}"/>
              </a:ext>
            </a:extLst>
          </p:cNvPr>
          <p:cNvSpPr>
            <a:spLocks noGrp="1"/>
          </p:cNvSpPr>
          <p:nvPr>
            <p:ph type="subTitle" idx="1"/>
          </p:nvPr>
        </p:nvSpPr>
        <p:spPr/>
        <p:txBody>
          <a:bodyPr/>
          <a:lstStyle/>
          <a:p>
            <a:r>
              <a:rPr lang="en-IE" dirty="0"/>
              <a:t>Introduction</a:t>
            </a:r>
          </a:p>
        </p:txBody>
      </p:sp>
    </p:spTree>
    <p:extLst>
      <p:ext uri="{BB962C8B-B14F-4D97-AF65-F5344CB8AC3E}">
        <p14:creationId xmlns:p14="http://schemas.microsoft.com/office/powerpoint/2010/main" val="25632654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CFC46-F28D-4240-B111-F2AE72FF4002}"/>
              </a:ext>
            </a:extLst>
          </p:cNvPr>
          <p:cNvSpPr>
            <a:spLocks noGrp="1"/>
          </p:cNvSpPr>
          <p:nvPr>
            <p:ph type="title"/>
          </p:nvPr>
        </p:nvSpPr>
        <p:spPr/>
        <p:txBody>
          <a:bodyPr/>
          <a:lstStyle/>
          <a:p>
            <a:r>
              <a:rPr lang="en-IE" dirty="0"/>
              <a:t>Information</a:t>
            </a:r>
          </a:p>
        </p:txBody>
      </p:sp>
      <p:sp>
        <p:nvSpPr>
          <p:cNvPr id="3" name="Content Placeholder 2">
            <a:extLst>
              <a:ext uri="{FF2B5EF4-FFF2-40B4-BE49-F238E27FC236}">
                <a16:creationId xmlns:a16="http://schemas.microsoft.com/office/drawing/2014/main" id="{7A847B85-55E9-4B03-9A07-87FE93B6E489}"/>
              </a:ext>
            </a:extLst>
          </p:cNvPr>
          <p:cNvSpPr>
            <a:spLocks noGrp="1"/>
          </p:cNvSpPr>
          <p:nvPr>
            <p:ph idx="1"/>
          </p:nvPr>
        </p:nvSpPr>
        <p:spPr/>
        <p:txBody>
          <a:bodyPr/>
          <a:lstStyle/>
          <a:p>
            <a:r>
              <a:rPr lang="en-IE" dirty="0"/>
              <a:t>Martina Curran</a:t>
            </a:r>
          </a:p>
          <a:p>
            <a:r>
              <a:rPr lang="en-IE" dirty="0"/>
              <a:t>Room: W304</a:t>
            </a:r>
          </a:p>
          <a:p>
            <a:r>
              <a:rPr lang="en-IE" dirty="0"/>
              <a:t>Email: mcurran@ait.ie</a:t>
            </a:r>
          </a:p>
        </p:txBody>
      </p:sp>
    </p:spTree>
    <p:extLst>
      <p:ext uri="{BB962C8B-B14F-4D97-AF65-F5344CB8AC3E}">
        <p14:creationId xmlns:p14="http://schemas.microsoft.com/office/powerpoint/2010/main" val="21782065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F86AA-E51B-4389-B9DB-D148FD8225C5}"/>
              </a:ext>
            </a:extLst>
          </p:cNvPr>
          <p:cNvSpPr>
            <a:spLocks noGrp="1"/>
          </p:cNvSpPr>
          <p:nvPr>
            <p:ph type="title"/>
          </p:nvPr>
        </p:nvSpPr>
        <p:spPr/>
        <p:txBody>
          <a:bodyPr/>
          <a:lstStyle/>
          <a:p>
            <a:r>
              <a:rPr lang="en-IE" dirty="0"/>
              <a:t>About this course</a:t>
            </a:r>
          </a:p>
        </p:txBody>
      </p:sp>
      <p:sp>
        <p:nvSpPr>
          <p:cNvPr id="3" name="Content Placeholder 2">
            <a:extLst>
              <a:ext uri="{FF2B5EF4-FFF2-40B4-BE49-F238E27FC236}">
                <a16:creationId xmlns:a16="http://schemas.microsoft.com/office/drawing/2014/main" id="{81681087-D6B7-499C-94D4-3B4EEF3B802D}"/>
              </a:ext>
            </a:extLst>
          </p:cNvPr>
          <p:cNvSpPr>
            <a:spLocks noGrp="1"/>
          </p:cNvSpPr>
          <p:nvPr>
            <p:ph idx="1"/>
          </p:nvPr>
        </p:nvSpPr>
        <p:spPr/>
        <p:txBody>
          <a:bodyPr>
            <a:normAutofit/>
          </a:bodyPr>
          <a:lstStyle/>
          <a:p>
            <a:r>
              <a:rPr lang="en-IE" dirty="0"/>
              <a:t>1 Semester</a:t>
            </a:r>
          </a:p>
          <a:p>
            <a:endParaRPr lang="en-IE" dirty="0"/>
          </a:p>
          <a:p>
            <a:r>
              <a:rPr lang="en-IE" dirty="0"/>
              <a:t>4hrs a week</a:t>
            </a:r>
          </a:p>
          <a:p>
            <a:endParaRPr lang="en-IE" dirty="0"/>
          </a:p>
          <a:p>
            <a:r>
              <a:rPr lang="en-IE" dirty="0"/>
              <a:t>Practical </a:t>
            </a:r>
          </a:p>
          <a:p>
            <a:endParaRPr lang="en-IE" dirty="0"/>
          </a:p>
          <a:p>
            <a:r>
              <a:rPr lang="en-IE" dirty="0"/>
              <a:t>Attendance is Compulsory!</a:t>
            </a:r>
          </a:p>
          <a:p>
            <a:endParaRPr lang="en-IE" dirty="0"/>
          </a:p>
          <a:p>
            <a:endParaRPr lang="en-IE" dirty="0"/>
          </a:p>
        </p:txBody>
      </p:sp>
    </p:spTree>
    <p:extLst>
      <p:ext uri="{BB962C8B-B14F-4D97-AF65-F5344CB8AC3E}">
        <p14:creationId xmlns:p14="http://schemas.microsoft.com/office/powerpoint/2010/main" val="11793783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D07DF-B19B-46C2-A420-8215FA30BDFB}"/>
              </a:ext>
            </a:extLst>
          </p:cNvPr>
          <p:cNvSpPr>
            <a:spLocks noGrp="1"/>
          </p:cNvSpPr>
          <p:nvPr>
            <p:ph type="title"/>
          </p:nvPr>
        </p:nvSpPr>
        <p:spPr/>
        <p:txBody>
          <a:bodyPr/>
          <a:lstStyle/>
          <a:p>
            <a:r>
              <a:rPr lang="en-IE" dirty="0"/>
              <a:t>Learning outcomes</a:t>
            </a:r>
          </a:p>
        </p:txBody>
      </p:sp>
      <p:sp>
        <p:nvSpPr>
          <p:cNvPr id="3" name="Content Placeholder 2">
            <a:extLst>
              <a:ext uri="{FF2B5EF4-FFF2-40B4-BE49-F238E27FC236}">
                <a16:creationId xmlns:a16="http://schemas.microsoft.com/office/drawing/2014/main" id="{C1F82D5F-B847-4088-BCF0-A88BD41AAC96}"/>
              </a:ext>
            </a:extLst>
          </p:cNvPr>
          <p:cNvSpPr>
            <a:spLocks noGrp="1"/>
          </p:cNvSpPr>
          <p:nvPr>
            <p:ph idx="1"/>
          </p:nvPr>
        </p:nvSpPr>
        <p:spPr/>
        <p:txBody>
          <a:bodyPr>
            <a:normAutofit/>
          </a:bodyPr>
          <a:lstStyle/>
          <a:p>
            <a:r>
              <a:rPr lang="en-IE" sz="2600" dirty="0"/>
              <a:t>Explain the performance implications of developing software with specific programming language – Java</a:t>
            </a:r>
          </a:p>
          <a:p>
            <a:r>
              <a:rPr lang="en-IE" sz="2600" dirty="0"/>
              <a:t>Explain what an architectural design pattern is. Select and apply an architectural design pattern in order to solve a real world problem.</a:t>
            </a:r>
          </a:p>
          <a:p>
            <a:r>
              <a:rPr lang="en-IE" sz="2600" dirty="0"/>
              <a:t>Explain what abstract classes and interfaces are, suggesting when it is appropriate to use each.</a:t>
            </a:r>
          </a:p>
          <a:p>
            <a:r>
              <a:rPr lang="en-IE" sz="2600" dirty="0"/>
              <a:t>Design and implement client server communication.</a:t>
            </a:r>
          </a:p>
          <a:p>
            <a:r>
              <a:rPr lang="en-IE" sz="2600" dirty="0"/>
              <a:t>Design and implement a 3 tier architecture (user interface, business logic, persistence) in Java.</a:t>
            </a:r>
          </a:p>
          <a:p>
            <a:endParaRPr lang="en-IE" sz="2600" dirty="0"/>
          </a:p>
        </p:txBody>
      </p:sp>
    </p:spTree>
    <p:extLst>
      <p:ext uri="{BB962C8B-B14F-4D97-AF65-F5344CB8AC3E}">
        <p14:creationId xmlns:p14="http://schemas.microsoft.com/office/powerpoint/2010/main" val="15872442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2348A-35FD-43A7-B26F-715E7854EC9B}"/>
              </a:ext>
            </a:extLst>
          </p:cNvPr>
          <p:cNvSpPr>
            <a:spLocks noGrp="1"/>
          </p:cNvSpPr>
          <p:nvPr>
            <p:ph type="title"/>
          </p:nvPr>
        </p:nvSpPr>
        <p:spPr/>
        <p:txBody>
          <a:bodyPr/>
          <a:lstStyle/>
          <a:p>
            <a:r>
              <a:rPr lang="en-IE" dirty="0"/>
              <a:t>Marking Scheme</a:t>
            </a:r>
          </a:p>
        </p:txBody>
      </p:sp>
      <p:graphicFrame>
        <p:nvGraphicFramePr>
          <p:cNvPr id="4" name="Content Placeholder 3">
            <a:extLst>
              <a:ext uri="{FF2B5EF4-FFF2-40B4-BE49-F238E27FC236}">
                <a16:creationId xmlns:a16="http://schemas.microsoft.com/office/drawing/2014/main" id="{303AF595-3A03-46FD-AECE-D997AED64FC4}"/>
              </a:ext>
            </a:extLst>
          </p:cNvPr>
          <p:cNvGraphicFramePr>
            <a:graphicFrameLocks noGrp="1"/>
          </p:cNvGraphicFramePr>
          <p:nvPr>
            <p:ph idx="1"/>
            <p:extLst>
              <p:ext uri="{D42A27DB-BD31-4B8C-83A1-F6EECF244321}">
                <p14:modId xmlns:p14="http://schemas.microsoft.com/office/powerpoint/2010/main" val="2703183244"/>
              </p:ext>
            </p:extLst>
          </p:nvPr>
        </p:nvGraphicFramePr>
        <p:xfrm>
          <a:off x="838200" y="1825625"/>
          <a:ext cx="10515600" cy="1112520"/>
        </p:xfrm>
        <a:graphic>
          <a:graphicData uri="http://schemas.openxmlformats.org/drawingml/2006/table">
            <a:tbl>
              <a:tblPr bandRow="1">
                <a:tableStyleId>{5C22544A-7EE6-4342-B048-85BDC9FD1C3A}</a:tableStyleId>
              </a:tblPr>
              <a:tblGrid>
                <a:gridCol w="3505200">
                  <a:extLst>
                    <a:ext uri="{9D8B030D-6E8A-4147-A177-3AD203B41FA5}">
                      <a16:colId xmlns:a16="http://schemas.microsoft.com/office/drawing/2014/main" val="2046043831"/>
                    </a:ext>
                  </a:extLst>
                </a:gridCol>
                <a:gridCol w="3505200">
                  <a:extLst>
                    <a:ext uri="{9D8B030D-6E8A-4147-A177-3AD203B41FA5}">
                      <a16:colId xmlns:a16="http://schemas.microsoft.com/office/drawing/2014/main" val="3526343990"/>
                    </a:ext>
                  </a:extLst>
                </a:gridCol>
                <a:gridCol w="3505200">
                  <a:extLst>
                    <a:ext uri="{9D8B030D-6E8A-4147-A177-3AD203B41FA5}">
                      <a16:colId xmlns:a16="http://schemas.microsoft.com/office/drawing/2014/main" val="3431054621"/>
                    </a:ext>
                  </a:extLst>
                </a:gridCol>
              </a:tblGrid>
              <a:tr h="370840">
                <a:tc>
                  <a:txBody>
                    <a:bodyPr/>
                    <a:lstStyle/>
                    <a:p>
                      <a:r>
                        <a:rPr lang="en-IE" dirty="0">
                          <a:solidFill>
                            <a:schemeClr val="tx1"/>
                          </a:solidFill>
                        </a:rPr>
                        <a:t>Weekly Assignments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E" dirty="0" err="1">
                          <a:solidFill>
                            <a:schemeClr val="tx1"/>
                          </a:solidFill>
                        </a:rPr>
                        <a:t>Approx</a:t>
                      </a:r>
                      <a:r>
                        <a:rPr lang="en-IE" dirty="0">
                          <a:solidFill>
                            <a:schemeClr val="tx1"/>
                          </a:solidFill>
                        </a:rPr>
                        <a:t> Weeks 3 &amp; 7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E" dirty="0">
                          <a:solidFill>
                            <a:schemeClr val="tx1"/>
                          </a:solidFill>
                        </a:rPr>
                        <a:t>10% (5% each)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21725262"/>
                  </a:ext>
                </a:extLst>
              </a:tr>
              <a:tr h="370840">
                <a:tc>
                  <a:txBody>
                    <a:bodyPr/>
                    <a:lstStyle/>
                    <a:p>
                      <a:r>
                        <a:rPr lang="en-IE" dirty="0">
                          <a:solidFill>
                            <a:schemeClr val="tx1"/>
                          </a:solidFill>
                        </a:rPr>
                        <a:t>Project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E" dirty="0">
                          <a:solidFill>
                            <a:schemeClr val="tx1"/>
                          </a:solidFill>
                        </a:rPr>
                        <a:t>End of Semester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E" dirty="0">
                          <a:solidFill>
                            <a:schemeClr val="tx1"/>
                          </a:solidFill>
                        </a:rPr>
                        <a:t>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63268644"/>
                  </a:ext>
                </a:extLst>
              </a:tr>
              <a:tr h="370840">
                <a:tc>
                  <a:txBody>
                    <a:bodyPr/>
                    <a:lstStyle/>
                    <a:p>
                      <a:r>
                        <a:rPr lang="en-IE" dirty="0">
                          <a:solidFill>
                            <a:schemeClr val="tx1"/>
                          </a:solidFill>
                        </a:rPr>
                        <a:t>Exam (Alternative Assessment)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E" dirty="0">
                          <a:solidFill>
                            <a:schemeClr val="tx1"/>
                          </a:solidFill>
                        </a:rPr>
                        <a:t>End of Semester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E" dirty="0">
                          <a:solidFill>
                            <a:schemeClr val="tx1"/>
                          </a:solidFill>
                        </a:rPr>
                        <a:t>70%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03589450"/>
                  </a:ext>
                </a:extLst>
              </a:tr>
            </a:tbl>
          </a:graphicData>
        </a:graphic>
      </p:graphicFrame>
    </p:spTree>
    <p:extLst>
      <p:ext uri="{BB962C8B-B14F-4D97-AF65-F5344CB8AC3E}">
        <p14:creationId xmlns:p14="http://schemas.microsoft.com/office/powerpoint/2010/main" val="10923074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2348A-35FD-43A7-B26F-715E7854EC9B}"/>
              </a:ext>
            </a:extLst>
          </p:cNvPr>
          <p:cNvSpPr>
            <a:spLocks noGrp="1"/>
          </p:cNvSpPr>
          <p:nvPr>
            <p:ph type="title"/>
          </p:nvPr>
        </p:nvSpPr>
        <p:spPr/>
        <p:txBody>
          <a:bodyPr/>
          <a:lstStyle/>
          <a:p>
            <a:r>
              <a:rPr lang="en-US" altLang="en-US" dirty="0"/>
              <a:t>Overview of JAVA- Platform Independence</a:t>
            </a:r>
            <a:endParaRPr lang="en-IE" dirty="0"/>
          </a:p>
        </p:txBody>
      </p:sp>
      <p:sp>
        <p:nvSpPr>
          <p:cNvPr id="6" name="Rectangle 3">
            <a:extLst>
              <a:ext uri="{FF2B5EF4-FFF2-40B4-BE49-F238E27FC236}">
                <a16:creationId xmlns:a16="http://schemas.microsoft.com/office/drawing/2014/main" id="{A1F97E57-45A1-44AD-B69B-574A58EFFD12}"/>
              </a:ext>
            </a:extLst>
          </p:cNvPr>
          <p:cNvSpPr>
            <a:spLocks noChangeArrowheads="1"/>
          </p:cNvSpPr>
          <p:nvPr/>
        </p:nvSpPr>
        <p:spPr bwMode="auto">
          <a:xfrm>
            <a:off x="2504049" y="1617785"/>
            <a:ext cx="301568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dirty="0">
                <a:latin typeface="+mn-lt"/>
              </a:rPr>
              <a:t>Traditional compiler:</a:t>
            </a:r>
          </a:p>
        </p:txBody>
      </p:sp>
      <p:sp>
        <p:nvSpPr>
          <p:cNvPr id="7" name="Rectangle 4">
            <a:extLst>
              <a:ext uri="{FF2B5EF4-FFF2-40B4-BE49-F238E27FC236}">
                <a16:creationId xmlns:a16="http://schemas.microsoft.com/office/drawing/2014/main" id="{9802ADEC-B156-4127-8A41-5BB36DCE28A3}"/>
              </a:ext>
            </a:extLst>
          </p:cNvPr>
          <p:cNvSpPr>
            <a:spLocks noChangeArrowheads="1"/>
          </p:cNvSpPr>
          <p:nvPr/>
        </p:nvSpPr>
        <p:spPr bwMode="auto">
          <a:xfrm>
            <a:off x="3244661" y="2751913"/>
            <a:ext cx="1066800" cy="304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400">
                <a:latin typeface="+mn-lt"/>
              </a:rPr>
              <a:t>code</a:t>
            </a:r>
            <a:endParaRPr lang="en-US" altLang="en-US" sz="3200">
              <a:latin typeface="+mn-lt"/>
            </a:endParaRPr>
          </a:p>
        </p:txBody>
      </p:sp>
      <p:sp>
        <p:nvSpPr>
          <p:cNvPr id="8" name="Oval 5">
            <a:extLst>
              <a:ext uri="{FF2B5EF4-FFF2-40B4-BE49-F238E27FC236}">
                <a16:creationId xmlns:a16="http://schemas.microsoft.com/office/drawing/2014/main" id="{4A83FA84-DCF4-432B-B160-A0F025349603}"/>
              </a:ext>
            </a:extLst>
          </p:cNvPr>
          <p:cNvSpPr>
            <a:spLocks noChangeArrowheads="1"/>
          </p:cNvSpPr>
          <p:nvPr/>
        </p:nvSpPr>
        <p:spPr bwMode="auto">
          <a:xfrm>
            <a:off x="2254061" y="3590113"/>
            <a:ext cx="914400" cy="685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400" dirty="0">
                <a:latin typeface="+mn-lt"/>
              </a:rPr>
              <a:t>PC</a:t>
            </a:r>
          </a:p>
          <a:p>
            <a:pPr algn="ctr"/>
            <a:r>
              <a:rPr lang="en-US" altLang="en-US" sz="1400" dirty="0">
                <a:latin typeface="+mn-lt"/>
              </a:rPr>
              <a:t>compiler</a:t>
            </a:r>
            <a:endParaRPr lang="en-US" altLang="en-US" sz="3200" dirty="0">
              <a:latin typeface="+mn-lt"/>
            </a:endParaRPr>
          </a:p>
        </p:txBody>
      </p:sp>
      <p:sp>
        <p:nvSpPr>
          <p:cNvPr id="9" name="Oval 6">
            <a:extLst>
              <a:ext uri="{FF2B5EF4-FFF2-40B4-BE49-F238E27FC236}">
                <a16:creationId xmlns:a16="http://schemas.microsoft.com/office/drawing/2014/main" id="{645AA5E9-294F-44AD-AB73-ECB91E71BBEB}"/>
              </a:ext>
            </a:extLst>
          </p:cNvPr>
          <p:cNvSpPr>
            <a:spLocks noChangeArrowheads="1"/>
          </p:cNvSpPr>
          <p:nvPr/>
        </p:nvSpPr>
        <p:spPr bwMode="auto">
          <a:xfrm>
            <a:off x="3320861" y="3590113"/>
            <a:ext cx="914400" cy="685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400">
                <a:latin typeface="+mn-lt"/>
              </a:rPr>
              <a:t>LINUX</a:t>
            </a:r>
          </a:p>
          <a:p>
            <a:pPr algn="ctr"/>
            <a:r>
              <a:rPr lang="en-US" altLang="en-US" sz="1400">
                <a:latin typeface="+mn-lt"/>
              </a:rPr>
              <a:t>compiler</a:t>
            </a:r>
            <a:endParaRPr lang="en-US" altLang="en-US" sz="3200">
              <a:latin typeface="+mn-lt"/>
            </a:endParaRPr>
          </a:p>
        </p:txBody>
      </p:sp>
      <p:sp>
        <p:nvSpPr>
          <p:cNvPr id="10" name="Oval 7">
            <a:extLst>
              <a:ext uri="{FF2B5EF4-FFF2-40B4-BE49-F238E27FC236}">
                <a16:creationId xmlns:a16="http://schemas.microsoft.com/office/drawing/2014/main" id="{61AD358D-49FB-4703-93AC-E93DB916A1F5}"/>
              </a:ext>
            </a:extLst>
          </p:cNvPr>
          <p:cNvSpPr>
            <a:spLocks noChangeArrowheads="1"/>
          </p:cNvSpPr>
          <p:nvPr/>
        </p:nvSpPr>
        <p:spPr bwMode="auto">
          <a:xfrm>
            <a:off x="4387661" y="3590113"/>
            <a:ext cx="914400" cy="685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400">
                <a:latin typeface="+mn-lt"/>
              </a:rPr>
              <a:t>UNIX</a:t>
            </a:r>
          </a:p>
          <a:p>
            <a:pPr algn="ctr"/>
            <a:r>
              <a:rPr lang="en-US" altLang="en-US" sz="1400">
                <a:latin typeface="+mn-lt"/>
              </a:rPr>
              <a:t>compiler</a:t>
            </a:r>
            <a:endParaRPr lang="en-US" altLang="en-US" sz="3200">
              <a:latin typeface="+mn-lt"/>
            </a:endParaRPr>
          </a:p>
        </p:txBody>
      </p:sp>
      <p:sp>
        <p:nvSpPr>
          <p:cNvPr id="11" name="Rectangle 8">
            <a:extLst>
              <a:ext uri="{FF2B5EF4-FFF2-40B4-BE49-F238E27FC236}">
                <a16:creationId xmlns:a16="http://schemas.microsoft.com/office/drawing/2014/main" id="{04B2729D-0E5C-4245-A481-B4A9DB7D0AE0}"/>
              </a:ext>
            </a:extLst>
          </p:cNvPr>
          <p:cNvSpPr>
            <a:spLocks noChangeArrowheads="1"/>
          </p:cNvSpPr>
          <p:nvPr/>
        </p:nvSpPr>
        <p:spPr bwMode="auto">
          <a:xfrm>
            <a:off x="2406461" y="5495113"/>
            <a:ext cx="68580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400">
                <a:latin typeface="+mn-lt"/>
              </a:rPr>
              <a:t>PC MC</a:t>
            </a:r>
          </a:p>
        </p:txBody>
      </p:sp>
      <p:sp>
        <p:nvSpPr>
          <p:cNvPr id="12" name="Rectangle 9">
            <a:extLst>
              <a:ext uri="{FF2B5EF4-FFF2-40B4-BE49-F238E27FC236}">
                <a16:creationId xmlns:a16="http://schemas.microsoft.com/office/drawing/2014/main" id="{6D3CE65A-B08A-4824-ABB3-578353D9037B}"/>
              </a:ext>
            </a:extLst>
          </p:cNvPr>
          <p:cNvSpPr>
            <a:spLocks noChangeArrowheads="1"/>
          </p:cNvSpPr>
          <p:nvPr/>
        </p:nvSpPr>
        <p:spPr bwMode="auto">
          <a:xfrm>
            <a:off x="3320861" y="5495113"/>
            <a:ext cx="91440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400">
                <a:latin typeface="+mn-lt"/>
              </a:rPr>
              <a:t>LINUX MC</a:t>
            </a:r>
          </a:p>
        </p:txBody>
      </p:sp>
      <p:sp>
        <p:nvSpPr>
          <p:cNvPr id="13" name="Rectangle 10">
            <a:extLst>
              <a:ext uri="{FF2B5EF4-FFF2-40B4-BE49-F238E27FC236}">
                <a16:creationId xmlns:a16="http://schemas.microsoft.com/office/drawing/2014/main" id="{F6AC1989-253C-4A45-9954-8DC1A9154174}"/>
              </a:ext>
            </a:extLst>
          </p:cNvPr>
          <p:cNvSpPr>
            <a:spLocks noChangeArrowheads="1"/>
          </p:cNvSpPr>
          <p:nvPr/>
        </p:nvSpPr>
        <p:spPr bwMode="auto">
          <a:xfrm>
            <a:off x="4387661" y="5495113"/>
            <a:ext cx="91440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400">
                <a:latin typeface="+mn-lt"/>
              </a:rPr>
              <a:t>UNIX MC</a:t>
            </a:r>
          </a:p>
        </p:txBody>
      </p:sp>
      <p:sp>
        <p:nvSpPr>
          <p:cNvPr id="14" name="Line 11">
            <a:extLst>
              <a:ext uri="{FF2B5EF4-FFF2-40B4-BE49-F238E27FC236}">
                <a16:creationId xmlns:a16="http://schemas.microsoft.com/office/drawing/2014/main" id="{B5576CE7-EC9B-4AFE-9317-D4966A07FEBE}"/>
              </a:ext>
            </a:extLst>
          </p:cNvPr>
          <p:cNvSpPr>
            <a:spLocks noChangeShapeType="1"/>
          </p:cNvSpPr>
          <p:nvPr/>
        </p:nvSpPr>
        <p:spPr bwMode="auto">
          <a:xfrm>
            <a:off x="3778061" y="3056713"/>
            <a:ext cx="0" cy="533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15" name="Line 12">
            <a:extLst>
              <a:ext uri="{FF2B5EF4-FFF2-40B4-BE49-F238E27FC236}">
                <a16:creationId xmlns:a16="http://schemas.microsoft.com/office/drawing/2014/main" id="{BA77BB00-AA3C-44AC-8C11-3018D1E322AE}"/>
              </a:ext>
            </a:extLst>
          </p:cNvPr>
          <p:cNvSpPr>
            <a:spLocks noChangeShapeType="1"/>
          </p:cNvSpPr>
          <p:nvPr/>
        </p:nvSpPr>
        <p:spPr bwMode="auto">
          <a:xfrm flipH="1">
            <a:off x="2787461" y="3056713"/>
            <a:ext cx="990600" cy="533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16" name="Line 13">
            <a:extLst>
              <a:ext uri="{FF2B5EF4-FFF2-40B4-BE49-F238E27FC236}">
                <a16:creationId xmlns:a16="http://schemas.microsoft.com/office/drawing/2014/main" id="{6258B79B-FFE6-4996-BA97-7DC493AFEB1E}"/>
              </a:ext>
            </a:extLst>
          </p:cNvPr>
          <p:cNvSpPr>
            <a:spLocks noChangeShapeType="1"/>
          </p:cNvSpPr>
          <p:nvPr/>
        </p:nvSpPr>
        <p:spPr bwMode="auto">
          <a:xfrm>
            <a:off x="3778061" y="3056713"/>
            <a:ext cx="1066800" cy="533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17" name="Line 14">
            <a:extLst>
              <a:ext uri="{FF2B5EF4-FFF2-40B4-BE49-F238E27FC236}">
                <a16:creationId xmlns:a16="http://schemas.microsoft.com/office/drawing/2014/main" id="{C6626A0C-CA2C-4705-82C7-E79EBDBB09BE}"/>
              </a:ext>
            </a:extLst>
          </p:cNvPr>
          <p:cNvSpPr>
            <a:spLocks noChangeShapeType="1"/>
          </p:cNvSpPr>
          <p:nvPr/>
        </p:nvSpPr>
        <p:spPr bwMode="auto">
          <a:xfrm>
            <a:off x="2711261" y="4275913"/>
            <a:ext cx="0" cy="1219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18" name="Line 15">
            <a:extLst>
              <a:ext uri="{FF2B5EF4-FFF2-40B4-BE49-F238E27FC236}">
                <a16:creationId xmlns:a16="http://schemas.microsoft.com/office/drawing/2014/main" id="{C985C823-D047-4B94-8B5A-DDE46D5F520B}"/>
              </a:ext>
            </a:extLst>
          </p:cNvPr>
          <p:cNvSpPr>
            <a:spLocks noChangeShapeType="1"/>
          </p:cNvSpPr>
          <p:nvPr/>
        </p:nvSpPr>
        <p:spPr bwMode="auto">
          <a:xfrm>
            <a:off x="3778061" y="4275913"/>
            <a:ext cx="0" cy="1219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19" name="Line 16">
            <a:extLst>
              <a:ext uri="{FF2B5EF4-FFF2-40B4-BE49-F238E27FC236}">
                <a16:creationId xmlns:a16="http://schemas.microsoft.com/office/drawing/2014/main" id="{66B2C950-636E-4351-B6D5-85A14A079542}"/>
              </a:ext>
            </a:extLst>
          </p:cNvPr>
          <p:cNvSpPr>
            <a:spLocks noChangeShapeType="1"/>
          </p:cNvSpPr>
          <p:nvPr/>
        </p:nvSpPr>
        <p:spPr bwMode="auto">
          <a:xfrm>
            <a:off x="4844861" y="4275913"/>
            <a:ext cx="0" cy="1219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20" name="Line 17">
            <a:extLst>
              <a:ext uri="{FF2B5EF4-FFF2-40B4-BE49-F238E27FC236}">
                <a16:creationId xmlns:a16="http://schemas.microsoft.com/office/drawing/2014/main" id="{C2C07D8C-FC32-4283-8AE1-D17714C52036}"/>
              </a:ext>
            </a:extLst>
          </p:cNvPr>
          <p:cNvSpPr>
            <a:spLocks noChangeShapeType="1"/>
          </p:cNvSpPr>
          <p:nvPr/>
        </p:nvSpPr>
        <p:spPr bwMode="auto">
          <a:xfrm>
            <a:off x="1334672" y="3154520"/>
            <a:ext cx="228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21" name="Line 18">
            <a:extLst>
              <a:ext uri="{FF2B5EF4-FFF2-40B4-BE49-F238E27FC236}">
                <a16:creationId xmlns:a16="http://schemas.microsoft.com/office/drawing/2014/main" id="{03A709CF-B03C-4A7B-A615-86C94BA30419}"/>
              </a:ext>
            </a:extLst>
          </p:cNvPr>
          <p:cNvSpPr>
            <a:spLocks noChangeShapeType="1"/>
          </p:cNvSpPr>
          <p:nvPr/>
        </p:nvSpPr>
        <p:spPr bwMode="auto">
          <a:xfrm>
            <a:off x="1334672" y="6050120"/>
            <a:ext cx="228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22" name="Line 19">
            <a:extLst>
              <a:ext uri="{FF2B5EF4-FFF2-40B4-BE49-F238E27FC236}">
                <a16:creationId xmlns:a16="http://schemas.microsoft.com/office/drawing/2014/main" id="{5089BEBE-DA25-4D1D-B457-D853B5638D4A}"/>
              </a:ext>
            </a:extLst>
          </p:cNvPr>
          <p:cNvSpPr>
            <a:spLocks noChangeShapeType="1"/>
          </p:cNvSpPr>
          <p:nvPr/>
        </p:nvSpPr>
        <p:spPr bwMode="auto">
          <a:xfrm>
            <a:off x="1448972" y="3154520"/>
            <a:ext cx="0" cy="2895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23" name="Text Box 20">
            <a:extLst>
              <a:ext uri="{FF2B5EF4-FFF2-40B4-BE49-F238E27FC236}">
                <a16:creationId xmlns:a16="http://schemas.microsoft.com/office/drawing/2014/main" id="{67D51919-7D41-483C-BE24-F68DCA48A5C5}"/>
              </a:ext>
            </a:extLst>
          </p:cNvPr>
          <p:cNvSpPr txBox="1">
            <a:spLocks noChangeArrowheads="1"/>
          </p:cNvSpPr>
          <p:nvPr/>
        </p:nvSpPr>
        <p:spPr bwMode="auto">
          <a:xfrm rot="5378288">
            <a:off x="557592" y="4623752"/>
            <a:ext cx="14176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dirty="0">
                <a:latin typeface="+mn-lt"/>
              </a:rPr>
              <a:t>compiling</a:t>
            </a:r>
            <a:endParaRPr lang="en-US" altLang="en-US" sz="3200" dirty="0">
              <a:latin typeface="+mn-lt"/>
            </a:endParaRPr>
          </a:p>
        </p:txBody>
      </p:sp>
      <p:sp>
        <p:nvSpPr>
          <p:cNvPr id="24" name="Text Box 21">
            <a:extLst>
              <a:ext uri="{FF2B5EF4-FFF2-40B4-BE49-F238E27FC236}">
                <a16:creationId xmlns:a16="http://schemas.microsoft.com/office/drawing/2014/main" id="{7864DCB7-E1F6-4AB2-A151-2D6B7E6B53A1}"/>
              </a:ext>
            </a:extLst>
          </p:cNvPr>
          <p:cNvSpPr txBox="1">
            <a:spLocks noChangeArrowheads="1"/>
          </p:cNvSpPr>
          <p:nvPr/>
        </p:nvSpPr>
        <p:spPr bwMode="auto">
          <a:xfrm>
            <a:off x="7086601" y="1955801"/>
            <a:ext cx="4267192"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buFontTx/>
              <a:buChar char="•"/>
            </a:pPr>
            <a:r>
              <a:rPr lang="en-US" altLang="en-US" sz="2000" dirty="0">
                <a:latin typeface="+mn-lt"/>
              </a:rPr>
              <a:t> A compiler takes source code and compiles it into machine code which can be understood by </a:t>
            </a:r>
            <a:r>
              <a:rPr lang="en-US" altLang="en-US" sz="2000" b="1" dirty="0">
                <a:latin typeface="+mn-lt"/>
              </a:rPr>
              <a:t>one</a:t>
            </a:r>
            <a:r>
              <a:rPr lang="en-US" altLang="en-US" sz="2000" dirty="0">
                <a:latin typeface="+mn-lt"/>
              </a:rPr>
              <a:t> particular operating system. C++ is compiled in this way i.e. the .C code files are compiled to .exe machine code files on a PC.</a:t>
            </a:r>
          </a:p>
          <a:p>
            <a:pPr>
              <a:buFontTx/>
              <a:buChar char="•"/>
            </a:pPr>
            <a:endParaRPr lang="en-US" altLang="en-US" sz="2000" dirty="0">
              <a:latin typeface="+mn-lt"/>
            </a:endParaRPr>
          </a:p>
          <a:p>
            <a:pPr>
              <a:buFontTx/>
              <a:buChar char="•"/>
            </a:pPr>
            <a:r>
              <a:rPr lang="en-US" altLang="en-US" sz="2000" dirty="0">
                <a:latin typeface="+mn-lt"/>
              </a:rPr>
              <a:t> The compiler is </a:t>
            </a:r>
            <a:r>
              <a:rPr lang="en-US" altLang="en-US" sz="2000" b="1" dirty="0">
                <a:latin typeface="+mn-lt"/>
              </a:rPr>
              <a:t>dependent</a:t>
            </a:r>
            <a:r>
              <a:rPr lang="en-US" altLang="en-US" sz="2000" dirty="0">
                <a:latin typeface="+mn-lt"/>
              </a:rPr>
              <a:t> on the operating system.</a:t>
            </a:r>
            <a:endParaRPr lang="en-US" altLang="en-US" sz="3200" dirty="0">
              <a:latin typeface="+mn-lt"/>
            </a:endParaRPr>
          </a:p>
        </p:txBody>
      </p:sp>
      <p:sp>
        <p:nvSpPr>
          <p:cNvPr id="25" name="Line 22">
            <a:extLst>
              <a:ext uri="{FF2B5EF4-FFF2-40B4-BE49-F238E27FC236}">
                <a16:creationId xmlns:a16="http://schemas.microsoft.com/office/drawing/2014/main" id="{0A502457-3344-4454-B281-89CBED2F2CED}"/>
              </a:ext>
            </a:extLst>
          </p:cNvPr>
          <p:cNvSpPr>
            <a:spLocks noChangeShapeType="1"/>
          </p:cNvSpPr>
          <p:nvPr/>
        </p:nvSpPr>
        <p:spPr bwMode="auto">
          <a:xfrm>
            <a:off x="5302061" y="5342713"/>
            <a:ext cx="381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26" name="Line 23">
            <a:extLst>
              <a:ext uri="{FF2B5EF4-FFF2-40B4-BE49-F238E27FC236}">
                <a16:creationId xmlns:a16="http://schemas.microsoft.com/office/drawing/2014/main" id="{84CFF309-4DA3-4CCF-9D7D-81040DB14610}"/>
              </a:ext>
            </a:extLst>
          </p:cNvPr>
          <p:cNvSpPr>
            <a:spLocks noChangeShapeType="1"/>
          </p:cNvSpPr>
          <p:nvPr/>
        </p:nvSpPr>
        <p:spPr bwMode="auto">
          <a:xfrm>
            <a:off x="5530661" y="5342713"/>
            <a:ext cx="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27" name="Line 24">
            <a:extLst>
              <a:ext uri="{FF2B5EF4-FFF2-40B4-BE49-F238E27FC236}">
                <a16:creationId xmlns:a16="http://schemas.microsoft.com/office/drawing/2014/main" id="{4C93AFF8-10B7-4CB2-A810-E97700E088A1}"/>
              </a:ext>
            </a:extLst>
          </p:cNvPr>
          <p:cNvSpPr>
            <a:spLocks noChangeShapeType="1"/>
          </p:cNvSpPr>
          <p:nvPr/>
        </p:nvSpPr>
        <p:spPr bwMode="auto">
          <a:xfrm>
            <a:off x="5302061" y="6104713"/>
            <a:ext cx="381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28" name="Text Box 25">
            <a:extLst>
              <a:ext uri="{FF2B5EF4-FFF2-40B4-BE49-F238E27FC236}">
                <a16:creationId xmlns:a16="http://schemas.microsoft.com/office/drawing/2014/main" id="{75C4369B-EFFA-41AF-BCCE-15B11EE22D4D}"/>
              </a:ext>
            </a:extLst>
          </p:cNvPr>
          <p:cNvSpPr txBox="1">
            <a:spLocks noChangeArrowheads="1"/>
          </p:cNvSpPr>
          <p:nvPr/>
        </p:nvSpPr>
        <p:spPr bwMode="auto">
          <a:xfrm>
            <a:off x="5816013" y="5554436"/>
            <a:ext cx="135793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600" dirty="0">
                <a:latin typeface="+mn-lt"/>
              </a:rPr>
              <a:t>Machine code</a:t>
            </a:r>
            <a:endParaRPr lang="en-US" altLang="en-US" sz="3200" dirty="0">
              <a:latin typeface="+mn-lt"/>
            </a:endParaRPr>
          </a:p>
        </p:txBody>
      </p:sp>
    </p:spTree>
    <p:extLst>
      <p:ext uri="{BB962C8B-B14F-4D97-AF65-F5344CB8AC3E}">
        <p14:creationId xmlns:p14="http://schemas.microsoft.com/office/powerpoint/2010/main" val="39222895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D07DF-B19B-46C2-A420-8215FA30BDFB}"/>
              </a:ext>
            </a:extLst>
          </p:cNvPr>
          <p:cNvSpPr>
            <a:spLocks noGrp="1"/>
          </p:cNvSpPr>
          <p:nvPr>
            <p:ph type="title"/>
          </p:nvPr>
        </p:nvSpPr>
        <p:spPr/>
        <p:txBody>
          <a:bodyPr/>
          <a:lstStyle/>
          <a:p>
            <a:r>
              <a:rPr lang="en-US" altLang="en-US" dirty="0"/>
              <a:t>Overview of JAVA- Platform Independence</a:t>
            </a:r>
            <a:endParaRPr lang="en-IE" dirty="0"/>
          </a:p>
        </p:txBody>
      </p:sp>
      <p:sp>
        <p:nvSpPr>
          <p:cNvPr id="3" name="Content Placeholder 2">
            <a:extLst>
              <a:ext uri="{FF2B5EF4-FFF2-40B4-BE49-F238E27FC236}">
                <a16:creationId xmlns:a16="http://schemas.microsoft.com/office/drawing/2014/main" id="{C1F82D5F-B847-4088-BCF0-A88BD41AAC96}"/>
              </a:ext>
            </a:extLst>
          </p:cNvPr>
          <p:cNvSpPr>
            <a:spLocks noGrp="1"/>
          </p:cNvSpPr>
          <p:nvPr>
            <p:ph idx="1"/>
          </p:nvPr>
        </p:nvSpPr>
        <p:spPr/>
        <p:txBody>
          <a:bodyPr>
            <a:normAutofit/>
          </a:bodyPr>
          <a:lstStyle/>
          <a:p>
            <a:pPr>
              <a:buFontTx/>
              <a:buChar char="•"/>
            </a:pPr>
            <a:r>
              <a:rPr lang="en-US" altLang="en-US" sz="2400" dirty="0"/>
              <a:t>In JAVA Compiling is split into a 2 stage process - </a:t>
            </a:r>
            <a:r>
              <a:rPr lang="en-US" altLang="en-US" sz="2400" b="1" dirty="0"/>
              <a:t>compiling</a:t>
            </a:r>
            <a:r>
              <a:rPr lang="en-US" altLang="en-US" sz="2400" dirty="0"/>
              <a:t> source code and </a:t>
            </a:r>
            <a:r>
              <a:rPr lang="en-US" altLang="en-US" sz="2400" b="1" dirty="0"/>
              <a:t>interpreting</a:t>
            </a:r>
            <a:r>
              <a:rPr lang="en-US" altLang="en-US" sz="2400" dirty="0"/>
              <a:t> the resulting byte code. </a:t>
            </a:r>
          </a:p>
          <a:p>
            <a:pPr>
              <a:buFontTx/>
              <a:buChar char="•"/>
            </a:pPr>
            <a:endParaRPr lang="en-US" altLang="en-US" sz="2400" dirty="0"/>
          </a:p>
          <a:p>
            <a:pPr>
              <a:buFontTx/>
              <a:buChar char="•"/>
            </a:pPr>
            <a:r>
              <a:rPr lang="en-US" altLang="en-US" sz="2400" dirty="0"/>
              <a:t> Each machine has its own set of machine instructions called machine code.</a:t>
            </a:r>
          </a:p>
          <a:p>
            <a:pPr>
              <a:buFontTx/>
              <a:buChar char="•"/>
            </a:pPr>
            <a:endParaRPr lang="en-US" altLang="en-US" sz="2400" dirty="0"/>
          </a:p>
          <a:p>
            <a:pPr>
              <a:buFontTx/>
              <a:buChar char="•"/>
            </a:pPr>
            <a:r>
              <a:rPr lang="en-US" altLang="en-US" sz="2400" dirty="0"/>
              <a:t> Java compiler creates common byte code. </a:t>
            </a:r>
          </a:p>
          <a:p>
            <a:pPr>
              <a:buFontTx/>
              <a:buChar char="•"/>
            </a:pPr>
            <a:endParaRPr lang="en-US" altLang="en-US" sz="2400" dirty="0"/>
          </a:p>
          <a:p>
            <a:pPr>
              <a:buFontTx/>
              <a:buChar char="•"/>
            </a:pPr>
            <a:r>
              <a:rPr lang="en-US" altLang="en-US" sz="2400" dirty="0"/>
              <a:t> A platform dependent JVM interprets the byte code ( i.e. converts the common byte code into a particular machine code)   e.g. machine code for a PC</a:t>
            </a:r>
          </a:p>
          <a:p>
            <a:endParaRPr lang="en-IE" sz="2600" dirty="0"/>
          </a:p>
        </p:txBody>
      </p:sp>
    </p:spTree>
    <p:extLst>
      <p:ext uri="{BB962C8B-B14F-4D97-AF65-F5344CB8AC3E}">
        <p14:creationId xmlns:p14="http://schemas.microsoft.com/office/powerpoint/2010/main" val="29638811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2348A-35FD-43A7-B26F-715E7854EC9B}"/>
              </a:ext>
            </a:extLst>
          </p:cNvPr>
          <p:cNvSpPr>
            <a:spLocks noGrp="1"/>
          </p:cNvSpPr>
          <p:nvPr>
            <p:ph type="title"/>
          </p:nvPr>
        </p:nvSpPr>
        <p:spPr/>
        <p:txBody>
          <a:bodyPr/>
          <a:lstStyle/>
          <a:p>
            <a:r>
              <a:rPr lang="en-US" altLang="en-US" dirty="0"/>
              <a:t>Overview of JAVA- Platform Independence</a:t>
            </a:r>
            <a:endParaRPr lang="en-IE" dirty="0"/>
          </a:p>
        </p:txBody>
      </p:sp>
      <p:sp>
        <p:nvSpPr>
          <p:cNvPr id="29" name="Rectangle 9">
            <a:extLst>
              <a:ext uri="{FF2B5EF4-FFF2-40B4-BE49-F238E27FC236}">
                <a16:creationId xmlns:a16="http://schemas.microsoft.com/office/drawing/2014/main" id="{5B2E2617-E337-4AAF-B697-61CA804FA4AC}"/>
              </a:ext>
            </a:extLst>
          </p:cNvPr>
          <p:cNvSpPr>
            <a:spLocks noChangeArrowheads="1"/>
          </p:cNvSpPr>
          <p:nvPr/>
        </p:nvSpPr>
        <p:spPr bwMode="auto">
          <a:xfrm>
            <a:off x="1856349" y="1690688"/>
            <a:ext cx="2057400" cy="304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400"/>
              <a:t>Java code. (.java files)</a:t>
            </a:r>
            <a:endParaRPr lang="en-US" altLang="en-US" sz="3200"/>
          </a:p>
        </p:txBody>
      </p:sp>
      <p:sp>
        <p:nvSpPr>
          <p:cNvPr id="30" name="Rectangle 10">
            <a:extLst>
              <a:ext uri="{FF2B5EF4-FFF2-40B4-BE49-F238E27FC236}">
                <a16:creationId xmlns:a16="http://schemas.microsoft.com/office/drawing/2014/main" id="{20EACB98-7795-4217-AF24-F2C6DADAFD36}"/>
              </a:ext>
            </a:extLst>
          </p:cNvPr>
          <p:cNvSpPr>
            <a:spLocks noChangeArrowheads="1"/>
          </p:cNvSpPr>
          <p:nvPr/>
        </p:nvSpPr>
        <p:spPr bwMode="auto">
          <a:xfrm>
            <a:off x="1627749" y="5272088"/>
            <a:ext cx="2971800" cy="304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400"/>
              <a:t>Java Bytecode (.class files)</a:t>
            </a:r>
            <a:endParaRPr lang="en-US" altLang="en-US" sz="3200"/>
          </a:p>
        </p:txBody>
      </p:sp>
      <p:sp>
        <p:nvSpPr>
          <p:cNvPr id="31" name="Oval 14">
            <a:extLst>
              <a:ext uri="{FF2B5EF4-FFF2-40B4-BE49-F238E27FC236}">
                <a16:creationId xmlns:a16="http://schemas.microsoft.com/office/drawing/2014/main" id="{3F2793C7-1B39-41A0-A4EE-78D70DD6B2A9}"/>
              </a:ext>
            </a:extLst>
          </p:cNvPr>
          <p:cNvSpPr>
            <a:spLocks noChangeArrowheads="1"/>
          </p:cNvSpPr>
          <p:nvPr/>
        </p:nvSpPr>
        <p:spPr bwMode="auto">
          <a:xfrm>
            <a:off x="1399149" y="3290888"/>
            <a:ext cx="3048000" cy="685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400"/>
              <a:t>Java Compiler (</a:t>
            </a:r>
            <a:r>
              <a:rPr lang="en-US" altLang="en-US" sz="1400" b="1"/>
              <a:t>javac</a:t>
            </a:r>
            <a:r>
              <a:rPr lang="en-US" altLang="en-US" sz="1400"/>
              <a:t> command)</a:t>
            </a:r>
            <a:endParaRPr lang="en-US" altLang="en-US" sz="3200"/>
          </a:p>
        </p:txBody>
      </p:sp>
      <p:sp>
        <p:nvSpPr>
          <p:cNvPr id="32" name="Line 15">
            <a:extLst>
              <a:ext uri="{FF2B5EF4-FFF2-40B4-BE49-F238E27FC236}">
                <a16:creationId xmlns:a16="http://schemas.microsoft.com/office/drawing/2014/main" id="{76C7471D-6F76-4802-939B-86DFC53E7136}"/>
              </a:ext>
            </a:extLst>
          </p:cNvPr>
          <p:cNvSpPr>
            <a:spLocks noChangeShapeType="1"/>
          </p:cNvSpPr>
          <p:nvPr/>
        </p:nvSpPr>
        <p:spPr bwMode="auto">
          <a:xfrm>
            <a:off x="2846949" y="1995488"/>
            <a:ext cx="0" cy="1295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33" name="Line 16">
            <a:extLst>
              <a:ext uri="{FF2B5EF4-FFF2-40B4-BE49-F238E27FC236}">
                <a16:creationId xmlns:a16="http://schemas.microsoft.com/office/drawing/2014/main" id="{290DFD9F-60AC-4745-964B-9CE05BE0F707}"/>
              </a:ext>
            </a:extLst>
          </p:cNvPr>
          <p:cNvSpPr>
            <a:spLocks noChangeShapeType="1"/>
          </p:cNvSpPr>
          <p:nvPr/>
        </p:nvSpPr>
        <p:spPr bwMode="auto">
          <a:xfrm>
            <a:off x="2846949" y="3976688"/>
            <a:ext cx="0" cy="1295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34" name="Line 24">
            <a:extLst>
              <a:ext uri="{FF2B5EF4-FFF2-40B4-BE49-F238E27FC236}">
                <a16:creationId xmlns:a16="http://schemas.microsoft.com/office/drawing/2014/main" id="{8C909E89-387B-450F-91B5-BB26F63433B0}"/>
              </a:ext>
            </a:extLst>
          </p:cNvPr>
          <p:cNvSpPr>
            <a:spLocks noChangeShapeType="1"/>
          </p:cNvSpPr>
          <p:nvPr/>
        </p:nvSpPr>
        <p:spPr bwMode="auto">
          <a:xfrm>
            <a:off x="1094349" y="1614488"/>
            <a:ext cx="304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35" name="Line 25">
            <a:extLst>
              <a:ext uri="{FF2B5EF4-FFF2-40B4-BE49-F238E27FC236}">
                <a16:creationId xmlns:a16="http://schemas.microsoft.com/office/drawing/2014/main" id="{55BC1FB9-E884-4677-9462-FB130F43C259}"/>
              </a:ext>
            </a:extLst>
          </p:cNvPr>
          <p:cNvSpPr>
            <a:spLocks noChangeShapeType="1"/>
          </p:cNvSpPr>
          <p:nvPr/>
        </p:nvSpPr>
        <p:spPr bwMode="auto">
          <a:xfrm>
            <a:off x="7173350" y="1624818"/>
            <a:ext cx="304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36" name="Line 26">
            <a:extLst>
              <a:ext uri="{FF2B5EF4-FFF2-40B4-BE49-F238E27FC236}">
                <a16:creationId xmlns:a16="http://schemas.microsoft.com/office/drawing/2014/main" id="{6FC692A5-6FB7-4F86-A915-012D1E536DB3}"/>
              </a:ext>
            </a:extLst>
          </p:cNvPr>
          <p:cNvSpPr>
            <a:spLocks noChangeShapeType="1"/>
          </p:cNvSpPr>
          <p:nvPr/>
        </p:nvSpPr>
        <p:spPr bwMode="auto">
          <a:xfrm>
            <a:off x="10221350" y="5053818"/>
            <a:ext cx="304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37" name="Rectangle 11">
            <a:extLst>
              <a:ext uri="{FF2B5EF4-FFF2-40B4-BE49-F238E27FC236}">
                <a16:creationId xmlns:a16="http://schemas.microsoft.com/office/drawing/2014/main" id="{564EF5F1-42BA-4964-AF4F-288E06CC6810}"/>
              </a:ext>
            </a:extLst>
          </p:cNvPr>
          <p:cNvSpPr>
            <a:spLocks noChangeArrowheads="1"/>
          </p:cNvSpPr>
          <p:nvPr/>
        </p:nvSpPr>
        <p:spPr bwMode="auto">
          <a:xfrm>
            <a:off x="7782950" y="4749018"/>
            <a:ext cx="68580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400"/>
              <a:t>SPARC</a:t>
            </a:r>
          </a:p>
        </p:txBody>
      </p:sp>
      <p:sp>
        <p:nvSpPr>
          <p:cNvPr id="38" name="Rectangle 12">
            <a:extLst>
              <a:ext uri="{FF2B5EF4-FFF2-40B4-BE49-F238E27FC236}">
                <a16:creationId xmlns:a16="http://schemas.microsoft.com/office/drawing/2014/main" id="{12E658CC-C187-4A55-89AE-1B226490F89A}"/>
              </a:ext>
            </a:extLst>
          </p:cNvPr>
          <p:cNvSpPr>
            <a:spLocks noChangeArrowheads="1"/>
          </p:cNvSpPr>
          <p:nvPr/>
        </p:nvSpPr>
        <p:spPr bwMode="auto">
          <a:xfrm>
            <a:off x="8697350" y="4749018"/>
            <a:ext cx="91440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400"/>
              <a:t>Power PC</a:t>
            </a:r>
          </a:p>
        </p:txBody>
      </p:sp>
      <p:sp>
        <p:nvSpPr>
          <p:cNvPr id="39" name="Rectangle 13">
            <a:extLst>
              <a:ext uri="{FF2B5EF4-FFF2-40B4-BE49-F238E27FC236}">
                <a16:creationId xmlns:a16="http://schemas.microsoft.com/office/drawing/2014/main" id="{B5A1A82B-0FF8-43F2-9FBA-F63A22C4BFB1}"/>
              </a:ext>
            </a:extLst>
          </p:cNvPr>
          <p:cNvSpPr>
            <a:spLocks noChangeArrowheads="1"/>
          </p:cNvSpPr>
          <p:nvPr/>
        </p:nvSpPr>
        <p:spPr bwMode="auto">
          <a:xfrm>
            <a:off x="9840350" y="4749018"/>
            <a:ext cx="91440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400"/>
              <a:t>Pentium</a:t>
            </a:r>
          </a:p>
        </p:txBody>
      </p:sp>
      <p:sp>
        <p:nvSpPr>
          <p:cNvPr id="40" name="Line 17">
            <a:extLst>
              <a:ext uri="{FF2B5EF4-FFF2-40B4-BE49-F238E27FC236}">
                <a16:creationId xmlns:a16="http://schemas.microsoft.com/office/drawing/2014/main" id="{F11C2CCE-3059-4EB0-9690-AF318E5F4668}"/>
              </a:ext>
            </a:extLst>
          </p:cNvPr>
          <p:cNvSpPr>
            <a:spLocks noChangeShapeType="1"/>
          </p:cNvSpPr>
          <p:nvPr/>
        </p:nvSpPr>
        <p:spPr bwMode="auto">
          <a:xfrm>
            <a:off x="9154550" y="3910818"/>
            <a:ext cx="0" cy="838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41" name="Line 18">
            <a:extLst>
              <a:ext uri="{FF2B5EF4-FFF2-40B4-BE49-F238E27FC236}">
                <a16:creationId xmlns:a16="http://schemas.microsoft.com/office/drawing/2014/main" id="{D99C18E5-123E-4B51-864A-9F4A61AB74E8}"/>
              </a:ext>
            </a:extLst>
          </p:cNvPr>
          <p:cNvSpPr>
            <a:spLocks noChangeShapeType="1"/>
          </p:cNvSpPr>
          <p:nvPr/>
        </p:nvSpPr>
        <p:spPr bwMode="auto">
          <a:xfrm>
            <a:off x="9002150" y="3910818"/>
            <a:ext cx="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42" name="Line 19">
            <a:extLst>
              <a:ext uri="{FF2B5EF4-FFF2-40B4-BE49-F238E27FC236}">
                <a16:creationId xmlns:a16="http://schemas.microsoft.com/office/drawing/2014/main" id="{7D4A5B5A-DB7D-4389-9A3E-E916EE06683D}"/>
              </a:ext>
            </a:extLst>
          </p:cNvPr>
          <p:cNvSpPr>
            <a:spLocks noChangeShapeType="1"/>
          </p:cNvSpPr>
          <p:nvPr/>
        </p:nvSpPr>
        <p:spPr bwMode="auto">
          <a:xfrm>
            <a:off x="8163950" y="4520418"/>
            <a:ext cx="838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43" name="Line 20">
            <a:extLst>
              <a:ext uri="{FF2B5EF4-FFF2-40B4-BE49-F238E27FC236}">
                <a16:creationId xmlns:a16="http://schemas.microsoft.com/office/drawing/2014/main" id="{23A5E7D8-66ED-498E-97FB-CF03EFC4EC5A}"/>
              </a:ext>
            </a:extLst>
          </p:cNvPr>
          <p:cNvSpPr>
            <a:spLocks noChangeShapeType="1"/>
          </p:cNvSpPr>
          <p:nvPr/>
        </p:nvSpPr>
        <p:spPr bwMode="auto">
          <a:xfrm>
            <a:off x="8163950" y="4520418"/>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44" name="Line 21">
            <a:extLst>
              <a:ext uri="{FF2B5EF4-FFF2-40B4-BE49-F238E27FC236}">
                <a16:creationId xmlns:a16="http://schemas.microsoft.com/office/drawing/2014/main" id="{BC6BCB23-992D-47DE-80DE-C6A062401C69}"/>
              </a:ext>
            </a:extLst>
          </p:cNvPr>
          <p:cNvSpPr>
            <a:spLocks noChangeShapeType="1"/>
          </p:cNvSpPr>
          <p:nvPr/>
        </p:nvSpPr>
        <p:spPr bwMode="auto">
          <a:xfrm>
            <a:off x="9306950" y="3910818"/>
            <a:ext cx="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45" name="Line 22">
            <a:extLst>
              <a:ext uri="{FF2B5EF4-FFF2-40B4-BE49-F238E27FC236}">
                <a16:creationId xmlns:a16="http://schemas.microsoft.com/office/drawing/2014/main" id="{7D7D971F-7947-4CD2-871F-7D21C4D762C9}"/>
              </a:ext>
            </a:extLst>
          </p:cNvPr>
          <p:cNvSpPr>
            <a:spLocks noChangeShapeType="1"/>
          </p:cNvSpPr>
          <p:nvPr/>
        </p:nvSpPr>
        <p:spPr bwMode="auto">
          <a:xfrm>
            <a:off x="9306950" y="4520418"/>
            <a:ext cx="990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46" name="Line 23">
            <a:extLst>
              <a:ext uri="{FF2B5EF4-FFF2-40B4-BE49-F238E27FC236}">
                <a16:creationId xmlns:a16="http://schemas.microsoft.com/office/drawing/2014/main" id="{4FDDEEE7-0BC5-478A-B528-1AE3F2BCCB7D}"/>
              </a:ext>
            </a:extLst>
          </p:cNvPr>
          <p:cNvSpPr>
            <a:spLocks noChangeShapeType="1"/>
          </p:cNvSpPr>
          <p:nvPr/>
        </p:nvSpPr>
        <p:spPr bwMode="auto">
          <a:xfrm>
            <a:off x="10297550" y="4520418"/>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47" name="Line 27">
            <a:extLst>
              <a:ext uri="{FF2B5EF4-FFF2-40B4-BE49-F238E27FC236}">
                <a16:creationId xmlns:a16="http://schemas.microsoft.com/office/drawing/2014/main" id="{36B51889-1ACD-41B8-8B76-3471395762BF}"/>
              </a:ext>
            </a:extLst>
          </p:cNvPr>
          <p:cNvSpPr>
            <a:spLocks noChangeShapeType="1"/>
          </p:cNvSpPr>
          <p:nvPr/>
        </p:nvSpPr>
        <p:spPr bwMode="auto">
          <a:xfrm>
            <a:off x="7325750" y="1624818"/>
            <a:ext cx="0" cy="4419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48" name="Line 28">
            <a:extLst>
              <a:ext uri="{FF2B5EF4-FFF2-40B4-BE49-F238E27FC236}">
                <a16:creationId xmlns:a16="http://schemas.microsoft.com/office/drawing/2014/main" id="{F5EC8CA2-3E4D-48A0-A710-059CD9E89F03}"/>
              </a:ext>
            </a:extLst>
          </p:cNvPr>
          <p:cNvSpPr>
            <a:spLocks noChangeShapeType="1"/>
          </p:cNvSpPr>
          <p:nvPr/>
        </p:nvSpPr>
        <p:spPr bwMode="auto">
          <a:xfrm>
            <a:off x="1246749" y="1614488"/>
            <a:ext cx="0" cy="449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49" name="Text Box 29">
            <a:extLst>
              <a:ext uri="{FF2B5EF4-FFF2-40B4-BE49-F238E27FC236}">
                <a16:creationId xmlns:a16="http://schemas.microsoft.com/office/drawing/2014/main" id="{C6A3D793-9BEC-48A9-9A3A-50C2FE092C96}"/>
              </a:ext>
            </a:extLst>
          </p:cNvPr>
          <p:cNvSpPr txBox="1">
            <a:spLocks noChangeArrowheads="1"/>
          </p:cNvSpPr>
          <p:nvPr/>
        </p:nvSpPr>
        <p:spPr bwMode="auto">
          <a:xfrm rot="5378288">
            <a:off x="37074" y="3629026"/>
            <a:ext cx="19018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b="1"/>
              <a:t>(1) compiling</a:t>
            </a:r>
            <a:endParaRPr lang="en-US" altLang="en-US" sz="3200"/>
          </a:p>
        </p:txBody>
      </p:sp>
      <p:sp>
        <p:nvSpPr>
          <p:cNvPr id="50" name="Text Box 30">
            <a:extLst>
              <a:ext uri="{FF2B5EF4-FFF2-40B4-BE49-F238E27FC236}">
                <a16:creationId xmlns:a16="http://schemas.microsoft.com/office/drawing/2014/main" id="{8A7B7B7D-B9C2-4910-839B-92CB1E7EDCEA}"/>
              </a:ext>
            </a:extLst>
          </p:cNvPr>
          <p:cNvSpPr txBox="1">
            <a:spLocks noChangeArrowheads="1"/>
          </p:cNvSpPr>
          <p:nvPr/>
        </p:nvSpPr>
        <p:spPr bwMode="auto">
          <a:xfrm rot="5400000">
            <a:off x="6043844" y="3937012"/>
            <a:ext cx="21891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b="1"/>
              <a:t>(2) interpreting</a:t>
            </a:r>
            <a:endParaRPr lang="en-US" altLang="en-US"/>
          </a:p>
        </p:txBody>
      </p:sp>
      <p:sp>
        <p:nvSpPr>
          <p:cNvPr id="51" name="Rectangle 49">
            <a:extLst>
              <a:ext uri="{FF2B5EF4-FFF2-40B4-BE49-F238E27FC236}">
                <a16:creationId xmlns:a16="http://schemas.microsoft.com/office/drawing/2014/main" id="{033DBAC5-370D-43A3-A4EC-899818E9B8D0}"/>
              </a:ext>
            </a:extLst>
          </p:cNvPr>
          <p:cNvSpPr>
            <a:spLocks noChangeArrowheads="1"/>
          </p:cNvSpPr>
          <p:nvPr/>
        </p:nvSpPr>
        <p:spPr bwMode="auto">
          <a:xfrm>
            <a:off x="7630550" y="1624818"/>
            <a:ext cx="2971800" cy="304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400"/>
              <a:t>Java Bytecode (.class files)</a:t>
            </a:r>
            <a:endParaRPr lang="en-US" altLang="en-US" sz="3200"/>
          </a:p>
        </p:txBody>
      </p:sp>
      <p:sp>
        <p:nvSpPr>
          <p:cNvPr id="52" name="Line 51">
            <a:extLst>
              <a:ext uri="{FF2B5EF4-FFF2-40B4-BE49-F238E27FC236}">
                <a16:creationId xmlns:a16="http://schemas.microsoft.com/office/drawing/2014/main" id="{18E9C3B4-E009-4DB2-BC4C-0975A622BD6B}"/>
              </a:ext>
            </a:extLst>
          </p:cNvPr>
          <p:cNvSpPr>
            <a:spLocks noChangeShapeType="1"/>
          </p:cNvSpPr>
          <p:nvPr/>
        </p:nvSpPr>
        <p:spPr bwMode="auto">
          <a:xfrm>
            <a:off x="9078350" y="1929618"/>
            <a:ext cx="0" cy="1295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53" name="Oval 52">
            <a:extLst>
              <a:ext uri="{FF2B5EF4-FFF2-40B4-BE49-F238E27FC236}">
                <a16:creationId xmlns:a16="http://schemas.microsoft.com/office/drawing/2014/main" id="{6B564C6D-5833-4B77-8617-DB84AC0B7C3C}"/>
              </a:ext>
            </a:extLst>
          </p:cNvPr>
          <p:cNvSpPr>
            <a:spLocks noChangeArrowheads="1"/>
          </p:cNvSpPr>
          <p:nvPr/>
        </p:nvSpPr>
        <p:spPr bwMode="auto">
          <a:xfrm>
            <a:off x="7554350" y="3225018"/>
            <a:ext cx="3048000" cy="685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400"/>
              <a:t>Interpeting (</a:t>
            </a:r>
            <a:r>
              <a:rPr lang="en-US" altLang="en-US" sz="1400" b="1"/>
              <a:t>java</a:t>
            </a:r>
            <a:r>
              <a:rPr lang="en-US" altLang="en-US" sz="1400"/>
              <a:t> command)</a:t>
            </a:r>
            <a:endParaRPr lang="en-US" altLang="en-US" sz="3200"/>
          </a:p>
        </p:txBody>
      </p:sp>
      <p:sp>
        <p:nvSpPr>
          <p:cNvPr id="54" name="Line 53">
            <a:extLst>
              <a:ext uri="{FF2B5EF4-FFF2-40B4-BE49-F238E27FC236}">
                <a16:creationId xmlns:a16="http://schemas.microsoft.com/office/drawing/2014/main" id="{8B00254E-3892-445B-B5EE-867769FE2806}"/>
              </a:ext>
            </a:extLst>
          </p:cNvPr>
          <p:cNvSpPr>
            <a:spLocks noChangeShapeType="1"/>
          </p:cNvSpPr>
          <p:nvPr/>
        </p:nvSpPr>
        <p:spPr bwMode="auto">
          <a:xfrm flipV="1">
            <a:off x="4599548" y="5424487"/>
            <a:ext cx="973567" cy="1"/>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55" name="Line 54">
            <a:extLst>
              <a:ext uri="{FF2B5EF4-FFF2-40B4-BE49-F238E27FC236}">
                <a16:creationId xmlns:a16="http://schemas.microsoft.com/office/drawing/2014/main" id="{E996FABB-0213-44B9-B7AE-635D9ADC50EA}"/>
              </a:ext>
            </a:extLst>
          </p:cNvPr>
          <p:cNvSpPr>
            <a:spLocks noChangeShapeType="1"/>
          </p:cNvSpPr>
          <p:nvPr/>
        </p:nvSpPr>
        <p:spPr bwMode="auto">
          <a:xfrm flipV="1">
            <a:off x="5538224" y="1766888"/>
            <a:ext cx="1" cy="365758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
        <p:nvSpPr>
          <p:cNvPr id="56" name="Line 55">
            <a:extLst>
              <a:ext uri="{FF2B5EF4-FFF2-40B4-BE49-F238E27FC236}">
                <a16:creationId xmlns:a16="http://schemas.microsoft.com/office/drawing/2014/main" id="{E55D6ABD-957E-4319-A6BE-B04E85342986}"/>
              </a:ext>
            </a:extLst>
          </p:cNvPr>
          <p:cNvSpPr>
            <a:spLocks noChangeShapeType="1"/>
          </p:cNvSpPr>
          <p:nvPr/>
        </p:nvSpPr>
        <p:spPr bwMode="auto">
          <a:xfrm>
            <a:off x="5573114" y="1766887"/>
            <a:ext cx="1711343" cy="10329"/>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E"/>
          </a:p>
        </p:txBody>
      </p:sp>
    </p:spTree>
    <p:extLst>
      <p:ext uri="{BB962C8B-B14F-4D97-AF65-F5344CB8AC3E}">
        <p14:creationId xmlns:p14="http://schemas.microsoft.com/office/powerpoint/2010/main" val="6744580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D07DF-B19B-46C2-A420-8215FA30BDFB}"/>
              </a:ext>
            </a:extLst>
          </p:cNvPr>
          <p:cNvSpPr>
            <a:spLocks noGrp="1"/>
          </p:cNvSpPr>
          <p:nvPr>
            <p:ph type="title"/>
          </p:nvPr>
        </p:nvSpPr>
        <p:spPr/>
        <p:txBody>
          <a:bodyPr/>
          <a:lstStyle/>
          <a:p>
            <a:r>
              <a:rPr lang="en-US" altLang="en-US" dirty="0"/>
              <a:t>Overview of JAVA- Platform Independence</a:t>
            </a:r>
            <a:endParaRPr lang="en-IE" dirty="0"/>
          </a:p>
        </p:txBody>
      </p:sp>
      <p:sp>
        <p:nvSpPr>
          <p:cNvPr id="3" name="Content Placeholder 2">
            <a:extLst>
              <a:ext uri="{FF2B5EF4-FFF2-40B4-BE49-F238E27FC236}">
                <a16:creationId xmlns:a16="http://schemas.microsoft.com/office/drawing/2014/main" id="{C1F82D5F-B847-4088-BCF0-A88BD41AAC96}"/>
              </a:ext>
            </a:extLst>
          </p:cNvPr>
          <p:cNvSpPr>
            <a:spLocks noGrp="1"/>
          </p:cNvSpPr>
          <p:nvPr>
            <p:ph idx="1"/>
          </p:nvPr>
        </p:nvSpPr>
        <p:spPr/>
        <p:txBody>
          <a:bodyPr>
            <a:normAutofit lnSpcReduction="10000"/>
          </a:bodyPr>
          <a:lstStyle/>
          <a:p>
            <a:pPr>
              <a:buFontTx/>
              <a:buChar char="•"/>
            </a:pPr>
            <a:r>
              <a:rPr lang="en-US" altLang="en-US" sz="2400" dirty="0"/>
              <a:t>A platform </a:t>
            </a:r>
            <a:r>
              <a:rPr lang="en-US" altLang="en-US" sz="2400" b="1" dirty="0"/>
              <a:t>dependent</a:t>
            </a:r>
            <a:r>
              <a:rPr lang="en-US" altLang="en-US" sz="2400" dirty="0"/>
              <a:t> JVM converts the common byte code into machine instructions which can be understood by its operating system. This is called “interpreting”.</a:t>
            </a:r>
          </a:p>
          <a:p>
            <a:pPr>
              <a:buFontTx/>
              <a:buChar char="•"/>
            </a:pPr>
            <a:endParaRPr lang="en-US" altLang="en-US" sz="2400" dirty="0"/>
          </a:p>
          <a:p>
            <a:pPr>
              <a:buFontTx/>
              <a:buChar char="•"/>
            </a:pPr>
            <a:r>
              <a:rPr lang="en-US" altLang="en-US" sz="2400" dirty="0"/>
              <a:t>  So a separate JVM is needed for different platforms. The JVM for UNIX/NT/Linux are different but take common bytecode as their input.</a:t>
            </a:r>
          </a:p>
          <a:p>
            <a:pPr>
              <a:buFontTx/>
              <a:buChar char="•"/>
            </a:pPr>
            <a:endParaRPr lang="en-US" altLang="en-US" sz="2400" dirty="0"/>
          </a:p>
          <a:p>
            <a:pPr>
              <a:buFontTx/>
              <a:buChar char="•"/>
            </a:pPr>
            <a:r>
              <a:rPr lang="en-US" altLang="en-US" sz="2400" dirty="0"/>
              <a:t> Interpreters are slower than compilers because they translate as they go.</a:t>
            </a:r>
            <a:endParaRPr lang="en-US" altLang="en-US" sz="2000" dirty="0"/>
          </a:p>
          <a:p>
            <a:pPr>
              <a:buFontTx/>
              <a:buChar char="•"/>
            </a:pPr>
            <a:endParaRPr lang="en-US" altLang="en-US" sz="2000" dirty="0"/>
          </a:p>
          <a:p>
            <a:pPr>
              <a:buFontTx/>
              <a:buChar char="•"/>
            </a:pPr>
            <a:r>
              <a:rPr lang="en-US" altLang="en-US" sz="2400" dirty="0"/>
              <a:t> Using the “Just-In-Time” compiler, Java increases the execution speed which rivals that of C++.</a:t>
            </a:r>
          </a:p>
          <a:p>
            <a:endParaRPr lang="en-IE" sz="2600" dirty="0"/>
          </a:p>
        </p:txBody>
      </p:sp>
    </p:spTree>
    <p:extLst>
      <p:ext uri="{BB962C8B-B14F-4D97-AF65-F5344CB8AC3E}">
        <p14:creationId xmlns:p14="http://schemas.microsoft.com/office/powerpoint/2010/main" val="33982949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D07DF-B19B-46C2-A420-8215FA30BDFB}"/>
              </a:ext>
            </a:extLst>
          </p:cNvPr>
          <p:cNvSpPr>
            <a:spLocks noGrp="1"/>
          </p:cNvSpPr>
          <p:nvPr>
            <p:ph type="title"/>
          </p:nvPr>
        </p:nvSpPr>
        <p:spPr/>
        <p:txBody>
          <a:bodyPr/>
          <a:lstStyle/>
          <a:p>
            <a:r>
              <a:rPr lang="en-US" altLang="en-US" dirty="0"/>
              <a:t>Overview of JAVA- JRE, JVM,JDK</a:t>
            </a:r>
            <a:endParaRPr lang="en-IE" dirty="0"/>
          </a:p>
        </p:txBody>
      </p:sp>
      <p:sp>
        <p:nvSpPr>
          <p:cNvPr id="3" name="Content Placeholder 2">
            <a:extLst>
              <a:ext uri="{FF2B5EF4-FFF2-40B4-BE49-F238E27FC236}">
                <a16:creationId xmlns:a16="http://schemas.microsoft.com/office/drawing/2014/main" id="{C1F82D5F-B847-4088-BCF0-A88BD41AAC96}"/>
              </a:ext>
            </a:extLst>
          </p:cNvPr>
          <p:cNvSpPr>
            <a:spLocks noGrp="1"/>
          </p:cNvSpPr>
          <p:nvPr>
            <p:ph idx="1"/>
          </p:nvPr>
        </p:nvSpPr>
        <p:spPr/>
        <p:txBody>
          <a:bodyPr>
            <a:normAutofit/>
          </a:bodyPr>
          <a:lstStyle/>
          <a:p>
            <a:pPr algn="ctr"/>
            <a:r>
              <a:rPr lang="en-US" altLang="en-US" sz="2400" dirty="0"/>
              <a:t>JVM - Java Virtual Machine</a:t>
            </a:r>
          </a:p>
          <a:p>
            <a:pPr algn="ctr"/>
            <a:endParaRPr lang="en-US" altLang="en-US" sz="2400" dirty="0"/>
          </a:p>
          <a:p>
            <a:pPr>
              <a:buFontTx/>
              <a:buChar char="•"/>
            </a:pPr>
            <a:r>
              <a:rPr lang="en-US" altLang="en-US" sz="2400" dirty="0"/>
              <a:t> JVM is the Java interpreter (“java” command). One JVM needed per platform type e.g. UNIX. Converts byte code (.class files) in to machine code which can be understood by an OS.</a:t>
            </a:r>
          </a:p>
          <a:p>
            <a:pPr>
              <a:buFontTx/>
              <a:buChar char="•"/>
            </a:pPr>
            <a:endParaRPr lang="en-US" altLang="en-US" sz="2400" dirty="0"/>
          </a:p>
          <a:p>
            <a:r>
              <a:rPr lang="en-US" altLang="en-US" sz="2400" b="1" dirty="0"/>
              <a:t>Note</a:t>
            </a:r>
            <a:r>
              <a:rPr lang="en-US" altLang="en-US" sz="2400" dirty="0"/>
              <a:t>: Have to have the JVM in order to execute class files. This is different to traditional compilation methods.</a:t>
            </a:r>
          </a:p>
          <a:p>
            <a:endParaRPr lang="en-IE" sz="2600" dirty="0"/>
          </a:p>
        </p:txBody>
      </p:sp>
    </p:spTree>
    <p:extLst>
      <p:ext uri="{BB962C8B-B14F-4D97-AF65-F5344CB8AC3E}">
        <p14:creationId xmlns:p14="http://schemas.microsoft.com/office/powerpoint/2010/main" val="29374997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D07DF-B19B-46C2-A420-8215FA30BDFB}"/>
              </a:ext>
            </a:extLst>
          </p:cNvPr>
          <p:cNvSpPr>
            <a:spLocks noGrp="1"/>
          </p:cNvSpPr>
          <p:nvPr>
            <p:ph type="title"/>
          </p:nvPr>
        </p:nvSpPr>
        <p:spPr/>
        <p:txBody>
          <a:bodyPr/>
          <a:lstStyle/>
          <a:p>
            <a:r>
              <a:rPr lang="en-US" altLang="en-US" dirty="0"/>
              <a:t>Overview of JAVA- JRE, JVM,JDK</a:t>
            </a:r>
            <a:endParaRPr lang="en-IE" dirty="0"/>
          </a:p>
        </p:txBody>
      </p:sp>
      <p:sp>
        <p:nvSpPr>
          <p:cNvPr id="3" name="Content Placeholder 2">
            <a:extLst>
              <a:ext uri="{FF2B5EF4-FFF2-40B4-BE49-F238E27FC236}">
                <a16:creationId xmlns:a16="http://schemas.microsoft.com/office/drawing/2014/main" id="{C1F82D5F-B847-4088-BCF0-A88BD41AAC96}"/>
              </a:ext>
            </a:extLst>
          </p:cNvPr>
          <p:cNvSpPr>
            <a:spLocks noGrp="1"/>
          </p:cNvSpPr>
          <p:nvPr>
            <p:ph idx="1"/>
          </p:nvPr>
        </p:nvSpPr>
        <p:spPr/>
        <p:txBody>
          <a:bodyPr>
            <a:normAutofit/>
          </a:bodyPr>
          <a:lstStyle/>
          <a:p>
            <a:pPr algn="ctr"/>
            <a:r>
              <a:rPr lang="en-US" altLang="en-US" sz="2400" dirty="0"/>
              <a:t>JRE - Java Run Time Environment</a:t>
            </a:r>
          </a:p>
          <a:p>
            <a:pPr algn="ctr"/>
            <a:endParaRPr lang="en-US" altLang="en-US" sz="2400" dirty="0"/>
          </a:p>
          <a:p>
            <a:pPr algn="ctr"/>
            <a:endParaRPr lang="en-US" altLang="en-US" sz="1000" dirty="0"/>
          </a:p>
          <a:p>
            <a:pPr>
              <a:buFontTx/>
              <a:buChar char="•"/>
            </a:pPr>
            <a:r>
              <a:rPr lang="en-US" altLang="en-US" sz="2400" dirty="0"/>
              <a:t> The JRE is a set of files and </a:t>
            </a:r>
            <a:r>
              <a:rPr lang="en-US" altLang="en-US" sz="2400" b="1" dirty="0"/>
              <a:t>contains</a:t>
            </a:r>
            <a:r>
              <a:rPr lang="en-US" altLang="en-US" sz="2400" dirty="0"/>
              <a:t> the JVM, Java core classes, and supporting files.</a:t>
            </a:r>
          </a:p>
          <a:p>
            <a:pPr>
              <a:buFontTx/>
              <a:buChar char="•"/>
            </a:pPr>
            <a:endParaRPr lang="en-US" altLang="en-US" sz="2400" dirty="0"/>
          </a:p>
          <a:p>
            <a:pPr>
              <a:buFontTx/>
              <a:buChar char="•"/>
            </a:pPr>
            <a:r>
              <a:rPr lang="en-US" altLang="en-US" sz="2400" dirty="0"/>
              <a:t>JRE is used to execute programs by end users.</a:t>
            </a:r>
          </a:p>
          <a:p>
            <a:endParaRPr lang="en-IE" sz="2600" dirty="0"/>
          </a:p>
        </p:txBody>
      </p:sp>
    </p:spTree>
    <p:extLst>
      <p:ext uri="{BB962C8B-B14F-4D97-AF65-F5344CB8AC3E}">
        <p14:creationId xmlns:p14="http://schemas.microsoft.com/office/powerpoint/2010/main" val="25320376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D07DF-B19B-46C2-A420-8215FA30BDFB}"/>
              </a:ext>
            </a:extLst>
          </p:cNvPr>
          <p:cNvSpPr>
            <a:spLocks noGrp="1"/>
          </p:cNvSpPr>
          <p:nvPr>
            <p:ph type="title"/>
          </p:nvPr>
        </p:nvSpPr>
        <p:spPr/>
        <p:txBody>
          <a:bodyPr/>
          <a:lstStyle/>
          <a:p>
            <a:r>
              <a:rPr lang="en-US" altLang="en-US" dirty="0"/>
              <a:t>Overview of JAVA- JRE, JVM,JDK</a:t>
            </a:r>
            <a:endParaRPr lang="en-IE" dirty="0"/>
          </a:p>
        </p:txBody>
      </p:sp>
      <p:sp>
        <p:nvSpPr>
          <p:cNvPr id="9" name="Rectangle 4">
            <a:extLst>
              <a:ext uri="{FF2B5EF4-FFF2-40B4-BE49-F238E27FC236}">
                <a16:creationId xmlns:a16="http://schemas.microsoft.com/office/drawing/2014/main" id="{402F1F36-045C-4897-A3DF-091D93B151FC}"/>
              </a:ext>
            </a:extLst>
          </p:cNvPr>
          <p:cNvSpPr>
            <a:spLocks noChangeArrowheads="1"/>
          </p:cNvSpPr>
          <p:nvPr/>
        </p:nvSpPr>
        <p:spPr bwMode="auto">
          <a:xfrm>
            <a:off x="2106636" y="1340644"/>
            <a:ext cx="71929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dirty="0">
                <a:latin typeface="+mn-lt"/>
              </a:rPr>
              <a:t>JRE - Java Run Time Environment</a:t>
            </a:r>
          </a:p>
        </p:txBody>
      </p:sp>
      <p:pic>
        <p:nvPicPr>
          <p:cNvPr id="10" name="Picture 5">
            <a:extLst>
              <a:ext uri="{FF2B5EF4-FFF2-40B4-BE49-F238E27FC236}">
                <a16:creationId xmlns:a16="http://schemas.microsoft.com/office/drawing/2014/main" id="{4B488429-EF74-4040-B569-DF55C90F67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904999"/>
            <a:ext cx="4447992" cy="458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 Box 6">
            <a:extLst>
              <a:ext uri="{FF2B5EF4-FFF2-40B4-BE49-F238E27FC236}">
                <a16:creationId xmlns:a16="http://schemas.microsoft.com/office/drawing/2014/main" id="{4D53CA95-371A-4F88-8833-BE229B20D195}"/>
              </a:ext>
            </a:extLst>
          </p:cNvPr>
          <p:cNvSpPr txBox="1">
            <a:spLocks noChangeArrowheads="1"/>
          </p:cNvSpPr>
          <p:nvPr/>
        </p:nvSpPr>
        <p:spPr bwMode="auto">
          <a:xfrm>
            <a:off x="5996353" y="2666207"/>
            <a:ext cx="4906108"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dirty="0">
                <a:latin typeface="+mn-lt"/>
              </a:rPr>
              <a:t>Directory structure of the JRE.</a:t>
            </a:r>
          </a:p>
          <a:p>
            <a:endParaRPr lang="en-US" altLang="en-US" dirty="0">
              <a:latin typeface="+mn-lt"/>
            </a:endParaRPr>
          </a:p>
          <a:p>
            <a:r>
              <a:rPr lang="en-US" altLang="en-US" dirty="0">
                <a:latin typeface="+mn-lt"/>
              </a:rPr>
              <a:t>All these files are part of the JRE.</a:t>
            </a:r>
          </a:p>
          <a:p>
            <a:endParaRPr lang="en-US" altLang="en-US" dirty="0">
              <a:latin typeface="+mn-lt"/>
            </a:endParaRPr>
          </a:p>
          <a:p>
            <a:r>
              <a:rPr lang="en-US" altLang="en-US" dirty="0">
                <a:latin typeface="+mn-lt"/>
              </a:rPr>
              <a:t>The JVM is in the /bin directory.</a:t>
            </a:r>
          </a:p>
        </p:txBody>
      </p:sp>
    </p:spTree>
    <p:extLst>
      <p:ext uri="{BB962C8B-B14F-4D97-AF65-F5344CB8AC3E}">
        <p14:creationId xmlns:p14="http://schemas.microsoft.com/office/powerpoint/2010/main" val="12581690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D07DF-B19B-46C2-A420-8215FA30BDFB}"/>
              </a:ext>
            </a:extLst>
          </p:cNvPr>
          <p:cNvSpPr>
            <a:spLocks noGrp="1"/>
          </p:cNvSpPr>
          <p:nvPr>
            <p:ph type="title"/>
          </p:nvPr>
        </p:nvSpPr>
        <p:spPr/>
        <p:txBody>
          <a:bodyPr/>
          <a:lstStyle/>
          <a:p>
            <a:r>
              <a:rPr lang="en-US" altLang="en-US" dirty="0"/>
              <a:t>Overview of JAVA- JRE, JVM,JDK</a:t>
            </a:r>
            <a:endParaRPr lang="en-IE" dirty="0"/>
          </a:p>
        </p:txBody>
      </p:sp>
      <p:sp>
        <p:nvSpPr>
          <p:cNvPr id="3" name="Content Placeholder 2">
            <a:extLst>
              <a:ext uri="{FF2B5EF4-FFF2-40B4-BE49-F238E27FC236}">
                <a16:creationId xmlns:a16="http://schemas.microsoft.com/office/drawing/2014/main" id="{C1F82D5F-B847-4088-BCF0-A88BD41AAC96}"/>
              </a:ext>
            </a:extLst>
          </p:cNvPr>
          <p:cNvSpPr>
            <a:spLocks noGrp="1"/>
          </p:cNvSpPr>
          <p:nvPr>
            <p:ph idx="1"/>
          </p:nvPr>
        </p:nvSpPr>
        <p:spPr/>
        <p:txBody>
          <a:bodyPr>
            <a:normAutofit/>
          </a:bodyPr>
          <a:lstStyle/>
          <a:p>
            <a:pPr algn="ctr"/>
            <a:r>
              <a:rPr lang="en-US" altLang="en-US" sz="2400" dirty="0"/>
              <a:t>JDK - Java Development Kit</a:t>
            </a:r>
          </a:p>
          <a:p>
            <a:endParaRPr lang="en-US" altLang="en-US" sz="2400" dirty="0"/>
          </a:p>
          <a:p>
            <a:pPr>
              <a:buFontTx/>
              <a:buChar char="•"/>
            </a:pPr>
            <a:r>
              <a:rPr lang="en-US" altLang="en-US" sz="2400" dirty="0"/>
              <a:t> The JDK is a set of tools used by software designers to </a:t>
            </a:r>
            <a:r>
              <a:rPr lang="en-US" altLang="en-US" sz="2400" b="1" dirty="0"/>
              <a:t>develop</a:t>
            </a:r>
            <a:r>
              <a:rPr lang="en-US" altLang="en-US" sz="2400" dirty="0"/>
              <a:t> JAVA code. Example of a tool is an </a:t>
            </a:r>
            <a:r>
              <a:rPr lang="en-US" altLang="en-US" sz="2400" dirty="0" err="1"/>
              <a:t>appletviewer</a:t>
            </a:r>
            <a:r>
              <a:rPr lang="en-US" altLang="en-US" sz="2400" dirty="0"/>
              <a:t>.</a:t>
            </a:r>
          </a:p>
          <a:p>
            <a:pPr>
              <a:buFontTx/>
              <a:buChar char="•"/>
            </a:pPr>
            <a:endParaRPr lang="en-US" altLang="en-US" sz="2400" dirty="0"/>
          </a:p>
          <a:p>
            <a:pPr>
              <a:buFontTx/>
              <a:buChar char="•"/>
            </a:pPr>
            <a:r>
              <a:rPr lang="en-US" altLang="en-US" sz="2400" dirty="0"/>
              <a:t> The JDK includes a JRE directory as developers will also need to run their code to test it.</a:t>
            </a:r>
          </a:p>
          <a:p>
            <a:endParaRPr lang="en-IE" sz="2600" dirty="0"/>
          </a:p>
        </p:txBody>
      </p:sp>
    </p:spTree>
    <p:extLst>
      <p:ext uri="{BB962C8B-B14F-4D97-AF65-F5344CB8AC3E}">
        <p14:creationId xmlns:p14="http://schemas.microsoft.com/office/powerpoint/2010/main" val="14100665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D07DF-B19B-46C2-A420-8215FA30BDFB}"/>
              </a:ext>
            </a:extLst>
          </p:cNvPr>
          <p:cNvSpPr>
            <a:spLocks noGrp="1"/>
          </p:cNvSpPr>
          <p:nvPr>
            <p:ph type="title"/>
          </p:nvPr>
        </p:nvSpPr>
        <p:spPr/>
        <p:txBody>
          <a:bodyPr/>
          <a:lstStyle/>
          <a:p>
            <a:r>
              <a:rPr lang="en-US" altLang="en-US" dirty="0"/>
              <a:t>Overview of JAVA- JRE, JVM,JDK</a:t>
            </a:r>
            <a:endParaRPr lang="en-IE" dirty="0"/>
          </a:p>
        </p:txBody>
      </p:sp>
      <p:sp>
        <p:nvSpPr>
          <p:cNvPr id="9" name="Rectangle 4">
            <a:extLst>
              <a:ext uri="{FF2B5EF4-FFF2-40B4-BE49-F238E27FC236}">
                <a16:creationId xmlns:a16="http://schemas.microsoft.com/office/drawing/2014/main" id="{402F1F36-045C-4897-A3DF-091D93B151FC}"/>
              </a:ext>
            </a:extLst>
          </p:cNvPr>
          <p:cNvSpPr>
            <a:spLocks noChangeArrowheads="1"/>
          </p:cNvSpPr>
          <p:nvPr/>
        </p:nvSpPr>
        <p:spPr bwMode="auto">
          <a:xfrm>
            <a:off x="2106636" y="1340644"/>
            <a:ext cx="71929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dirty="0"/>
              <a:t>JDK - Java Development Kit</a:t>
            </a:r>
          </a:p>
        </p:txBody>
      </p:sp>
      <p:sp>
        <p:nvSpPr>
          <p:cNvPr id="11" name="Text Box 6">
            <a:extLst>
              <a:ext uri="{FF2B5EF4-FFF2-40B4-BE49-F238E27FC236}">
                <a16:creationId xmlns:a16="http://schemas.microsoft.com/office/drawing/2014/main" id="{4D53CA95-371A-4F88-8833-BE229B20D195}"/>
              </a:ext>
            </a:extLst>
          </p:cNvPr>
          <p:cNvSpPr txBox="1">
            <a:spLocks noChangeArrowheads="1"/>
          </p:cNvSpPr>
          <p:nvPr/>
        </p:nvSpPr>
        <p:spPr bwMode="auto">
          <a:xfrm>
            <a:off x="5996353" y="2666207"/>
            <a:ext cx="4906108"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dirty="0"/>
              <a:t>Directory structure of the JDK.</a:t>
            </a:r>
          </a:p>
          <a:p>
            <a:endParaRPr lang="en-US" altLang="en-US" dirty="0"/>
          </a:p>
          <a:p>
            <a:r>
              <a:rPr lang="en-US" altLang="en-US" dirty="0"/>
              <a:t>The JRE has its own directory within the JDK.</a:t>
            </a:r>
            <a:endParaRPr lang="en-US" altLang="en-US" dirty="0">
              <a:latin typeface="+mn-lt"/>
            </a:endParaRPr>
          </a:p>
        </p:txBody>
      </p:sp>
      <p:pic>
        <p:nvPicPr>
          <p:cNvPr id="6" name="Picture 4">
            <a:extLst>
              <a:ext uri="{FF2B5EF4-FFF2-40B4-BE49-F238E27FC236}">
                <a16:creationId xmlns:a16="http://schemas.microsoft.com/office/drawing/2014/main" id="{E9F5BDED-DCAC-420F-ABAD-6FCA507EFF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3752" y="2067951"/>
            <a:ext cx="4451213" cy="4543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4" name="Straight Arrow Connector 3">
            <a:extLst>
              <a:ext uri="{FF2B5EF4-FFF2-40B4-BE49-F238E27FC236}">
                <a16:creationId xmlns:a16="http://schemas.microsoft.com/office/drawing/2014/main" id="{5996ABCD-F465-4EF6-BC35-532E36BC8CD5}"/>
              </a:ext>
            </a:extLst>
          </p:cNvPr>
          <p:cNvCxnSpPr>
            <a:cxnSpLocks/>
          </p:cNvCxnSpPr>
          <p:nvPr/>
        </p:nvCxnSpPr>
        <p:spPr>
          <a:xfrm flipH="1">
            <a:off x="2724445" y="4339882"/>
            <a:ext cx="3371555" cy="1062111"/>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41498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1541</TotalTime>
  <Words>697</Words>
  <Application>Microsoft Office PowerPoint</Application>
  <PresentationFormat>Widescreen</PresentationFormat>
  <Paragraphs>105</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Times New Roman</vt:lpstr>
      <vt:lpstr>Office Theme</vt:lpstr>
      <vt:lpstr>Software Development 3</vt:lpstr>
      <vt:lpstr>Information</vt:lpstr>
      <vt:lpstr>About this course</vt:lpstr>
      <vt:lpstr>Learning outcomes</vt:lpstr>
      <vt:lpstr>Marking Scheme</vt:lpstr>
      <vt:lpstr>Overview of JAVA- Platform Independence</vt:lpstr>
      <vt:lpstr>Overview of JAVA- Platform Independence</vt:lpstr>
      <vt:lpstr>Overview of JAVA- Platform Independence</vt:lpstr>
      <vt:lpstr>Overview of JAVA- Platform Independence</vt:lpstr>
      <vt:lpstr>Overview of JAVA- JRE, JVM,JDK</vt:lpstr>
      <vt:lpstr>Overview of JAVA- JRE, JVM,JDK</vt:lpstr>
      <vt:lpstr>Overview of JAVA- JRE, JVM,JDK</vt:lpstr>
      <vt:lpstr>Overview of JAVA- JRE, JVM,JDK</vt:lpstr>
      <vt:lpstr>Overview of JAVA- JRE, JVM,JDK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Mobile Apps and Connected Devices </dc:title>
  <dc:creator>CURRAN, MARTINA</dc:creator>
  <cp:lastModifiedBy>techstaff</cp:lastModifiedBy>
  <cp:revision>14</cp:revision>
  <dcterms:created xsi:type="dcterms:W3CDTF">2019-08-12T15:58:15Z</dcterms:created>
  <dcterms:modified xsi:type="dcterms:W3CDTF">2020-09-13T20:23:43Z</dcterms:modified>
</cp:coreProperties>
</file>