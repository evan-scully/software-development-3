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2" r:id="rId13"/>
    <p:sldId id="268" r:id="rId14"/>
    <p:sldId id="283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4" autoAdjust="0"/>
    <p:restoredTop sz="94249" autoAdjust="0"/>
  </p:normalViewPr>
  <p:slideViewPr>
    <p:cSldViewPr snapToGrid="0">
      <p:cViewPr varScale="1">
        <p:scale>
          <a:sx n="59" d="100"/>
          <a:sy n="59" d="100"/>
        </p:scale>
        <p:origin x="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D15A6-0673-4BAE-AA6E-834F52DAB3B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5DA770-2EBF-4322-82CC-0FB41062A66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30986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1678-2D86-4DAE-847A-55B8AAA65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41B2CF-975D-4351-9694-6F1AFAA44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B876B-2BBD-4769-833E-D503374BB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02A31-A755-4B89-9E8A-DC2074EA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F5046-4908-4092-97DA-BB710C05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657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99EF-45DF-43CB-B92F-7BBD6ACAA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D277-84F6-428A-B396-8687052E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3A558-0664-448D-BA15-FCA859AD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B2868-56D3-4FDB-8897-19830FC28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4A271-070A-4321-9A04-B951AC632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273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AB5C-EBFD-4E56-8963-D648BF2B1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890B5-7649-4B23-828C-C28C84C7F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75F4E-409A-4954-899A-0C545322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4AC6F-9ECE-48D8-8ABD-54D5DB0B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D47-CB26-4D81-897F-F840B153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6789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16C9-C584-4BDD-88DF-DDC3FCE43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0686E-1BD6-4FC9-BE5C-94C3CC27C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F83F51-9A68-42D5-B79F-2CEB32173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BC281-9E06-4C6B-A2D5-2267188F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E3BFB-7E00-48D5-849C-CDB782A7A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7D561-473C-4AC5-928F-29F225D0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543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7055D-0FF3-4678-B9AE-A46C620B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F3C1A-4C0E-4EB8-96B8-8A8F0F77A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04207-17C4-459A-A3C8-007ED7040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D13C8-58F1-44FB-BDFB-65977225F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CD19A-A846-4C99-8BD3-8911AD267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5A3DFA-FCA8-403E-8164-3A9F52608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CCD9E3-A548-464D-8063-249E902F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65957-7643-4F72-A1FC-14E62C7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8846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6596-C70F-4B23-8192-74234FE2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CA9698-A2D2-4EA9-BEE3-21DEEB677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7ACFD-DA4F-408B-A623-5B451F27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5B1EEC-3EB0-4701-AFE6-AD468C9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944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A6EEC7-E653-4288-B1A7-C2CAFFA8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6EFED-B925-4903-9BA0-526E6D6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65E58-B2CE-41DD-861C-2220E228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083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061E-BE60-4B35-9006-7C13398F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17D56-040E-47CA-8F46-0A16F7E11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EEDAA-7971-4D0F-88CF-DDAC09979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E7E2D-9D6C-4977-87F1-0C7B116F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4070-92C5-41D2-92E1-A90384A1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A36A9-8D9C-497E-8E13-272C4BF5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137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2A43-46DA-492B-9F3B-CCCC16B3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E27B6-2EDE-45AA-9C71-EE637E536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A5422-60E5-4EB9-BA9B-749EAB1ED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837829-CFAD-444D-9F28-09A1BC8A9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95C8D-44E8-45E0-92B0-CD0D7D53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551FF-4C4C-433A-B1F1-B286ADB0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774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6684D-CEF2-4F8F-AB87-8998E84F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EDC20-95A1-40ED-A4C8-801477970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4F649-EEF3-4D9F-9ADA-DAB0EEEC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73AD7-B3D6-47F2-86A2-40B9BF3B5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0D4E4-3868-40AF-A75B-C12657A8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D7399-0E97-4804-9311-75631F187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DE05F4-E523-4848-AAB8-4341BEAE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F6C01-7D91-432F-B037-5422A2F56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A7E6F-89F0-42FA-AACC-D211E5F3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2E5C9-5637-46EA-9E55-1C3C132B9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124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2E40E-CD1F-4D6A-A5C0-6AB99C16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7F4A-CFF7-4801-B83C-7281DFA09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708A6-8026-43C5-A6DF-205DA74315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5572E-433B-4C3C-9216-427A579344CD}" type="datetimeFigureOut">
              <a:rPr lang="en-IE" smtClean="0"/>
              <a:t>24/09/2019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329E-D46A-4C6D-8C77-B38E86412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45A8-7D25-4353-B61B-79E8C939F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E6887-6153-4429-AEB1-AABFEB6BB66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1751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7D82C-2767-4733-92AF-759DBF7BA3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Software Development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E9A08-CC23-4E26-9F82-CC9B76F72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Abstract Classes and Interfaces</a:t>
            </a:r>
          </a:p>
        </p:txBody>
      </p:sp>
    </p:spTree>
    <p:extLst>
      <p:ext uri="{BB962C8B-B14F-4D97-AF65-F5344CB8AC3E}">
        <p14:creationId xmlns:p14="http://schemas.microsoft.com/office/powerpoint/2010/main" val="256326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FA6D7-35D1-4B7C-AE6A-B1A27730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AU" dirty="0"/>
              <a:t>Abstract Classes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DF6B0-7737-41F0-9FC3-8278B0743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AU" altLang="en-AU" dirty="0"/>
              <a:t>An</a:t>
            </a:r>
            <a:r>
              <a:rPr lang="en-AU" altLang="en-AU" i="1" dirty="0"/>
              <a:t> </a:t>
            </a:r>
            <a:r>
              <a:rPr lang="en-AU" altLang="en-AU" i="1" dirty="0">
                <a:solidFill>
                  <a:srgbClr val="FC0128"/>
                </a:solidFill>
              </a:rPr>
              <a:t>Abstract </a:t>
            </a:r>
            <a:r>
              <a:rPr lang="en-AU" altLang="en-AU" dirty="0"/>
              <a:t>class is a conceptual class.</a:t>
            </a:r>
          </a:p>
          <a:p>
            <a:pPr>
              <a:lnSpc>
                <a:spcPct val="80000"/>
              </a:lnSpc>
            </a:pPr>
            <a:endParaRPr lang="en-AU" altLang="en-AU" dirty="0"/>
          </a:p>
          <a:p>
            <a:pPr>
              <a:lnSpc>
                <a:spcPct val="80000"/>
              </a:lnSpc>
            </a:pPr>
            <a:r>
              <a:rPr lang="en-AU" altLang="en-AU" dirty="0"/>
              <a:t>An Abstract</a:t>
            </a:r>
            <a:r>
              <a:rPr lang="en-AU" altLang="en-AU" dirty="0">
                <a:solidFill>
                  <a:schemeClr val="folHlink"/>
                </a:solidFill>
              </a:rPr>
              <a:t> </a:t>
            </a:r>
            <a:r>
              <a:rPr lang="en-AU" altLang="en-AU" dirty="0"/>
              <a:t>class cannot be instantiated – objects cannot  be created.</a:t>
            </a:r>
          </a:p>
          <a:p>
            <a:pPr>
              <a:lnSpc>
                <a:spcPct val="80000"/>
              </a:lnSpc>
            </a:pPr>
            <a:endParaRPr lang="en-AU" altLang="en-AU" dirty="0"/>
          </a:p>
          <a:p>
            <a:pPr>
              <a:lnSpc>
                <a:spcPct val="80000"/>
              </a:lnSpc>
            </a:pPr>
            <a:r>
              <a:rPr lang="en-IE" altLang="en-US" dirty="0"/>
              <a:t>Abstract classes cannot be instantiated, but they can be sub-classed.</a:t>
            </a:r>
            <a:endParaRPr lang="en-AU" altLang="en-AU" dirty="0"/>
          </a:p>
          <a:p>
            <a:pPr>
              <a:lnSpc>
                <a:spcPct val="80000"/>
              </a:lnSpc>
              <a:buNone/>
            </a:pPr>
            <a:endParaRPr lang="en-AU" altLang="en-AU" dirty="0"/>
          </a:p>
          <a:p>
            <a:pPr>
              <a:lnSpc>
                <a:spcPct val="80000"/>
              </a:lnSpc>
            </a:pPr>
            <a:r>
              <a:rPr lang="en-AU" altLang="en-AU" dirty="0"/>
              <a:t>Abstract classes provides a common root for a group of classes, nicely tied together in a package.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36508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58576-EBA6-47B0-801B-DC708EB1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Use 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C30B-0A0F-4ADE-96D7-D0883AB9E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dirty="0"/>
              <a:t>Abstract classes let you define base behaviour so the programmer doesn’t have to define everything (through inheritance) AND they force structure on any subclasses.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39984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E554-2251-4E07-BF39-D93E7BB1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Abstract Class Concept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D4582-B228-4CDD-91EE-3D335CD6F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-182880">
              <a:buFont typeface="Wingdings" charset="2"/>
              <a:buChar char="§"/>
              <a:defRPr/>
            </a:pPr>
            <a:r>
              <a:rPr lang="en-AU" altLang="en-AU" sz="2400" dirty="0"/>
              <a:t>A football supporter is an abstract concept.</a:t>
            </a:r>
          </a:p>
          <a:p>
            <a:pPr indent="-182880">
              <a:buFont typeface="Wingdings" charset="2"/>
              <a:buChar char="§"/>
              <a:defRPr/>
            </a:pPr>
            <a:endParaRPr lang="en-AU" altLang="en-AU" sz="2400" dirty="0"/>
          </a:p>
          <a:p>
            <a:pPr indent="-182880">
              <a:buFont typeface="Wingdings" charset="2"/>
              <a:buChar char="§"/>
              <a:defRPr/>
            </a:pPr>
            <a:r>
              <a:rPr lang="en-AU" sz="2400" dirty="0"/>
              <a:t>Is it possible to have a football supporter who does not support a specific team? …….Lets say No (ABU’s are therefore not football supporters </a:t>
            </a:r>
            <a:r>
              <a:rPr lang="en-AU" sz="2400" dirty="0">
                <a:sym typeface="Wingdings" panose="05000000000000000000" pitchFamily="2" charset="2"/>
              </a:rPr>
              <a:t></a:t>
            </a:r>
            <a:r>
              <a:rPr lang="en-AU" sz="2400" dirty="0"/>
              <a:t>) </a:t>
            </a:r>
          </a:p>
          <a:p>
            <a:pPr indent="-182880">
              <a:buFont typeface="Wingdings" charset="2"/>
              <a:buChar char="§"/>
              <a:defRPr/>
            </a:pPr>
            <a:endParaRPr lang="en-AU" sz="2400" dirty="0"/>
          </a:p>
          <a:p>
            <a:pPr indent="-182880" algn="just">
              <a:buFont typeface="Wingdings" charset="2"/>
              <a:buChar char="§"/>
              <a:defRPr/>
            </a:pPr>
            <a:r>
              <a:rPr lang="en-AU" sz="2400" dirty="0"/>
              <a:t>So if you are a football supporter you support a specific team:</a:t>
            </a:r>
          </a:p>
          <a:p>
            <a:pPr lvl="1" indent="-182880">
              <a:buFont typeface="Wingdings" charset="2"/>
              <a:buChar char="§"/>
              <a:defRPr/>
            </a:pPr>
            <a:r>
              <a:rPr lang="en-AU" sz="2200" dirty="0"/>
              <a:t>Liverpool supporter is an example of a football supporter.</a:t>
            </a:r>
          </a:p>
          <a:p>
            <a:pPr lvl="1" indent="-182880">
              <a:buFont typeface="Wingdings" charset="2"/>
              <a:buChar char="§"/>
              <a:defRPr/>
            </a:pPr>
            <a:endParaRPr lang="en-AU" sz="2200" dirty="0"/>
          </a:p>
          <a:p>
            <a:pPr lvl="1" indent="-182880">
              <a:buFont typeface="Wingdings" charset="2"/>
              <a:buChar char="§"/>
              <a:defRPr/>
            </a:pPr>
            <a:r>
              <a:rPr lang="en-AU" sz="2200" dirty="0"/>
              <a:t>United supporter is an example of a football supporter.</a:t>
            </a:r>
          </a:p>
          <a:p>
            <a:pPr lvl="1" indent="-182880">
              <a:buFont typeface="Wingdings" charset="2"/>
              <a:buChar char="§"/>
              <a:defRPr/>
            </a:pPr>
            <a:endParaRPr lang="en-AU" sz="2200" dirty="0"/>
          </a:p>
          <a:p>
            <a:pPr lvl="1" indent="-182880">
              <a:buFont typeface="Wingdings" charset="2"/>
              <a:buChar char="§"/>
              <a:defRPr/>
            </a:pPr>
            <a:r>
              <a:rPr lang="en-AU" sz="2200" dirty="0"/>
              <a:t>Chelsea supporter is an example of a football supporter.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42183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4297-308F-4A11-A0B5-6E58CC82C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Abstract Class Concept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6CC7-F8FC-4A04-B166-0C0E2AB4D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altLang="en-US" dirty="0"/>
              <a:t>The issue is we would like to exploit the commonality of the various types of football supporter objects – the issue is that the football supporter is an abstract concept and does not make sense without a concrete implementation; </a:t>
            </a:r>
            <a:r>
              <a:rPr lang="en-AU" altLang="en-US" dirty="0" err="1"/>
              <a:t>LiverpoolSupporter</a:t>
            </a:r>
            <a:r>
              <a:rPr lang="en-AU" altLang="en-US" dirty="0"/>
              <a:t>, </a:t>
            </a:r>
            <a:r>
              <a:rPr lang="en-AU" altLang="en-US" dirty="0" err="1"/>
              <a:t>UnitedSupporter</a:t>
            </a:r>
            <a:r>
              <a:rPr lang="en-AU" altLang="en-US" dirty="0"/>
              <a:t>, </a:t>
            </a:r>
            <a:r>
              <a:rPr lang="en-AU" altLang="en-US" dirty="0" err="1"/>
              <a:t>ChelseaSupporter</a:t>
            </a:r>
            <a:r>
              <a:rPr lang="en-AU" altLang="en-US" dirty="0"/>
              <a:t> </a:t>
            </a:r>
          </a:p>
          <a:p>
            <a:endParaRPr lang="en-AU" altLang="en-US" dirty="0"/>
          </a:p>
          <a:p>
            <a:r>
              <a:rPr lang="en-AU" altLang="en-US" dirty="0"/>
              <a:t>The solution is to create an abstract class called </a:t>
            </a:r>
            <a:r>
              <a:rPr lang="en-AU" altLang="en-US" dirty="0" err="1"/>
              <a:t>FootballSupporter</a:t>
            </a:r>
            <a:r>
              <a:rPr lang="en-AU" altLang="en-US" dirty="0"/>
              <a:t>. </a:t>
            </a:r>
            <a:endParaRPr lang="en-IE" altLang="en-US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59222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849B-5124-4CA6-9B76-CD0245170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Abstract Class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D4A31-024B-445F-AE1F-BC45DF6E8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As we create sub-classes of the abstract class (classes which extend our abstract class) they are all the same ‘type’.</a:t>
            </a:r>
          </a:p>
          <a:p>
            <a:endParaRPr lang="en-IE" dirty="0"/>
          </a:p>
          <a:p>
            <a:r>
              <a:rPr lang="en-IE" dirty="0"/>
              <a:t>This means we can put them in something like an </a:t>
            </a:r>
            <a:r>
              <a:rPr lang="en-IE" dirty="0" err="1"/>
              <a:t>ArrayList</a:t>
            </a:r>
            <a:r>
              <a:rPr lang="en-IE" dirty="0"/>
              <a:t> which only holds a specific class</a:t>
            </a:r>
          </a:p>
          <a:p>
            <a:pPr lvl="1"/>
            <a:r>
              <a:rPr lang="en-IE" dirty="0"/>
              <a:t>An </a:t>
            </a:r>
            <a:r>
              <a:rPr lang="en-IE" dirty="0" err="1"/>
              <a:t>ArrayList</a:t>
            </a:r>
            <a:r>
              <a:rPr lang="en-IE" dirty="0"/>
              <a:t> of Strings</a:t>
            </a:r>
          </a:p>
          <a:p>
            <a:pPr lvl="1"/>
            <a:r>
              <a:rPr lang="en-IE" dirty="0"/>
              <a:t>An </a:t>
            </a:r>
            <a:r>
              <a:rPr lang="en-IE" dirty="0" err="1"/>
              <a:t>ArrayList</a:t>
            </a:r>
            <a:r>
              <a:rPr lang="en-IE" dirty="0"/>
              <a:t> of integers</a:t>
            </a:r>
          </a:p>
          <a:p>
            <a:pPr lvl="1"/>
            <a:r>
              <a:rPr lang="en-IE" dirty="0"/>
              <a:t>An </a:t>
            </a:r>
            <a:r>
              <a:rPr lang="en-IE" dirty="0" err="1"/>
              <a:t>ArrayList</a:t>
            </a:r>
            <a:r>
              <a:rPr lang="en-IE" dirty="0"/>
              <a:t> of Football </a:t>
            </a:r>
            <a:r>
              <a:rPr lang="en-IE" dirty="0" err="1"/>
              <a:t>Suporters</a:t>
            </a:r>
            <a:r>
              <a:rPr lang="en-I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0406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9C3A8-0B94-423F-BF42-7A4F201F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Abstract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97E22-E641-496B-BAB7-CE12CA06D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You can declare a </a:t>
            </a:r>
            <a:r>
              <a:rPr lang="en-US" altLang="en-US" i="1" dirty="0"/>
              <a:t>method</a:t>
            </a:r>
            <a:r>
              <a:rPr lang="en-US" altLang="en-US" dirty="0"/>
              <a:t> without defining it:</a:t>
            </a:r>
          </a:p>
          <a:p>
            <a:pPr lvl="1">
              <a:buClr>
                <a:srgbClr val="FFFF99"/>
              </a:buClr>
              <a:buFontTx/>
              <a:buChar char=" "/>
            </a:pP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public</a:t>
            </a:r>
            <a:r>
              <a:rPr lang="en-US" altLang="en-US" sz="2800" dirty="0">
                <a:solidFill>
                  <a:srgbClr val="FFFF99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800" dirty="0">
                <a:solidFill>
                  <a:schemeClr val="tx2"/>
                </a:solidFill>
                <a:latin typeface="Trebuchet MS" panose="020B0603020202020204" pitchFamily="34" charset="0"/>
              </a:rPr>
              <a:t>abstract</a:t>
            </a:r>
            <a:r>
              <a:rPr lang="en-US" altLang="en-US" sz="2800" dirty="0">
                <a:solidFill>
                  <a:srgbClr val="FFFF99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void draw(int size);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lvl="1"/>
            <a:r>
              <a:rPr lang="en-US" altLang="en-US" sz="2800" dirty="0"/>
              <a:t>Notice that the body of the method is missing</a:t>
            </a:r>
          </a:p>
          <a:p>
            <a:pPr lvl="1"/>
            <a:endParaRPr lang="en-US" altLang="en-US" sz="2800" dirty="0"/>
          </a:p>
          <a:p>
            <a:r>
              <a:rPr lang="en-US" altLang="en-US" dirty="0"/>
              <a:t>A method that has been declared but not defined is an </a:t>
            </a:r>
            <a:r>
              <a:rPr lang="en-US" altLang="en-US" b="1" dirty="0"/>
              <a:t>abstract method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76940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C3D-24C3-4F83-823B-488C9BA0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Abstract Classes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1E431-D0AF-4480-A08A-E0D0AE19B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Any class containing an abstract method is an </a:t>
            </a:r>
            <a:r>
              <a:rPr lang="en-US" altLang="en-US" dirty="0">
                <a:solidFill>
                  <a:schemeClr val="tx2"/>
                </a:solidFill>
              </a:rPr>
              <a:t>abstract class</a:t>
            </a:r>
          </a:p>
          <a:p>
            <a:endParaRPr lang="en-US" altLang="en-US" dirty="0"/>
          </a:p>
          <a:p>
            <a:r>
              <a:rPr lang="en-US" altLang="en-US" dirty="0"/>
              <a:t>You must declare the class with the keyword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abstract</a:t>
            </a:r>
            <a:r>
              <a:rPr lang="en-US" altLang="en-US" dirty="0"/>
              <a:t>:</a:t>
            </a:r>
          </a:p>
          <a:p>
            <a:pPr lvl="1">
              <a:buClr>
                <a:srgbClr val="99CCFF"/>
              </a:buClr>
              <a:buFontTx/>
              <a:buChar char=" "/>
            </a:pPr>
            <a:r>
              <a:rPr lang="en-US" altLang="en-US" sz="2800" dirty="0">
                <a:solidFill>
                  <a:schemeClr val="tx2"/>
                </a:solidFill>
                <a:latin typeface="Trebuchet MS" panose="020B0603020202020204" pitchFamily="34" charset="0"/>
              </a:rPr>
              <a:t>abstract</a:t>
            </a:r>
            <a:r>
              <a:rPr lang="en-US" altLang="en-US" sz="2800" dirty="0">
                <a:solidFill>
                  <a:srgbClr val="FFFF99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class </a:t>
            </a:r>
            <a:r>
              <a:rPr lang="en-US" altLang="en-US" sz="28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MyClass</a:t>
            </a: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 {...}</a:t>
            </a:r>
          </a:p>
          <a:p>
            <a:pPr lvl="1">
              <a:buClr>
                <a:srgbClr val="99CCFF"/>
              </a:buClr>
              <a:buFontTx/>
              <a:buChar char=" "/>
            </a:pPr>
            <a:endParaRPr lang="en-US" altLang="en-US" sz="2800" dirty="0">
              <a:solidFill>
                <a:schemeClr val="accent2"/>
              </a:solidFill>
            </a:endParaRPr>
          </a:p>
          <a:p>
            <a:r>
              <a:rPr lang="en-US" altLang="en-US" dirty="0"/>
              <a:t>An abstract class is </a:t>
            </a:r>
            <a:r>
              <a:rPr lang="en-US" altLang="en-US" i="1" dirty="0"/>
              <a:t>incomplete</a:t>
            </a:r>
            <a:endParaRPr lang="en-US" altLang="en-US" dirty="0"/>
          </a:p>
          <a:p>
            <a:pPr lvl="1"/>
            <a:r>
              <a:rPr lang="en-US" altLang="en-US" sz="2800" dirty="0"/>
              <a:t>It has “missing” method bodies</a:t>
            </a:r>
          </a:p>
          <a:p>
            <a:pPr lvl="1"/>
            <a:endParaRPr lang="en-US" altLang="en-US" sz="2800" dirty="0"/>
          </a:p>
          <a:p>
            <a:r>
              <a:rPr lang="en-US" altLang="en-US" dirty="0"/>
              <a:t>You cannot </a:t>
            </a:r>
            <a:r>
              <a:rPr lang="en-US" altLang="en-US" dirty="0">
                <a:solidFill>
                  <a:schemeClr val="tx2"/>
                </a:solidFill>
              </a:rPr>
              <a:t>instantiate</a:t>
            </a:r>
            <a:r>
              <a:rPr lang="en-US" altLang="en-US" dirty="0"/>
              <a:t> (create a new instance of) an abstract class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891493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9803-234D-4049-9A5B-0A738FF3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40C64-5722-4592-A0B9-6797FA171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You can extend (sub-class) an abstract class</a:t>
            </a:r>
          </a:p>
          <a:p>
            <a:endParaRPr lang="en-US" altLang="en-US" dirty="0"/>
          </a:p>
          <a:p>
            <a:r>
              <a:rPr lang="en-US" altLang="en-US" dirty="0"/>
              <a:t>If the subclass defines all the inherited abstract methods, it is “complete” and can be instantiated</a:t>
            </a:r>
          </a:p>
          <a:p>
            <a:endParaRPr lang="en-US" altLang="en-US" dirty="0"/>
          </a:p>
          <a:p>
            <a:r>
              <a:rPr lang="en-US" altLang="en-US" dirty="0"/>
              <a:t>If the subclass does </a:t>
            </a:r>
            <a:r>
              <a:rPr lang="en-US" altLang="en-US" i="1" dirty="0"/>
              <a:t>not</a:t>
            </a:r>
            <a:r>
              <a:rPr lang="en-US" altLang="en-US" dirty="0"/>
              <a:t> define all the inherited abstract methods, it too must be abstract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8106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AE63-4955-46DF-8FA1-0A4204CF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have abstract classes?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324E-629E-4403-8A04-2F59A1DB5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Suppose you wanted to create a class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Shape</a:t>
            </a:r>
            <a:r>
              <a:rPr lang="en-US" altLang="en-US" sz="2400" dirty="0"/>
              <a:t>, with subclasses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Oval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Rectangle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Triangle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Hexagon</a:t>
            </a:r>
            <a:r>
              <a:rPr lang="en-US" altLang="en-US" sz="2400" dirty="0"/>
              <a:t>, etc.</a:t>
            </a:r>
          </a:p>
          <a:p>
            <a:endParaRPr lang="en-US" altLang="en-US" sz="2400" dirty="0"/>
          </a:p>
          <a:p>
            <a:r>
              <a:rPr lang="en-US" altLang="en-US" sz="2400" dirty="0"/>
              <a:t>You don’t want to allow creation of a “Shape”</a:t>
            </a:r>
          </a:p>
          <a:p>
            <a:pPr lvl="1"/>
            <a:r>
              <a:rPr lang="en-US" altLang="en-US" dirty="0"/>
              <a:t>Only </a:t>
            </a:r>
            <a:r>
              <a:rPr lang="en-US" altLang="en-US" i="1" dirty="0"/>
              <a:t>particular</a:t>
            </a:r>
            <a:r>
              <a:rPr lang="en-US" altLang="en-US" dirty="0"/>
              <a:t> shapes make sense, not </a:t>
            </a:r>
            <a:r>
              <a:rPr lang="en-US" altLang="en-US" i="1" dirty="0"/>
              <a:t>generic</a:t>
            </a:r>
            <a:r>
              <a:rPr lang="en-US" altLang="en-US" dirty="0"/>
              <a:t> ones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Shape</a:t>
            </a:r>
            <a:r>
              <a:rPr lang="en-US" altLang="en-US" dirty="0"/>
              <a:t> is abstract, you can’t create a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new</a:t>
            </a:r>
            <a:r>
              <a:rPr lang="en-US" altLang="en-US" dirty="0">
                <a:solidFill>
                  <a:srgbClr val="FFFF99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Shape</a:t>
            </a:r>
          </a:p>
          <a:p>
            <a:pPr lvl="1"/>
            <a:r>
              <a:rPr lang="en-US" altLang="en-US" dirty="0"/>
              <a:t>You </a:t>
            </a:r>
            <a:r>
              <a:rPr lang="en-US" altLang="en-US" i="1" dirty="0"/>
              <a:t>can</a:t>
            </a:r>
            <a:r>
              <a:rPr lang="en-US" altLang="en-US" dirty="0"/>
              <a:t> create a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new Oval</a:t>
            </a:r>
            <a:r>
              <a:rPr lang="en-US" altLang="en-US" dirty="0"/>
              <a:t>, a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new Rectangle</a:t>
            </a:r>
            <a:r>
              <a:rPr lang="en-US" altLang="en-US" dirty="0"/>
              <a:t>, etc.</a:t>
            </a:r>
          </a:p>
          <a:p>
            <a:pPr marL="457200" lvl="1" indent="0">
              <a:buNone/>
            </a:pPr>
            <a:endParaRPr lang="en-US" altLang="en-US" dirty="0"/>
          </a:p>
          <a:p>
            <a:r>
              <a:rPr lang="en-US" altLang="en-US" sz="2400" dirty="0"/>
              <a:t>Abstract classes are good for defining a general category containing specific, “concrete” classes      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04626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539F-5D15-4716-8D60-3DAB2E25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Problems with no 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9640C-1DF2-4248-B745-F90A35BCE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4704" y="1924194"/>
            <a:ext cx="7297615" cy="4568681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This is legal – Square extends Shape therefore Square </a:t>
            </a:r>
            <a:r>
              <a:rPr lang="en-IE" b="1" u="sng" dirty="0"/>
              <a:t>is a</a:t>
            </a:r>
            <a:r>
              <a:rPr lang="en-IE" dirty="0"/>
              <a:t> Shape….</a:t>
            </a:r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This is also legal – a Shape is a Shape…</a:t>
            </a:r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This is not legal – some Shape (e.g. a Circle class) may not have a draw method (here it so happens that Square does, but we cannot guarantee it will always have one!)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E75B1-1AC3-4D74-B26E-6E1F23887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9" y="1289538"/>
            <a:ext cx="3955166" cy="5526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8E1A9E-F157-417E-B702-4EB146270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354" y="4016527"/>
            <a:ext cx="4258575" cy="5988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977A48-1F95-485D-AEA0-604738759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57" y="1457182"/>
            <a:ext cx="5785757" cy="4670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F0044-F5F7-43F5-8646-3DE29E98C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59" y="2842861"/>
            <a:ext cx="7150879" cy="48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85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539F-5D15-4716-8D60-3DAB2E25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 Solution using 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9640C-1DF2-4248-B745-F90A35BCE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4704" y="1924194"/>
            <a:ext cx="7297615" cy="4568681"/>
          </a:xfrm>
        </p:spPr>
        <p:txBody>
          <a:bodyPr>
            <a:normAutofit/>
          </a:bodyPr>
          <a:lstStyle/>
          <a:p>
            <a:r>
              <a:rPr lang="en-IE" dirty="0"/>
              <a:t>This is legal – Square extends Shape therefore Square </a:t>
            </a:r>
            <a:r>
              <a:rPr lang="en-IE" b="1" u="sng" dirty="0"/>
              <a:t>is a</a:t>
            </a:r>
            <a:r>
              <a:rPr lang="en-IE" dirty="0"/>
              <a:t> Shape….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This is not legal – Shape is abstract and cannot be instantiated</a:t>
            </a:r>
          </a:p>
          <a:p>
            <a:endParaRPr lang="en-IE" dirty="0"/>
          </a:p>
          <a:p>
            <a:r>
              <a:rPr lang="en-IE" dirty="0"/>
              <a:t>This is legal – some Shape (e.g. a Circle class) has to have a draw method (due to the draw() method in Shape being abstract, any Class that extends Shape </a:t>
            </a:r>
            <a:r>
              <a:rPr lang="en-IE" b="1" dirty="0"/>
              <a:t>must </a:t>
            </a:r>
            <a:r>
              <a:rPr lang="en-IE" dirty="0"/>
              <a:t>have a draw() method!)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977A48-1F95-485D-AEA0-604738759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557" y="1457182"/>
            <a:ext cx="5785757" cy="4670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F2F52F-2807-4153-8340-0DF51835C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46" y="1321934"/>
            <a:ext cx="3643298" cy="54980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AC455D-A0B3-4A6D-A2E5-290F46E61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263" y="2832466"/>
            <a:ext cx="7297616" cy="4677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163BDD-48CA-4487-A9D3-01A087FFB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431" y="4208534"/>
            <a:ext cx="5212082" cy="62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4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13EB-A8BD-43CD-9BB5-6AD421EE8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3248A-92CE-42B0-81D4-D54BE44A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An </a:t>
            </a:r>
            <a:r>
              <a:rPr lang="en-US" altLang="en-US" sz="2400" dirty="0">
                <a:solidFill>
                  <a:schemeClr val="tx2"/>
                </a:solidFill>
              </a:rPr>
              <a:t>interface</a:t>
            </a:r>
            <a:r>
              <a:rPr lang="en-US" altLang="en-US" sz="2400" dirty="0"/>
              <a:t> declares (describes) methods but does not supply bodies for them</a:t>
            </a:r>
          </a:p>
          <a:p>
            <a:pPr>
              <a:buFont typeface="Wingdings" panose="05000000000000000000" pitchFamily="2" charset="2"/>
              <a:buChar char=" "/>
            </a:pP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400" dirty="0">
                <a:solidFill>
                  <a:schemeClr val="tx2"/>
                </a:solidFill>
                <a:latin typeface="Trebuchet MS" panose="020B0603020202020204" pitchFamily="34" charset="0"/>
              </a:rPr>
              <a:t>interface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KeyListener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{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public void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keyPressed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KeyEvent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e);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public void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keyReleased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KeyEvent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e);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public void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keyTyped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KeyEvent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e);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}</a:t>
            </a:r>
          </a:p>
          <a:p>
            <a:r>
              <a:rPr lang="en-US" altLang="en-US" sz="2400" dirty="0"/>
              <a:t>All the methods are implicitly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public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abstract</a:t>
            </a:r>
          </a:p>
          <a:p>
            <a:r>
              <a:rPr lang="en-US" altLang="en-US" sz="2400" dirty="0"/>
              <a:t>You cannot instantiate an interface</a:t>
            </a:r>
          </a:p>
          <a:p>
            <a:pPr lvl="1"/>
            <a:r>
              <a:rPr lang="en-US" altLang="en-US" sz="2000" dirty="0"/>
              <a:t>An </a:t>
            </a:r>
            <a:r>
              <a:rPr lang="en-US" altLang="en-US" sz="2000" dirty="0">
                <a:solidFill>
                  <a:schemeClr val="accent2"/>
                </a:solidFill>
                <a:latin typeface="Trebuchet MS" panose="020B0603020202020204" pitchFamily="34" charset="0"/>
              </a:rPr>
              <a:t>interface</a:t>
            </a:r>
            <a:r>
              <a:rPr lang="en-US" altLang="en-US" sz="2000" dirty="0"/>
              <a:t> is like a </a:t>
            </a:r>
            <a:r>
              <a:rPr lang="en-US" altLang="en-US" sz="2000" i="1" dirty="0"/>
              <a:t>very</a:t>
            </a:r>
            <a:r>
              <a:rPr lang="en-US" altLang="en-US" sz="2000" dirty="0"/>
              <a:t> abstract class—</a:t>
            </a:r>
            <a:r>
              <a:rPr lang="en-US" altLang="en-US" sz="2000" i="1" dirty="0"/>
              <a:t>none</a:t>
            </a:r>
            <a:r>
              <a:rPr lang="en-US" altLang="en-US" sz="2000" dirty="0"/>
              <a:t> of its methods are defined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30992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E63E-B4D9-4E28-9370-58320871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Implementing an Interface 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D0063-C178-474C-92E3-4C42D9311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You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extend</a:t>
            </a:r>
            <a:r>
              <a:rPr lang="en-US" altLang="en-US" sz="2400" dirty="0"/>
              <a:t> a class, but you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implement</a:t>
            </a:r>
            <a:r>
              <a:rPr lang="en-US" altLang="en-US" sz="2400" dirty="0"/>
              <a:t> an interface</a:t>
            </a:r>
          </a:p>
          <a:p>
            <a:endParaRPr lang="en-US" altLang="en-US" sz="2400" dirty="0"/>
          </a:p>
          <a:p>
            <a:r>
              <a:rPr lang="en-US" altLang="en-US" sz="2400" dirty="0"/>
              <a:t>A class can only extend (subclass) one other class, but it can implement as many interfaces as you like</a:t>
            </a:r>
          </a:p>
          <a:p>
            <a:endParaRPr lang="en-US" altLang="en-US" sz="2400" dirty="0"/>
          </a:p>
          <a:p>
            <a:r>
              <a:rPr lang="en-US" altLang="en-US" sz="2400" dirty="0"/>
              <a:t>Example:</a:t>
            </a:r>
          </a:p>
          <a:p>
            <a:pPr lvl="1">
              <a:buClr>
                <a:srgbClr val="FFFF99"/>
              </a:buClr>
              <a:buFontTx/>
              <a:buChar char=" "/>
            </a:pP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class </a:t>
            </a:r>
            <a:r>
              <a:rPr lang="en-US" altLang="en-US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MyListener</a:t>
            </a:r>
            <a:br>
              <a:rPr lang="en-US" altLang="en-US" dirty="0">
                <a:solidFill>
                  <a:srgbClr val="FFFF99"/>
                </a:solidFill>
                <a:latin typeface="Trebuchet MS" panose="020B0603020202020204" pitchFamily="34" charset="0"/>
              </a:rPr>
            </a:br>
            <a:r>
              <a:rPr lang="en-US" altLang="en-US" dirty="0">
                <a:solidFill>
                  <a:srgbClr val="FFFF99"/>
                </a:solidFill>
                <a:latin typeface="Trebuchet MS" panose="020B0603020202020204" pitchFamily="34" charset="0"/>
              </a:rPr>
              <a:t>        </a:t>
            </a:r>
            <a:r>
              <a:rPr lang="en-US" altLang="en-US" dirty="0">
                <a:solidFill>
                  <a:schemeClr val="tx2"/>
                </a:solidFill>
                <a:latin typeface="Trebuchet MS" panose="020B0603020202020204" pitchFamily="34" charset="0"/>
              </a:rPr>
              <a:t>implements</a:t>
            </a:r>
            <a:r>
              <a:rPr lang="en-US" altLang="en-US" dirty="0">
                <a:solidFill>
                  <a:srgbClr val="FFFF99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KeyListener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, ActionListener { … }</a:t>
            </a:r>
            <a:endParaRPr lang="en-US" altLang="en-US" dirty="0">
              <a:solidFill>
                <a:schemeClr val="accent2"/>
              </a:solidFill>
            </a:endParaRP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2858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31249-B88A-4C5B-A749-19FA59AC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Implementing an Interface 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5A433-AB22-4CC1-8DF6-7A47EDD47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When you say a class 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implements</a:t>
            </a:r>
            <a:r>
              <a:rPr lang="en-US" altLang="en-US" sz="2400" dirty="0"/>
              <a:t> an interface, you are promising to </a:t>
            </a:r>
            <a:r>
              <a:rPr lang="en-US" altLang="en-US" sz="2400" i="1" dirty="0"/>
              <a:t>define</a:t>
            </a:r>
            <a:r>
              <a:rPr lang="en-US" altLang="en-US" sz="2400" dirty="0"/>
              <a:t> all the methods that were </a:t>
            </a:r>
            <a:r>
              <a:rPr lang="en-US" altLang="en-US" sz="2400" i="1" dirty="0"/>
              <a:t>declared</a:t>
            </a:r>
            <a:r>
              <a:rPr lang="en-US" altLang="en-US" sz="2400" dirty="0"/>
              <a:t> in the interface</a:t>
            </a:r>
          </a:p>
          <a:p>
            <a:r>
              <a:rPr lang="en-US" altLang="en-US" sz="2400" dirty="0"/>
              <a:t>Example:</a:t>
            </a:r>
          </a:p>
          <a:p>
            <a:pPr>
              <a:buClr>
                <a:srgbClr val="FFFF99"/>
              </a:buClr>
              <a:buFontTx/>
              <a:buChar char=" "/>
            </a:pP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class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MyKeyListener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400" dirty="0">
                <a:solidFill>
                  <a:schemeClr val="tx2"/>
                </a:solidFill>
                <a:latin typeface="Trebuchet MS" panose="020B0603020202020204" pitchFamily="34" charset="0"/>
              </a:rPr>
              <a:t>implements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KeyListener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{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public void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keyPressed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KeyEvent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e) {...};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public void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keyReleased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KeyEvent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e) {...};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public void 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keyTyped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(</a:t>
            </a:r>
            <a:r>
              <a:rPr lang="en-US" altLang="en-US" sz="24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KeyEvent</a:t>
            </a: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 e) {...};</a:t>
            </a:r>
            <a:b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400" dirty="0">
                <a:solidFill>
                  <a:schemeClr val="accent2"/>
                </a:solidFill>
                <a:latin typeface="Trebuchet MS" panose="020B0603020202020204" pitchFamily="34" charset="0"/>
              </a:rPr>
              <a:t>}</a:t>
            </a:r>
          </a:p>
          <a:p>
            <a:pPr lvl="1"/>
            <a:r>
              <a:rPr lang="en-US" altLang="en-US" dirty="0"/>
              <a:t>The “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...</a:t>
            </a:r>
            <a:r>
              <a:rPr lang="en-US" altLang="en-US" dirty="0"/>
              <a:t>” indicates actual code that you must supply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56587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9D3FF-0C9C-4D00-98E0-D7E9344E4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use an Interface?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C89CE-5E2D-42D6-9D91-82C06269B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Reason 1:</a:t>
            </a:r>
            <a:r>
              <a:rPr lang="en-US" altLang="en-US" dirty="0">
                <a:solidFill>
                  <a:schemeClr val="folHlink"/>
                </a:solidFill>
              </a:rPr>
              <a:t> </a:t>
            </a:r>
            <a:r>
              <a:rPr lang="en-US" altLang="en-US" dirty="0"/>
              <a:t>A class can only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extend</a:t>
            </a:r>
            <a:r>
              <a:rPr lang="en-US" altLang="en-US" dirty="0"/>
              <a:t> one other class, but it can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implement</a:t>
            </a:r>
            <a:r>
              <a:rPr lang="en-US" altLang="en-US" dirty="0"/>
              <a:t> multiple interfaces</a:t>
            </a:r>
          </a:p>
          <a:p>
            <a:pPr lvl="1"/>
            <a:r>
              <a:rPr lang="en-US" altLang="en-US" sz="2800" dirty="0"/>
              <a:t>This lets the class fill multiple “roles”</a:t>
            </a:r>
          </a:p>
          <a:p>
            <a:pPr lvl="1"/>
            <a:r>
              <a:rPr lang="en-US" altLang="en-US" sz="2800" dirty="0"/>
              <a:t>In writing GUIs, it is common to have one class implement several different listeners</a:t>
            </a:r>
          </a:p>
          <a:p>
            <a:pPr lvl="1"/>
            <a:r>
              <a:rPr lang="en-US" altLang="en-US" sz="2800" dirty="0"/>
              <a:t>Example:</a:t>
            </a:r>
            <a:br>
              <a:rPr lang="en-US" altLang="en-US" sz="2800" dirty="0"/>
            </a:br>
            <a:r>
              <a:rPr lang="en-US" altLang="en-US" sz="2800" dirty="0">
                <a:solidFill>
                  <a:srgbClr val="FFFF99"/>
                </a:solidFill>
                <a:latin typeface="Trebuchet MS" panose="020B0603020202020204" pitchFamily="34" charset="0"/>
              </a:rPr>
              <a:t>    </a:t>
            </a: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class </a:t>
            </a:r>
            <a:r>
              <a:rPr lang="en-US" altLang="en-US" sz="28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MyFrame</a:t>
            </a: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 extends </a:t>
            </a:r>
            <a:r>
              <a:rPr lang="en-US" altLang="en-US" sz="28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JFrame</a:t>
            </a:r>
            <a:b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            implements ActionListener, </a:t>
            </a:r>
            <a:r>
              <a:rPr lang="en-US" altLang="en-US" sz="2800" dirty="0" err="1">
                <a:solidFill>
                  <a:schemeClr val="accent2"/>
                </a:solidFill>
                <a:latin typeface="Trebuchet MS" panose="020B0603020202020204" pitchFamily="34" charset="0"/>
              </a:rPr>
              <a:t>KeyListener</a:t>
            </a: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 {</a:t>
            </a:r>
            <a:b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    ...</a:t>
            </a:r>
            <a:b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</a:br>
            <a:r>
              <a:rPr lang="en-US" altLang="en-US" sz="2800" dirty="0">
                <a:solidFill>
                  <a:schemeClr val="accent2"/>
                </a:solidFill>
                <a:latin typeface="Trebuchet MS" panose="020B0603020202020204" pitchFamily="34" charset="0"/>
              </a:rPr>
              <a:t>    }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92555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F9CA-EF49-4FD6-9FFB-DE58C329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use an Interface?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A5619-A83C-441B-9CA0-E9847B0D5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defRPr/>
            </a:pPr>
            <a:r>
              <a:rPr lang="en-US" altLang="en-US" dirty="0">
                <a:solidFill>
                  <a:schemeClr val="tx2"/>
                </a:solidFill>
              </a:rPr>
              <a:t>Reason 2: </a:t>
            </a:r>
            <a:r>
              <a:rPr lang="en-US" altLang="en-US" dirty="0"/>
              <a:t>You can write methods that work for more than one kind of class.</a:t>
            </a:r>
          </a:p>
          <a:p>
            <a:pPr marL="800100" lvl="1" indent="-342900">
              <a:defRPr/>
            </a:pPr>
            <a:r>
              <a:rPr lang="en-US" altLang="en-US" sz="2800" dirty="0"/>
              <a:t>Consider 2 unrelated classes; car and dog</a:t>
            </a:r>
          </a:p>
          <a:p>
            <a:pPr marL="800100" lvl="1" indent="-342900">
              <a:defRPr/>
            </a:pPr>
            <a:r>
              <a:rPr lang="en-US" altLang="en-US" sz="2800" dirty="0"/>
              <a:t>Both car and dog pay tax; dog license and car tax</a:t>
            </a:r>
          </a:p>
          <a:p>
            <a:pPr marL="800100" lvl="1" indent="-342900">
              <a:defRPr/>
            </a:pPr>
            <a:r>
              <a:rPr lang="en-US" altLang="en-US" sz="2800" dirty="0"/>
              <a:t>We want to exploit the common features of these 2 seemingly unrelated classes i.e. both pay tax</a:t>
            </a:r>
          </a:p>
          <a:p>
            <a:pPr marL="800100" lvl="1" indent="-342900">
              <a:defRPr/>
            </a:pPr>
            <a:r>
              <a:rPr lang="en-US" altLang="en-US" sz="2800" dirty="0"/>
              <a:t>Its not logical to use a base abstract class </a:t>
            </a:r>
          </a:p>
          <a:p>
            <a:pPr marL="800100" lvl="1" indent="-342900">
              <a:defRPr/>
            </a:pPr>
            <a:r>
              <a:rPr lang="en-US" altLang="en-US" sz="2800" dirty="0"/>
              <a:t>We can use an interface and get both classes to implement it.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60081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6EBA-2FE6-43B8-AAD7-E0EA95120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Definitions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4C3CC-2CFC-41DA-BD74-87C125326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2"/>
                </a:solidFill>
              </a:rPr>
              <a:t>abstract method</a:t>
            </a:r>
            <a:r>
              <a:rPr lang="en-US" altLang="en-US" dirty="0"/>
              <a:t>—a method which is declared but not defined (it has no method body)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2"/>
                </a:solidFill>
              </a:rPr>
              <a:t>abstract class</a:t>
            </a:r>
            <a:r>
              <a:rPr lang="en-US" altLang="en-US" dirty="0"/>
              <a:t>—a class which either (1) contains abstract methods, or (2) has been declared </a:t>
            </a:r>
            <a:r>
              <a:rPr lang="en-US" altLang="en-US" dirty="0">
                <a:solidFill>
                  <a:schemeClr val="accent2"/>
                </a:solidFill>
                <a:latin typeface="Trebuchet MS" panose="020B0603020202020204" pitchFamily="34" charset="0"/>
              </a:rPr>
              <a:t>abstract</a:t>
            </a:r>
          </a:p>
          <a:p>
            <a:endParaRPr lang="en-US" altLang="en-US" dirty="0">
              <a:solidFill>
                <a:schemeClr val="accent2"/>
              </a:solidFill>
              <a:latin typeface="Trebuchet MS" panose="020B0603020202020204" pitchFamily="34" charset="0"/>
            </a:endParaRPr>
          </a:p>
          <a:p>
            <a:r>
              <a:rPr lang="en-US" altLang="en-US" dirty="0">
                <a:solidFill>
                  <a:schemeClr val="tx2"/>
                </a:solidFill>
              </a:rPr>
              <a:t>instantiate</a:t>
            </a:r>
            <a:r>
              <a:rPr lang="en-US" altLang="en-US" dirty="0"/>
              <a:t>—to create an instance (object) of a class</a:t>
            </a:r>
          </a:p>
          <a:p>
            <a:endParaRPr lang="en-US" altLang="en-US" dirty="0"/>
          </a:p>
          <a:p>
            <a:r>
              <a:rPr lang="en-US" altLang="en-US" dirty="0">
                <a:solidFill>
                  <a:schemeClr val="tx2"/>
                </a:solidFill>
              </a:rPr>
              <a:t>interface</a:t>
            </a:r>
            <a:r>
              <a:rPr lang="en-US" altLang="en-US" dirty="0"/>
              <a:t>—similar to a class, but contains only abstract methods 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351002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2958</TotalTime>
  <Words>950</Words>
  <Application>Microsoft Office PowerPoint</Application>
  <PresentationFormat>Widescreen</PresentationFormat>
  <Paragraphs>117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Trebuchet MS</vt:lpstr>
      <vt:lpstr>Wingdings</vt:lpstr>
      <vt:lpstr>Office Theme</vt:lpstr>
      <vt:lpstr>Software Development 3</vt:lpstr>
      <vt:lpstr>Abstract Classes</vt:lpstr>
      <vt:lpstr>Why Use Abstract Classes</vt:lpstr>
      <vt:lpstr>Abstract Class Concept</vt:lpstr>
      <vt:lpstr>Abstract Class Concept</vt:lpstr>
      <vt:lpstr>Abstract Class Concept</vt:lpstr>
      <vt:lpstr>Abstract Methods</vt:lpstr>
      <vt:lpstr>Abstract Classes</vt:lpstr>
      <vt:lpstr>Abstract Classes</vt:lpstr>
      <vt:lpstr>Why have abstract classes?</vt:lpstr>
      <vt:lpstr>Problems with no Abstract Classes</vt:lpstr>
      <vt:lpstr>A Solution using Abstract Classes</vt:lpstr>
      <vt:lpstr>Interfaces</vt:lpstr>
      <vt:lpstr>Implementing an Interface </vt:lpstr>
      <vt:lpstr>Implementing an Interface </vt:lpstr>
      <vt:lpstr>Why use an Interface?</vt:lpstr>
      <vt:lpstr>Why use an Interface?</vt:lpstr>
      <vt:lpstr>Definitions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and Connected Devices </dc:title>
  <dc:creator>CURRAN, MARTINA</dc:creator>
  <cp:lastModifiedBy>CURRAN, MARTINA</cp:lastModifiedBy>
  <cp:revision>50</cp:revision>
  <dcterms:created xsi:type="dcterms:W3CDTF">2019-08-12T15:58:15Z</dcterms:created>
  <dcterms:modified xsi:type="dcterms:W3CDTF">2019-09-24T22:30:18Z</dcterms:modified>
</cp:coreProperties>
</file>