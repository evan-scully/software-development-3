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4" r:id="rId14"/>
    <p:sldId id="273" r:id="rId15"/>
    <p:sldId id="275" r:id="rId16"/>
    <p:sldId id="276" r:id="rId17"/>
    <p:sldId id="277" r:id="rId18"/>
    <p:sldId id="278" r:id="rId19"/>
    <p:sldId id="279" r:id="rId20"/>
    <p:sldId id="280" r:id="rId21"/>
    <p:sldId id="281" r:id="rId22"/>
    <p:sldId id="282" r:id="rId23"/>
    <p:sldId id="283" r:id="rId24"/>
    <p:sldId id="284" r:id="rId25"/>
    <p:sldId id="298" r:id="rId26"/>
    <p:sldId id="300" r:id="rId27"/>
    <p:sldId id="286" r:id="rId28"/>
    <p:sldId id="285" r:id="rId29"/>
    <p:sldId id="287" r:id="rId30"/>
    <p:sldId id="288" r:id="rId31"/>
    <p:sldId id="289" r:id="rId32"/>
    <p:sldId id="290" r:id="rId33"/>
    <p:sldId id="291" r:id="rId34"/>
    <p:sldId id="292" r:id="rId35"/>
    <p:sldId id="293" r:id="rId36"/>
    <p:sldId id="294" r:id="rId37"/>
    <p:sldId id="295" r:id="rId38"/>
    <p:sldId id="297" r:id="rId39"/>
    <p:sldId id="299" r:id="rId40"/>
    <p:sldId id="268" r:id="rId41"/>
    <p:sldId id="269" r:id="rId42"/>
    <p:sldId id="270" r:id="rId43"/>
    <p:sldId id="271" r:id="rId44"/>
    <p:sldId id="272"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EF7147-9B27-D801-3663-F90ACCF14B0D}" v="899" dt="2019-09-11T08:57:51.994"/>
    <p1510:client id="{2C0EB60A-1A96-03A7-037F-58035C285605}" v="13" dt="2019-09-11T08:35:10.127"/>
    <p1510:client id="{4CB7E0C6-41FA-1C6E-F616-287C9217A416}" v="183" dt="2019-09-11T08:04:10.732"/>
    <p1510:client id="{9BDE0CDE-044C-4115-A132-A79733D3FF9B}" v="8" dt="2019-09-11T07:57:43.067"/>
    <p1510:client id="{D62EFA46-F204-C606-BAF3-1C11CF86C215}" v="534" dt="2019-09-11T09:46:06.27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8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tina Curran" userId="S::mcurran@ait.ie::85a4fcd9-8298-441f-985a-93cb1fe6f819" providerId="AD" clId="Web-{2C0EB60A-1A96-03A7-037F-58035C285605}"/>
    <pc:docChg chg="modSld">
      <pc:chgData name="Martina Curran" userId="S::mcurran@ait.ie::85a4fcd9-8298-441f-985a-93cb1fe6f819" providerId="AD" clId="Web-{2C0EB60A-1A96-03A7-037F-58035C285605}" dt="2019-09-11T08:35:10.127" v="11" actId="14100"/>
      <pc:docMkLst>
        <pc:docMk/>
      </pc:docMkLst>
      <pc:sldChg chg="addSp modSp">
        <pc:chgData name="Martina Curran" userId="S::mcurran@ait.ie::85a4fcd9-8298-441f-985a-93cb1fe6f819" providerId="AD" clId="Web-{2C0EB60A-1A96-03A7-037F-58035C285605}" dt="2019-09-11T08:35:10.127" v="11" actId="14100"/>
        <pc:sldMkLst>
          <pc:docMk/>
          <pc:sldMk cId="3836688790" sldId="279"/>
        </pc:sldMkLst>
        <pc:spChg chg="mod">
          <ac:chgData name="Martina Curran" userId="S::mcurran@ait.ie::85a4fcd9-8298-441f-985a-93cb1fe6f819" providerId="AD" clId="Web-{2C0EB60A-1A96-03A7-037F-58035C285605}" dt="2019-09-11T08:35:06.783" v="8" actId="20577"/>
          <ac:spMkLst>
            <pc:docMk/>
            <pc:sldMk cId="3836688790" sldId="279"/>
            <ac:spMk id="3" creationId="{775131DA-AE94-4DB0-A136-4083C63ED371}"/>
          </ac:spMkLst>
        </pc:spChg>
        <pc:picChg chg="add mod">
          <ac:chgData name="Martina Curran" userId="S::mcurran@ait.ie::85a4fcd9-8298-441f-985a-93cb1fe6f819" providerId="AD" clId="Web-{2C0EB60A-1A96-03A7-037F-58035C285605}" dt="2019-09-11T08:35:10.127" v="11" actId="14100"/>
          <ac:picMkLst>
            <pc:docMk/>
            <pc:sldMk cId="3836688790" sldId="279"/>
            <ac:picMk id="5" creationId="{DE57EB7B-6857-40C7-A712-C061341FC18E}"/>
          </ac:picMkLst>
        </pc:picChg>
      </pc:sldChg>
    </pc:docChg>
  </pc:docChgLst>
  <pc:docChgLst>
    <pc:chgData name="Martina Curran" userId="S::mcurran@ait.ie::85a4fcd9-8298-441f-985a-93cb1fe6f819" providerId="AD" clId="Web-{21EF7147-9B27-D801-3663-F90ACCF14B0D}"/>
    <pc:docChg chg="addSld modSld">
      <pc:chgData name="Martina Curran" userId="S::mcurran@ait.ie::85a4fcd9-8298-441f-985a-93cb1fe6f819" providerId="AD" clId="Web-{21EF7147-9B27-D801-3663-F90ACCF14B0D}" dt="2019-09-11T08:57:51.994" v="896" actId="20577"/>
      <pc:docMkLst>
        <pc:docMk/>
      </pc:docMkLst>
      <pc:sldChg chg="modSp new">
        <pc:chgData name="Martina Curran" userId="S::mcurran@ait.ie::85a4fcd9-8298-441f-985a-93cb1fe6f819" providerId="AD" clId="Web-{21EF7147-9B27-D801-3663-F90ACCF14B0D}" dt="2019-09-11T08:46:26.872" v="660" actId="20577"/>
        <pc:sldMkLst>
          <pc:docMk/>
          <pc:sldMk cId="278652480" sldId="298"/>
        </pc:sldMkLst>
        <pc:spChg chg="mod">
          <ac:chgData name="Martina Curran" userId="S::mcurran@ait.ie::85a4fcd9-8298-441f-985a-93cb1fe6f819" providerId="AD" clId="Web-{21EF7147-9B27-D801-3663-F90ACCF14B0D}" dt="2019-09-11T08:29:15.126" v="33" actId="20577"/>
          <ac:spMkLst>
            <pc:docMk/>
            <pc:sldMk cId="278652480" sldId="298"/>
            <ac:spMk id="2" creationId="{E5E5F769-386C-41DF-A5C9-FF7997B9D3B1}"/>
          </ac:spMkLst>
        </pc:spChg>
        <pc:spChg chg="mod">
          <ac:chgData name="Martina Curran" userId="S::mcurran@ait.ie::85a4fcd9-8298-441f-985a-93cb1fe6f819" providerId="AD" clId="Web-{21EF7147-9B27-D801-3663-F90ACCF14B0D}" dt="2019-09-11T08:46:26.872" v="660" actId="20577"/>
          <ac:spMkLst>
            <pc:docMk/>
            <pc:sldMk cId="278652480" sldId="298"/>
            <ac:spMk id="3" creationId="{1EEF3C4F-E6FD-4CAE-992A-15D114074289}"/>
          </ac:spMkLst>
        </pc:spChg>
      </pc:sldChg>
      <pc:sldChg chg="modSp new">
        <pc:chgData name="Martina Curran" userId="S::mcurran@ait.ie::85a4fcd9-8298-441f-985a-93cb1fe6f819" providerId="AD" clId="Web-{21EF7147-9B27-D801-3663-F90ACCF14B0D}" dt="2019-09-11T08:57:51.979" v="895" actId="20577"/>
        <pc:sldMkLst>
          <pc:docMk/>
          <pc:sldMk cId="3369494030" sldId="299"/>
        </pc:sldMkLst>
        <pc:spChg chg="mod">
          <ac:chgData name="Martina Curran" userId="S::mcurran@ait.ie::85a4fcd9-8298-441f-985a-93cb1fe6f819" providerId="AD" clId="Web-{21EF7147-9B27-D801-3663-F90ACCF14B0D}" dt="2019-09-11T08:47:37.950" v="683" actId="20577"/>
          <ac:spMkLst>
            <pc:docMk/>
            <pc:sldMk cId="3369494030" sldId="299"/>
            <ac:spMk id="2" creationId="{C7A86A4B-44D3-4932-97A7-A67CF0BBC407}"/>
          </ac:spMkLst>
        </pc:spChg>
        <pc:spChg chg="mod">
          <ac:chgData name="Martina Curran" userId="S::mcurran@ait.ie::85a4fcd9-8298-441f-985a-93cb1fe6f819" providerId="AD" clId="Web-{21EF7147-9B27-D801-3663-F90ACCF14B0D}" dt="2019-09-11T08:57:51.979" v="895" actId="20577"/>
          <ac:spMkLst>
            <pc:docMk/>
            <pc:sldMk cId="3369494030" sldId="299"/>
            <ac:spMk id="3" creationId="{D3D6A105-762E-4735-B3E2-C335047CF812}"/>
          </ac:spMkLst>
        </pc:spChg>
      </pc:sldChg>
    </pc:docChg>
  </pc:docChgLst>
  <pc:docChgLst>
    <pc:chgData name="Martina Curran" userId="S::mcurran@ait.ie::85a4fcd9-8298-441f-985a-93cb1fe6f819" providerId="AD" clId="Web-{9BDE0CDE-044C-4115-A132-A79733D3FF9B}"/>
    <pc:docChg chg="modSld">
      <pc:chgData name="Martina Curran" userId="S::mcurran@ait.ie::85a4fcd9-8298-441f-985a-93cb1fe6f819" providerId="AD" clId="Web-{9BDE0CDE-044C-4115-A132-A79733D3FF9B}" dt="2019-09-11T07:57:43.067" v="7"/>
      <pc:docMkLst>
        <pc:docMk/>
      </pc:docMkLst>
      <pc:sldChg chg="addAnim delAnim modAnim">
        <pc:chgData name="Martina Curran" userId="S::mcurran@ait.ie::85a4fcd9-8298-441f-985a-93cb1fe6f819" providerId="AD" clId="Web-{9BDE0CDE-044C-4115-A132-A79733D3FF9B}" dt="2019-09-11T07:57:43.067" v="7"/>
        <pc:sldMkLst>
          <pc:docMk/>
          <pc:sldMk cId="3372173962" sldId="259"/>
        </pc:sldMkLst>
      </pc:sldChg>
    </pc:docChg>
  </pc:docChgLst>
  <pc:docChgLst>
    <pc:chgData name="Martina Curran" userId="S::mcurran@ait.ie::85a4fcd9-8298-441f-985a-93cb1fe6f819" providerId="AD" clId="Web-{4CB7E0C6-41FA-1C6E-F616-287C9217A416}"/>
    <pc:docChg chg="modSld">
      <pc:chgData name="Martina Curran" userId="S::mcurran@ait.ie::85a4fcd9-8298-441f-985a-93cb1fe6f819" providerId="AD" clId="Web-{4CB7E0C6-41FA-1C6E-F616-287C9217A416}" dt="2019-09-11T08:04:10.435" v="177" actId="20577"/>
      <pc:docMkLst>
        <pc:docMk/>
      </pc:docMkLst>
      <pc:sldChg chg="modSp">
        <pc:chgData name="Martina Curran" userId="S::mcurran@ait.ie::85a4fcd9-8298-441f-985a-93cb1fe6f819" providerId="AD" clId="Web-{4CB7E0C6-41FA-1C6E-F616-287C9217A416}" dt="2019-09-11T08:01:40.639" v="84" actId="20577"/>
        <pc:sldMkLst>
          <pc:docMk/>
          <pc:sldMk cId="3372173962" sldId="259"/>
        </pc:sldMkLst>
        <pc:spChg chg="mod">
          <ac:chgData name="Martina Curran" userId="S::mcurran@ait.ie::85a4fcd9-8298-441f-985a-93cb1fe6f819" providerId="AD" clId="Web-{4CB7E0C6-41FA-1C6E-F616-287C9217A416}" dt="2019-09-11T08:01:40.639" v="84" actId="20577"/>
          <ac:spMkLst>
            <pc:docMk/>
            <pc:sldMk cId="3372173962" sldId="259"/>
            <ac:spMk id="3" creationId="{F20ADBB7-F6A9-4EDD-B5D8-80EB308D765A}"/>
          </ac:spMkLst>
        </pc:spChg>
      </pc:sldChg>
      <pc:sldChg chg="delSp modSp">
        <pc:chgData name="Martina Curran" userId="S::mcurran@ait.ie::85a4fcd9-8298-441f-985a-93cb1fe6f819" providerId="AD" clId="Web-{4CB7E0C6-41FA-1C6E-F616-287C9217A416}" dt="2019-09-11T08:01:33.389" v="83"/>
        <pc:sldMkLst>
          <pc:docMk/>
          <pc:sldMk cId="1617322332" sldId="263"/>
        </pc:sldMkLst>
        <pc:spChg chg="mod">
          <ac:chgData name="Martina Curran" userId="S::mcurran@ait.ie::85a4fcd9-8298-441f-985a-93cb1fe6f819" providerId="AD" clId="Web-{4CB7E0C6-41FA-1C6E-F616-287C9217A416}" dt="2019-09-11T08:01:31.780" v="81" actId="20577"/>
          <ac:spMkLst>
            <pc:docMk/>
            <pc:sldMk cId="1617322332" sldId="263"/>
            <ac:spMk id="3" creationId="{61270038-C128-46AE-BEAA-2F3058AEE0CE}"/>
          </ac:spMkLst>
        </pc:spChg>
        <pc:spChg chg="del">
          <ac:chgData name="Martina Curran" userId="S::mcurran@ait.ie::85a4fcd9-8298-441f-985a-93cb1fe6f819" providerId="AD" clId="Web-{4CB7E0C6-41FA-1C6E-F616-287C9217A416}" dt="2019-09-11T08:01:33.389" v="83"/>
          <ac:spMkLst>
            <pc:docMk/>
            <pc:sldMk cId="1617322332" sldId="263"/>
            <ac:spMk id="5" creationId="{78087737-C410-4A5C-B5A4-A9F2A8B58A44}"/>
          </ac:spMkLst>
        </pc:spChg>
      </pc:sldChg>
      <pc:sldChg chg="modSp">
        <pc:chgData name="Martina Curran" userId="S::mcurran@ait.ie::85a4fcd9-8298-441f-985a-93cb1fe6f819" providerId="AD" clId="Web-{4CB7E0C6-41FA-1C6E-F616-287C9217A416}" dt="2019-09-11T08:02:14.998" v="90" actId="1076"/>
        <pc:sldMkLst>
          <pc:docMk/>
          <pc:sldMk cId="3065429172" sldId="264"/>
        </pc:sldMkLst>
        <pc:graphicFrameChg chg="mod modGraphic">
          <ac:chgData name="Martina Curran" userId="S::mcurran@ait.ie::85a4fcd9-8298-441f-985a-93cb1fe6f819" providerId="AD" clId="Web-{4CB7E0C6-41FA-1C6E-F616-287C9217A416}" dt="2019-09-11T08:02:14.998" v="90" actId="1076"/>
          <ac:graphicFrameMkLst>
            <pc:docMk/>
            <pc:sldMk cId="3065429172" sldId="264"/>
            <ac:graphicFrameMk id="4" creationId="{E2B5F895-8F16-4590-9930-BC6F57266DA6}"/>
          </ac:graphicFrameMkLst>
        </pc:graphicFrameChg>
      </pc:sldChg>
      <pc:sldChg chg="modSp">
        <pc:chgData name="Martina Curran" userId="S::mcurran@ait.ie::85a4fcd9-8298-441f-985a-93cb1fe6f819" providerId="AD" clId="Web-{4CB7E0C6-41FA-1C6E-F616-287C9217A416}" dt="2019-09-11T08:03:09.373" v="161" actId="20577"/>
        <pc:sldMkLst>
          <pc:docMk/>
          <pc:sldMk cId="3836688790" sldId="279"/>
        </pc:sldMkLst>
        <pc:spChg chg="mod">
          <ac:chgData name="Martina Curran" userId="S::mcurran@ait.ie::85a4fcd9-8298-441f-985a-93cb1fe6f819" providerId="AD" clId="Web-{4CB7E0C6-41FA-1C6E-F616-287C9217A416}" dt="2019-09-11T08:03:09.373" v="161" actId="20577"/>
          <ac:spMkLst>
            <pc:docMk/>
            <pc:sldMk cId="3836688790" sldId="279"/>
            <ac:spMk id="3" creationId="{775131DA-AE94-4DB0-A136-4083C63ED371}"/>
          </ac:spMkLst>
        </pc:spChg>
      </pc:sldChg>
      <pc:sldChg chg="modSp">
        <pc:chgData name="Martina Curran" userId="S::mcurran@ait.ie::85a4fcd9-8298-441f-985a-93cb1fe6f819" providerId="AD" clId="Web-{4CB7E0C6-41FA-1C6E-F616-287C9217A416}" dt="2019-09-11T08:04:10.060" v="175" actId="20577"/>
        <pc:sldMkLst>
          <pc:docMk/>
          <pc:sldMk cId="2857820382" sldId="284"/>
        </pc:sldMkLst>
        <pc:spChg chg="mod">
          <ac:chgData name="Martina Curran" userId="S::mcurran@ait.ie::85a4fcd9-8298-441f-985a-93cb1fe6f819" providerId="AD" clId="Web-{4CB7E0C6-41FA-1C6E-F616-287C9217A416}" dt="2019-09-11T08:04:10.060" v="175" actId="20577"/>
          <ac:spMkLst>
            <pc:docMk/>
            <pc:sldMk cId="2857820382" sldId="284"/>
            <ac:spMk id="2" creationId="{D0D58DDC-F1B9-4BA5-9493-085EAB79EBF7}"/>
          </ac:spMkLst>
        </pc:spChg>
      </pc:sldChg>
    </pc:docChg>
  </pc:docChgLst>
  <pc:docChgLst>
    <pc:chgData name="Martina Curran" userId="S::mcurran@ait.ie::85a4fcd9-8298-441f-985a-93cb1fe6f819" providerId="AD" clId="Web-{D62EFA46-F204-C606-BAF3-1C11CF86C215}"/>
    <pc:docChg chg="addSld modSld sldOrd">
      <pc:chgData name="Martina Curran" userId="S::mcurran@ait.ie::85a4fcd9-8298-441f-985a-93cb1fe6f819" providerId="AD" clId="Web-{D62EFA46-F204-C606-BAF3-1C11CF86C215}" dt="2019-09-11T09:46:06.276" v="525" actId="1076"/>
      <pc:docMkLst>
        <pc:docMk/>
      </pc:docMkLst>
      <pc:sldChg chg="ord">
        <pc:chgData name="Martina Curran" userId="S::mcurran@ait.ie::85a4fcd9-8298-441f-985a-93cb1fe6f819" providerId="AD" clId="Web-{D62EFA46-F204-C606-BAF3-1C11CF86C215}" dt="2019-09-11T09:26:57.669" v="459"/>
        <pc:sldMkLst>
          <pc:docMk/>
          <pc:sldMk cId="2002227816" sldId="290"/>
        </pc:sldMkLst>
      </pc:sldChg>
      <pc:sldChg chg="addSp modSp">
        <pc:chgData name="Martina Curran" userId="S::mcurran@ait.ie::85a4fcd9-8298-441f-985a-93cb1fe6f819" providerId="AD" clId="Web-{D62EFA46-F204-C606-BAF3-1C11CF86C215}" dt="2019-09-11T08:56:10.337" v="8" actId="1076"/>
        <pc:sldMkLst>
          <pc:docMk/>
          <pc:sldMk cId="278652480" sldId="298"/>
        </pc:sldMkLst>
        <pc:picChg chg="add mod">
          <ac:chgData name="Martina Curran" userId="S::mcurran@ait.ie::85a4fcd9-8298-441f-985a-93cb1fe6f819" providerId="AD" clId="Web-{D62EFA46-F204-C606-BAF3-1C11CF86C215}" dt="2019-09-11T08:52:45.995" v="2" actId="14100"/>
          <ac:picMkLst>
            <pc:docMk/>
            <pc:sldMk cId="278652480" sldId="298"/>
            <ac:picMk id="5" creationId="{B46E1A01-8544-409F-A215-9ACE8940B38F}"/>
          </ac:picMkLst>
        </pc:picChg>
        <pc:picChg chg="add mod">
          <ac:chgData name="Martina Curran" userId="S::mcurran@ait.ie::85a4fcd9-8298-441f-985a-93cb1fe6f819" providerId="AD" clId="Web-{D62EFA46-F204-C606-BAF3-1C11CF86C215}" dt="2019-09-11T08:56:10.337" v="8" actId="1076"/>
          <ac:picMkLst>
            <pc:docMk/>
            <pc:sldMk cId="278652480" sldId="298"/>
            <ac:picMk id="7" creationId="{C021466E-EE80-4726-B614-DEAE1C6DDAD2}"/>
          </ac:picMkLst>
        </pc:picChg>
      </pc:sldChg>
      <pc:sldChg chg="addSp modSp">
        <pc:chgData name="Martina Curran" userId="S::mcurran@ait.ie::85a4fcd9-8298-441f-985a-93cb1fe6f819" providerId="AD" clId="Web-{D62EFA46-F204-C606-BAF3-1C11CF86C215}" dt="2019-09-11T09:46:06.276" v="525" actId="1076"/>
        <pc:sldMkLst>
          <pc:docMk/>
          <pc:sldMk cId="3369494030" sldId="299"/>
        </pc:sldMkLst>
        <pc:spChg chg="mod">
          <ac:chgData name="Martina Curran" userId="S::mcurran@ait.ie::85a4fcd9-8298-441f-985a-93cb1fe6f819" providerId="AD" clId="Web-{D62EFA46-F204-C606-BAF3-1C11CF86C215}" dt="2019-09-11T09:38:55.436" v="519" actId="20577"/>
          <ac:spMkLst>
            <pc:docMk/>
            <pc:sldMk cId="3369494030" sldId="299"/>
            <ac:spMk id="3" creationId="{D3D6A105-762E-4735-B3E2-C335047CF812}"/>
          </ac:spMkLst>
        </pc:spChg>
        <pc:picChg chg="add mod">
          <ac:chgData name="Martina Curran" userId="S::mcurran@ait.ie::85a4fcd9-8298-441f-985a-93cb1fe6f819" providerId="AD" clId="Web-{D62EFA46-F204-C606-BAF3-1C11CF86C215}" dt="2019-09-11T09:46:06.276" v="525" actId="1076"/>
          <ac:picMkLst>
            <pc:docMk/>
            <pc:sldMk cId="3369494030" sldId="299"/>
            <ac:picMk id="5" creationId="{4FDCEB78-59F5-4F5B-AC39-6D9875605454}"/>
          </ac:picMkLst>
        </pc:picChg>
      </pc:sldChg>
      <pc:sldChg chg="modSp new">
        <pc:chgData name="Martina Curran" userId="S::mcurran@ait.ie::85a4fcd9-8298-441f-985a-93cb1fe6f819" providerId="AD" clId="Web-{D62EFA46-F204-C606-BAF3-1C11CF86C215}" dt="2019-09-11T09:23:09.390" v="455" actId="20577"/>
        <pc:sldMkLst>
          <pc:docMk/>
          <pc:sldMk cId="3737402035" sldId="300"/>
        </pc:sldMkLst>
        <pc:spChg chg="mod">
          <ac:chgData name="Martina Curran" userId="S::mcurran@ait.ie::85a4fcd9-8298-441f-985a-93cb1fe6f819" providerId="AD" clId="Web-{D62EFA46-F204-C606-BAF3-1C11CF86C215}" dt="2019-09-11T09:23:09.390" v="455" actId="20577"/>
          <ac:spMkLst>
            <pc:docMk/>
            <pc:sldMk cId="3737402035" sldId="300"/>
            <ac:spMk id="3" creationId="{DDB6748F-A34C-47EF-8DD5-F1D031FCC0A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934939-8CB4-40A9-B060-900A14035049}" type="datetimeFigureOut">
              <a:rPr lang="en-IE" smtClean="0"/>
              <a:t>11/09/2019</a:t>
            </a:fld>
            <a:endParaRPr lang="en-I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78A12C-C217-4D83-B342-C3CF5CD55E25}" type="slidenum">
              <a:rPr lang="en-IE" smtClean="0"/>
              <a:t>‹#›</a:t>
            </a:fld>
            <a:endParaRPr lang="en-IE"/>
          </a:p>
        </p:txBody>
      </p:sp>
    </p:spTree>
    <p:extLst>
      <p:ext uri="{BB962C8B-B14F-4D97-AF65-F5344CB8AC3E}">
        <p14:creationId xmlns:p14="http://schemas.microsoft.com/office/powerpoint/2010/main" val="3246664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A278A12C-C217-4D83-B342-C3CF5CD55E25}" type="slidenum">
              <a:rPr lang="en-IE" smtClean="0"/>
              <a:t>17</a:t>
            </a:fld>
            <a:endParaRPr lang="en-IE"/>
          </a:p>
        </p:txBody>
      </p:sp>
    </p:spTree>
    <p:extLst>
      <p:ext uri="{BB962C8B-B14F-4D97-AF65-F5344CB8AC3E}">
        <p14:creationId xmlns:p14="http://schemas.microsoft.com/office/powerpoint/2010/main" val="14222731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8598E-FB31-4398-B60B-63C71F34FDA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E"/>
          </a:p>
        </p:txBody>
      </p:sp>
      <p:sp>
        <p:nvSpPr>
          <p:cNvPr id="3" name="Subtitle 2">
            <a:extLst>
              <a:ext uri="{FF2B5EF4-FFF2-40B4-BE49-F238E27FC236}">
                <a16:creationId xmlns:a16="http://schemas.microsoft.com/office/drawing/2014/main" id="{77A5F1A0-93F1-448F-AA2E-32D3EFBF9D0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E"/>
          </a:p>
        </p:txBody>
      </p:sp>
      <p:sp>
        <p:nvSpPr>
          <p:cNvPr id="4" name="Date Placeholder 3">
            <a:extLst>
              <a:ext uri="{FF2B5EF4-FFF2-40B4-BE49-F238E27FC236}">
                <a16:creationId xmlns:a16="http://schemas.microsoft.com/office/drawing/2014/main" id="{21E08066-051E-4B42-B964-74EA0D106C58}"/>
              </a:ext>
            </a:extLst>
          </p:cNvPr>
          <p:cNvSpPr>
            <a:spLocks noGrp="1"/>
          </p:cNvSpPr>
          <p:nvPr>
            <p:ph type="dt" sz="half" idx="10"/>
          </p:nvPr>
        </p:nvSpPr>
        <p:spPr/>
        <p:txBody>
          <a:bodyPr/>
          <a:lstStyle/>
          <a:p>
            <a:fld id="{69B73BCF-A988-49F9-924E-274D859E4083}" type="datetimeFigureOut">
              <a:rPr lang="en-IE" smtClean="0"/>
              <a:t>11/09/2019</a:t>
            </a:fld>
            <a:endParaRPr lang="en-IE"/>
          </a:p>
        </p:txBody>
      </p:sp>
      <p:sp>
        <p:nvSpPr>
          <p:cNvPr id="5" name="Footer Placeholder 4">
            <a:extLst>
              <a:ext uri="{FF2B5EF4-FFF2-40B4-BE49-F238E27FC236}">
                <a16:creationId xmlns:a16="http://schemas.microsoft.com/office/drawing/2014/main" id="{A53A452E-E798-45BD-B36F-D53462A2DCA7}"/>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EB5BDEE9-D6D3-4E4B-BBFA-430325CD775D}"/>
              </a:ext>
            </a:extLst>
          </p:cNvPr>
          <p:cNvSpPr>
            <a:spLocks noGrp="1"/>
          </p:cNvSpPr>
          <p:nvPr>
            <p:ph type="sldNum" sz="quarter" idx="12"/>
          </p:nvPr>
        </p:nvSpPr>
        <p:spPr/>
        <p:txBody>
          <a:bodyPr/>
          <a:lstStyle/>
          <a:p>
            <a:fld id="{A93B9163-B546-4E8F-9652-2282E0BED101}" type="slidenum">
              <a:rPr lang="en-IE" smtClean="0"/>
              <a:t>‹#›</a:t>
            </a:fld>
            <a:endParaRPr lang="en-IE"/>
          </a:p>
        </p:txBody>
      </p:sp>
    </p:spTree>
    <p:extLst>
      <p:ext uri="{BB962C8B-B14F-4D97-AF65-F5344CB8AC3E}">
        <p14:creationId xmlns:p14="http://schemas.microsoft.com/office/powerpoint/2010/main" val="2779989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0D5AE-FDE2-44FC-8F56-876B5B8189AB}"/>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846C29EF-59AC-4E64-AE42-D8908B6431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D5996A9C-8CEE-4EC8-BEF4-55E1DF92C86A}"/>
              </a:ext>
            </a:extLst>
          </p:cNvPr>
          <p:cNvSpPr>
            <a:spLocks noGrp="1"/>
          </p:cNvSpPr>
          <p:nvPr>
            <p:ph type="dt" sz="half" idx="10"/>
          </p:nvPr>
        </p:nvSpPr>
        <p:spPr/>
        <p:txBody>
          <a:bodyPr/>
          <a:lstStyle/>
          <a:p>
            <a:fld id="{69B73BCF-A988-49F9-924E-274D859E4083}" type="datetimeFigureOut">
              <a:rPr lang="en-IE" smtClean="0"/>
              <a:t>11/09/2019</a:t>
            </a:fld>
            <a:endParaRPr lang="en-IE"/>
          </a:p>
        </p:txBody>
      </p:sp>
      <p:sp>
        <p:nvSpPr>
          <p:cNvPr id="5" name="Footer Placeholder 4">
            <a:extLst>
              <a:ext uri="{FF2B5EF4-FFF2-40B4-BE49-F238E27FC236}">
                <a16:creationId xmlns:a16="http://schemas.microsoft.com/office/drawing/2014/main" id="{EBD89D7E-96B0-40CE-A693-32779D582830}"/>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BE35614F-8A20-4C75-9E25-BF6EBBC8A68F}"/>
              </a:ext>
            </a:extLst>
          </p:cNvPr>
          <p:cNvSpPr>
            <a:spLocks noGrp="1"/>
          </p:cNvSpPr>
          <p:nvPr>
            <p:ph type="sldNum" sz="quarter" idx="12"/>
          </p:nvPr>
        </p:nvSpPr>
        <p:spPr/>
        <p:txBody>
          <a:bodyPr/>
          <a:lstStyle/>
          <a:p>
            <a:fld id="{A93B9163-B546-4E8F-9652-2282E0BED101}" type="slidenum">
              <a:rPr lang="en-IE" smtClean="0"/>
              <a:t>‹#›</a:t>
            </a:fld>
            <a:endParaRPr lang="en-IE"/>
          </a:p>
        </p:txBody>
      </p:sp>
    </p:spTree>
    <p:extLst>
      <p:ext uri="{BB962C8B-B14F-4D97-AF65-F5344CB8AC3E}">
        <p14:creationId xmlns:p14="http://schemas.microsoft.com/office/powerpoint/2010/main" val="31445158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325D8-1A1D-42D3-A469-1EBDBFD173F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E"/>
          </a:p>
        </p:txBody>
      </p:sp>
      <p:sp>
        <p:nvSpPr>
          <p:cNvPr id="3" name="Text Placeholder 2">
            <a:extLst>
              <a:ext uri="{FF2B5EF4-FFF2-40B4-BE49-F238E27FC236}">
                <a16:creationId xmlns:a16="http://schemas.microsoft.com/office/drawing/2014/main" id="{81596AE0-4EC7-406F-B955-7B92E162517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DEFA71B-D92D-4A6D-B27C-3E212311CDD9}"/>
              </a:ext>
            </a:extLst>
          </p:cNvPr>
          <p:cNvSpPr>
            <a:spLocks noGrp="1"/>
          </p:cNvSpPr>
          <p:nvPr>
            <p:ph type="dt" sz="half" idx="10"/>
          </p:nvPr>
        </p:nvSpPr>
        <p:spPr/>
        <p:txBody>
          <a:bodyPr/>
          <a:lstStyle/>
          <a:p>
            <a:fld id="{69B73BCF-A988-49F9-924E-274D859E4083}" type="datetimeFigureOut">
              <a:rPr lang="en-IE" smtClean="0"/>
              <a:t>11/09/2019</a:t>
            </a:fld>
            <a:endParaRPr lang="en-IE"/>
          </a:p>
        </p:txBody>
      </p:sp>
      <p:sp>
        <p:nvSpPr>
          <p:cNvPr id="5" name="Footer Placeholder 4">
            <a:extLst>
              <a:ext uri="{FF2B5EF4-FFF2-40B4-BE49-F238E27FC236}">
                <a16:creationId xmlns:a16="http://schemas.microsoft.com/office/drawing/2014/main" id="{7D1875B4-971E-4CC5-A827-BE11A49531FE}"/>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530CB196-2892-407E-862B-E343BCB770F3}"/>
              </a:ext>
            </a:extLst>
          </p:cNvPr>
          <p:cNvSpPr>
            <a:spLocks noGrp="1"/>
          </p:cNvSpPr>
          <p:nvPr>
            <p:ph type="sldNum" sz="quarter" idx="12"/>
          </p:nvPr>
        </p:nvSpPr>
        <p:spPr/>
        <p:txBody>
          <a:bodyPr/>
          <a:lstStyle/>
          <a:p>
            <a:fld id="{A93B9163-B546-4E8F-9652-2282E0BED101}" type="slidenum">
              <a:rPr lang="en-IE" smtClean="0"/>
              <a:t>‹#›</a:t>
            </a:fld>
            <a:endParaRPr lang="en-IE"/>
          </a:p>
        </p:txBody>
      </p:sp>
    </p:spTree>
    <p:extLst>
      <p:ext uri="{BB962C8B-B14F-4D97-AF65-F5344CB8AC3E}">
        <p14:creationId xmlns:p14="http://schemas.microsoft.com/office/powerpoint/2010/main" val="9337324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C3CB8-48A3-4BCB-BC6B-C70A663457B4}"/>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35BDC9CD-22E6-45CB-9801-6722DD0D3A2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a:extLst>
              <a:ext uri="{FF2B5EF4-FFF2-40B4-BE49-F238E27FC236}">
                <a16:creationId xmlns:a16="http://schemas.microsoft.com/office/drawing/2014/main" id="{189CFC59-90C8-416B-A10F-F46F27CEBDF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Date Placeholder 4">
            <a:extLst>
              <a:ext uri="{FF2B5EF4-FFF2-40B4-BE49-F238E27FC236}">
                <a16:creationId xmlns:a16="http://schemas.microsoft.com/office/drawing/2014/main" id="{00F10C38-2E19-4DC3-983B-7A0BE949EB65}"/>
              </a:ext>
            </a:extLst>
          </p:cNvPr>
          <p:cNvSpPr>
            <a:spLocks noGrp="1"/>
          </p:cNvSpPr>
          <p:nvPr>
            <p:ph type="dt" sz="half" idx="10"/>
          </p:nvPr>
        </p:nvSpPr>
        <p:spPr/>
        <p:txBody>
          <a:bodyPr/>
          <a:lstStyle/>
          <a:p>
            <a:fld id="{69B73BCF-A988-49F9-924E-274D859E4083}" type="datetimeFigureOut">
              <a:rPr lang="en-IE" smtClean="0"/>
              <a:t>11/09/2019</a:t>
            </a:fld>
            <a:endParaRPr lang="en-IE"/>
          </a:p>
        </p:txBody>
      </p:sp>
      <p:sp>
        <p:nvSpPr>
          <p:cNvPr id="6" name="Footer Placeholder 5">
            <a:extLst>
              <a:ext uri="{FF2B5EF4-FFF2-40B4-BE49-F238E27FC236}">
                <a16:creationId xmlns:a16="http://schemas.microsoft.com/office/drawing/2014/main" id="{B5443C97-150A-4B8C-92AE-C7266195D76F}"/>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33A7BC86-30B0-425C-935F-27BC0DC6F9CF}"/>
              </a:ext>
            </a:extLst>
          </p:cNvPr>
          <p:cNvSpPr>
            <a:spLocks noGrp="1"/>
          </p:cNvSpPr>
          <p:nvPr>
            <p:ph type="sldNum" sz="quarter" idx="12"/>
          </p:nvPr>
        </p:nvSpPr>
        <p:spPr/>
        <p:txBody>
          <a:bodyPr/>
          <a:lstStyle/>
          <a:p>
            <a:fld id="{A93B9163-B546-4E8F-9652-2282E0BED101}" type="slidenum">
              <a:rPr lang="en-IE" smtClean="0"/>
              <a:t>‹#›</a:t>
            </a:fld>
            <a:endParaRPr lang="en-IE"/>
          </a:p>
        </p:txBody>
      </p:sp>
    </p:spTree>
    <p:extLst>
      <p:ext uri="{BB962C8B-B14F-4D97-AF65-F5344CB8AC3E}">
        <p14:creationId xmlns:p14="http://schemas.microsoft.com/office/powerpoint/2010/main" val="780428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D0055-6402-40AF-8E2D-99F80E49093D}"/>
              </a:ext>
            </a:extLst>
          </p:cNvPr>
          <p:cNvSpPr>
            <a:spLocks noGrp="1"/>
          </p:cNvSpPr>
          <p:nvPr>
            <p:ph type="title"/>
          </p:nvPr>
        </p:nvSpPr>
        <p:spPr>
          <a:xfrm>
            <a:off x="839788" y="365125"/>
            <a:ext cx="10515600" cy="1325563"/>
          </a:xfrm>
        </p:spPr>
        <p:txBody>
          <a:bodyPr/>
          <a:lstStyle/>
          <a:p>
            <a:r>
              <a:rPr lang="en-US"/>
              <a:t>Click to edit Master title style</a:t>
            </a:r>
            <a:endParaRPr lang="en-IE"/>
          </a:p>
        </p:txBody>
      </p:sp>
      <p:sp>
        <p:nvSpPr>
          <p:cNvPr id="3" name="Text Placeholder 2">
            <a:extLst>
              <a:ext uri="{FF2B5EF4-FFF2-40B4-BE49-F238E27FC236}">
                <a16:creationId xmlns:a16="http://schemas.microsoft.com/office/drawing/2014/main" id="{87D77B73-93B9-44F3-A1BC-BAF63C89173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50E24C2-AB9A-4100-8F0E-67CCA48271F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a:extLst>
              <a:ext uri="{FF2B5EF4-FFF2-40B4-BE49-F238E27FC236}">
                <a16:creationId xmlns:a16="http://schemas.microsoft.com/office/drawing/2014/main" id="{B61EF005-1516-4CA1-966C-00DFC379F45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0009400-A8A2-4D86-A477-522E94FB191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Date Placeholder 6">
            <a:extLst>
              <a:ext uri="{FF2B5EF4-FFF2-40B4-BE49-F238E27FC236}">
                <a16:creationId xmlns:a16="http://schemas.microsoft.com/office/drawing/2014/main" id="{A6318015-420B-4D47-99EA-8EBF4B876C2D}"/>
              </a:ext>
            </a:extLst>
          </p:cNvPr>
          <p:cNvSpPr>
            <a:spLocks noGrp="1"/>
          </p:cNvSpPr>
          <p:nvPr>
            <p:ph type="dt" sz="half" idx="10"/>
          </p:nvPr>
        </p:nvSpPr>
        <p:spPr/>
        <p:txBody>
          <a:bodyPr/>
          <a:lstStyle/>
          <a:p>
            <a:fld id="{69B73BCF-A988-49F9-924E-274D859E4083}" type="datetimeFigureOut">
              <a:rPr lang="en-IE" smtClean="0"/>
              <a:t>11/09/2019</a:t>
            </a:fld>
            <a:endParaRPr lang="en-IE"/>
          </a:p>
        </p:txBody>
      </p:sp>
      <p:sp>
        <p:nvSpPr>
          <p:cNvPr id="8" name="Footer Placeholder 7">
            <a:extLst>
              <a:ext uri="{FF2B5EF4-FFF2-40B4-BE49-F238E27FC236}">
                <a16:creationId xmlns:a16="http://schemas.microsoft.com/office/drawing/2014/main" id="{17E6686C-68A0-4997-B0B7-99BBB88077C2}"/>
              </a:ext>
            </a:extLst>
          </p:cNvPr>
          <p:cNvSpPr>
            <a:spLocks noGrp="1"/>
          </p:cNvSpPr>
          <p:nvPr>
            <p:ph type="ftr" sz="quarter" idx="11"/>
          </p:nvPr>
        </p:nvSpPr>
        <p:spPr/>
        <p:txBody>
          <a:bodyPr/>
          <a:lstStyle/>
          <a:p>
            <a:endParaRPr lang="en-IE"/>
          </a:p>
        </p:txBody>
      </p:sp>
      <p:sp>
        <p:nvSpPr>
          <p:cNvPr id="9" name="Slide Number Placeholder 8">
            <a:extLst>
              <a:ext uri="{FF2B5EF4-FFF2-40B4-BE49-F238E27FC236}">
                <a16:creationId xmlns:a16="http://schemas.microsoft.com/office/drawing/2014/main" id="{C093EE0D-5DF8-43B2-9042-635AEF6B663C}"/>
              </a:ext>
            </a:extLst>
          </p:cNvPr>
          <p:cNvSpPr>
            <a:spLocks noGrp="1"/>
          </p:cNvSpPr>
          <p:nvPr>
            <p:ph type="sldNum" sz="quarter" idx="12"/>
          </p:nvPr>
        </p:nvSpPr>
        <p:spPr/>
        <p:txBody>
          <a:bodyPr/>
          <a:lstStyle/>
          <a:p>
            <a:fld id="{A93B9163-B546-4E8F-9652-2282E0BED101}" type="slidenum">
              <a:rPr lang="en-IE" smtClean="0"/>
              <a:t>‹#›</a:t>
            </a:fld>
            <a:endParaRPr lang="en-IE"/>
          </a:p>
        </p:txBody>
      </p:sp>
    </p:spTree>
    <p:extLst>
      <p:ext uri="{BB962C8B-B14F-4D97-AF65-F5344CB8AC3E}">
        <p14:creationId xmlns:p14="http://schemas.microsoft.com/office/powerpoint/2010/main" val="23889887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21B2A-79AE-4867-8BC3-E08123DD5F34}"/>
              </a:ext>
            </a:extLst>
          </p:cNvPr>
          <p:cNvSpPr>
            <a:spLocks noGrp="1"/>
          </p:cNvSpPr>
          <p:nvPr>
            <p:ph type="title"/>
          </p:nvPr>
        </p:nvSpPr>
        <p:spPr/>
        <p:txBody>
          <a:bodyPr/>
          <a:lstStyle/>
          <a:p>
            <a:r>
              <a:rPr lang="en-US"/>
              <a:t>Click to edit Master title style</a:t>
            </a:r>
            <a:endParaRPr lang="en-IE"/>
          </a:p>
        </p:txBody>
      </p:sp>
      <p:sp>
        <p:nvSpPr>
          <p:cNvPr id="3" name="Date Placeholder 2">
            <a:extLst>
              <a:ext uri="{FF2B5EF4-FFF2-40B4-BE49-F238E27FC236}">
                <a16:creationId xmlns:a16="http://schemas.microsoft.com/office/drawing/2014/main" id="{A6B7F410-D9AA-449A-81D5-CC81E32E9631}"/>
              </a:ext>
            </a:extLst>
          </p:cNvPr>
          <p:cNvSpPr>
            <a:spLocks noGrp="1"/>
          </p:cNvSpPr>
          <p:nvPr>
            <p:ph type="dt" sz="half" idx="10"/>
          </p:nvPr>
        </p:nvSpPr>
        <p:spPr/>
        <p:txBody>
          <a:bodyPr/>
          <a:lstStyle/>
          <a:p>
            <a:fld id="{69B73BCF-A988-49F9-924E-274D859E4083}" type="datetimeFigureOut">
              <a:rPr lang="en-IE" smtClean="0"/>
              <a:t>11/09/2019</a:t>
            </a:fld>
            <a:endParaRPr lang="en-IE"/>
          </a:p>
        </p:txBody>
      </p:sp>
      <p:sp>
        <p:nvSpPr>
          <p:cNvPr id="4" name="Footer Placeholder 3">
            <a:extLst>
              <a:ext uri="{FF2B5EF4-FFF2-40B4-BE49-F238E27FC236}">
                <a16:creationId xmlns:a16="http://schemas.microsoft.com/office/drawing/2014/main" id="{C04E350B-E088-4F8D-BC62-DCE5373F4E79}"/>
              </a:ext>
            </a:extLst>
          </p:cNvPr>
          <p:cNvSpPr>
            <a:spLocks noGrp="1"/>
          </p:cNvSpPr>
          <p:nvPr>
            <p:ph type="ftr" sz="quarter" idx="11"/>
          </p:nvPr>
        </p:nvSpPr>
        <p:spPr/>
        <p:txBody>
          <a:bodyPr/>
          <a:lstStyle/>
          <a:p>
            <a:endParaRPr lang="en-IE"/>
          </a:p>
        </p:txBody>
      </p:sp>
      <p:sp>
        <p:nvSpPr>
          <p:cNvPr id="5" name="Slide Number Placeholder 4">
            <a:extLst>
              <a:ext uri="{FF2B5EF4-FFF2-40B4-BE49-F238E27FC236}">
                <a16:creationId xmlns:a16="http://schemas.microsoft.com/office/drawing/2014/main" id="{2D0190B1-C37E-43BF-BC18-2560D8A9A170}"/>
              </a:ext>
            </a:extLst>
          </p:cNvPr>
          <p:cNvSpPr>
            <a:spLocks noGrp="1"/>
          </p:cNvSpPr>
          <p:nvPr>
            <p:ph type="sldNum" sz="quarter" idx="12"/>
          </p:nvPr>
        </p:nvSpPr>
        <p:spPr/>
        <p:txBody>
          <a:bodyPr/>
          <a:lstStyle/>
          <a:p>
            <a:fld id="{A93B9163-B546-4E8F-9652-2282E0BED101}" type="slidenum">
              <a:rPr lang="en-IE" smtClean="0"/>
              <a:t>‹#›</a:t>
            </a:fld>
            <a:endParaRPr lang="en-IE"/>
          </a:p>
        </p:txBody>
      </p:sp>
    </p:spTree>
    <p:extLst>
      <p:ext uri="{BB962C8B-B14F-4D97-AF65-F5344CB8AC3E}">
        <p14:creationId xmlns:p14="http://schemas.microsoft.com/office/powerpoint/2010/main" val="1880472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06244F-2A8F-4BCE-8DD8-0DFE5FD54EA4}"/>
              </a:ext>
            </a:extLst>
          </p:cNvPr>
          <p:cNvSpPr>
            <a:spLocks noGrp="1"/>
          </p:cNvSpPr>
          <p:nvPr>
            <p:ph type="dt" sz="half" idx="10"/>
          </p:nvPr>
        </p:nvSpPr>
        <p:spPr/>
        <p:txBody>
          <a:bodyPr/>
          <a:lstStyle/>
          <a:p>
            <a:fld id="{69B73BCF-A988-49F9-924E-274D859E4083}" type="datetimeFigureOut">
              <a:rPr lang="en-IE" smtClean="0"/>
              <a:t>11/09/2019</a:t>
            </a:fld>
            <a:endParaRPr lang="en-IE"/>
          </a:p>
        </p:txBody>
      </p:sp>
      <p:sp>
        <p:nvSpPr>
          <p:cNvPr id="3" name="Footer Placeholder 2">
            <a:extLst>
              <a:ext uri="{FF2B5EF4-FFF2-40B4-BE49-F238E27FC236}">
                <a16:creationId xmlns:a16="http://schemas.microsoft.com/office/drawing/2014/main" id="{9404D35E-0779-4F8D-96A1-A24DB05857F7}"/>
              </a:ext>
            </a:extLst>
          </p:cNvPr>
          <p:cNvSpPr>
            <a:spLocks noGrp="1"/>
          </p:cNvSpPr>
          <p:nvPr>
            <p:ph type="ftr" sz="quarter" idx="11"/>
          </p:nvPr>
        </p:nvSpPr>
        <p:spPr/>
        <p:txBody>
          <a:bodyPr/>
          <a:lstStyle/>
          <a:p>
            <a:endParaRPr lang="en-IE"/>
          </a:p>
        </p:txBody>
      </p:sp>
      <p:sp>
        <p:nvSpPr>
          <p:cNvPr id="4" name="Slide Number Placeholder 3">
            <a:extLst>
              <a:ext uri="{FF2B5EF4-FFF2-40B4-BE49-F238E27FC236}">
                <a16:creationId xmlns:a16="http://schemas.microsoft.com/office/drawing/2014/main" id="{42EE2398-A524-4EFB-87DB-F1E50DB06E21}"/>
              </a:ext>
            </a:extLst>
          </p:cNvPr>
          <p:cNvSpPr>
            <a:spLocks noGrp="1"/>
          </p:cNvSpPr>
          <p:nvPr>
            <p:ph type="sldNum" sz="quarter" idx="12"/>
          </p:nvPr>
        </p:nvSpPr>
        <p:spPr/>
        <p:txBody>
          <a:bodyPr/>
          <a:lstStyle/>
          <a:p>
            <a:fld id="{A93B9163-B546-4E8F-9652-2282E0BED101}" type="slidenum">
              <a:rPr lang="en-IE" smtClean="0"/>
              <a:t>‹#›</a:t>
            </a:fld>
            <a:endParaRPr lang="en-IE"/>
          </a:p>
        </p:txBody>
      </p:sp>
    </p:spTree>
    <p:extLst>
      <p:ext uri="{BB962C8B-B14F-4D97-AF65-F5344CB8AC3E}">
        <p14:creationId xmlns:p14="http://schemas.microsoft.com/office/powerpoint/2010/main" val="33920807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BFC9C-EDA3-4D13-A103-B6D497C37F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Content Placeholder 2">
            <a:extLst>
              <a:ext uri="{FF2B5EF4-FFF2-40B4-BE49-F238E27FC236}">
                <a16:creationId xmlns:a16="http://schemas.microsoft.com/office/drawing/2014/main" id="{DEC402D7-B491-4E6A-BE9F-B40E6356B7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a:extLst>
              <a:ext uri="{FF2B5EF4-FFF2-40B4-BE49-F238E27FC236}">
                <a16:creationId xmlns:a16="http://schemas.microsoft.com/office/drawing/2014/main" id="{CD186FCB-EDD4-4E26-B04D-95C375C52B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1E439D-7617-4ED6-AFC3-26B32180CCFA}"/>
              </a:ext>
            </a:extLst>
          </p:cNvPr>
          <p:cNvSpPr>
            <a:spLocks noGrp="1"/>
          </p:cNvSpPr>
          <p:nvPr>
            <p:ph type="dt" sz="half" idx="10"/>
          </p:nvPr>
        </p:nvSpPr>
        <p:spPr/>
        <p:txBody>
          <a:bodyPr/>
          <a:lstStyle/>
          <a:p>
            <a:fld id="{69B73BCF-A988-49F9-924E-274D859E4083}" type="datetimeFigureOut">
              <a:rPr lang="en-IE" smtClean="0"/>
              <a:t>11/09/2019</a:t>
            </a:fld>
            <a:endParaRPr lang="en-IE"/>
          </a:p>
        </p:txBody>
      </p:sp>
      <p:sp>
        <p:nvSpPr>
          <p:cNvPr id="6" name="Footer Placeholder 5">
            <a:extLst>
              <a:ext uri="{FF2B5EF4-FFF2-40B4-BE49-F238E27FC236}">
                <a16:creationId xmlns:a16="http://schemas.microsoft.com/office/drawing/2014/main" id="{FA9FAEFF-27A7-432D-BC28-6C3AE53EA02F}"/>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E46D9D7A-BC91-41EA-A708-684CC0FA3745}"/>
              </a:ext>
            </a:extLst>
          </p:cNvPr>
          <p:cNvSpPr>
            <a:spLocks noGrp="1"/>
          </p:cNvSpPr>
          <p:nvPr>
            <p:ph type="sldNum" sz="quarter" idx="12"/>
          </p:nvPr>
        </p:nvSpPr>
        <p:spPr/>
        <p:txBody>
          <a:bodyPr/>
          <a:lstStyle/>
          <a:p>
            <a:fld id="{A93B9163-B546-4E8F-9652-2282E0BED101}" type="slidenum">
              <a:rPr lang="en-IE" smtClean="0"/>
              <a:t>‹#›</a:t>
            </a:fld>
            <a:endParaRPr lang="en-IE"/>
          </a:p>
        </p:txBody>
      </p:sp>
    </p:spTree>
    <p:extLst>
      <p:ext uri="{BB962C8B-B14F-4D97-AF65-F5344CB8AC3E}">
        <p14:creationId xmlns:p14="http://schemas.microsoft.com/office/powerpoint/2010/main" val="42764241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B23BC-A80A-4822-8F06-18E4842393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Picture Placeholder 2">
            <a:extLst>
              <a:ext uri="{FF2B5EF4-FFF2-40B4-BE49-F238E27FC236}">
                <a16:creationId xmlns:a16="http://schemas.microsoft.com/office/drawing/2014/main" id="{D1A61178-0B2F-4FB4-9C1F-579F4E637D8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E"/>
          </a:p>
        </p:txBody>
      </p:sp>
      <p:sp>
        <p:nvSpPr>
          <p:cNvPr id="4" name="Text Placeholder 3">
            <a:extLst>
              <a:ext uri="{FF2B5EF4-FFF2-40B4-BE49-F238E27FC236}">
                <a16:creationId xmlns:a16="http://schemas.microsoft.com/office/drawing/2014/main" id="{A351D940-720C-4842-AF61-C3A8338D18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376CE2-72D6-471F-8496-2B3AF2995367}"/>
              </a:ext>
            </a:extLst>
          </p:cNvPr>
          <p:cNvSpPr>
            <a:spLocks noGrp="1"/>
          </p:cNvSpPr>
          <p:nvPr>
            <p:ph type="dt" sz="half" idx="10"/>
          </p:nvPr>
        </p:nvSpPr>
        <p:spPr/>
        <p:txBody>
          <a:bodyPr/>
          <a:lstStyle/>
          <a:p>
            <a:fld id="{69B73BCF-A988-49F9-924E-274D859E4083}" type="datetimeFigureOut">
              <a:rPr lang="en-IE" smtClean="0"/>
              <a:t>11/09/2019</a:t>
            </a:fld>
            <a:endParaRPr lang="en-IE"/>
          </a:p>
        </p:txBody>
      </p:sp>
      <p:sp>
        <p:nvSpPr>
          <p:cNvPr id="6" name="Footer Placeholder 5">
            <a:extLst>
              <a:ext uri="{FF2B5EF4-FFF2-40B4-BE49-F238E27FC236}">
                <a16:creationId xmlns:a16="http://schemas.microsoft.com/office/drawing/2014/main" id="{AF984F3A-309F-4E4F-A705-3CEBCE8619B6}"/>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E40B9010-E9F7-45AF-845E-264D4569A04F}"/>
              </a:ext>
            </a:extLst>
          </p:cNvPr>
          <p:cNvSpPr>
            <a:spLocks noGrp="1"/>
          </p:cNvSpPr>
          <p:nvPr>
            <p:ph type="sldNum" sz="quarter" idx="12"/>
          </p:nvPr>
        </p:nvSpPr>
        <p:spPr/>
        <p:txBody>
          <a:bodyPr/>
          <a:lstStyle/>
          <a:p>
            <a:fld id="{A93B9163-B546-4E8F-9652-2282E0BED101}" type="slidenum">
              <a:rPr lang="en-IE" smtClean="0"/>
              <a:t>‹#›</a:t>
            </a:fld>
            <a:endParaRPr lang="en-IE"/>
          </a:p>
        </p:txBody>
      </p:sp>
    </p:spTree>
    <p:extLst>
      <p:ext uri="{BB962C8B-B14F-4D97-AF65-F5344CB8AC3E}">
        <p14:creationId xmlns:p14="http://schemas.microsoft.com/office/powerpoint/2010/main" val="41629689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98960-B9AB-4C4D-A454-5F38F8045732}"/>
              </a:ext>
            </a:extLst>
          </p:cNvPr>
          <p:cNvSpPr>
            <a:spLocks noGrp="1"/>
          </p:cNvSpPr>
          <p:nvPr>
            <p:ph type="title"/>
          </p:nvPr>
        </p:nvSpPr>
        <p:spPr/>
        <p:txBody>
          <a:bodyPr/>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FA15FFC2-647E-4F9E-8D5C-BB81DC5F9CF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F825D14A-1B3F-4F93-8D5F-77B9969FC6F5}"/>
              </a:ext>
            </a:extLst>
          </p:cNvPr>
          <p:cNvSpPr>
            <a:spLocks noGrp="1"/>
          </p:cNvSpPr>
          <p:nvPr>
            <p:ph type="dt" sz="half" idx="10"/>
          </p:nvPr>
        </p:nvSpPr>
        <p:spPr/>
        <p:txBody>
          <a:bodyPr/>
          <a:lstStyle/>
          <a:p>
            <a:fld id="{69B73BCF-A988-49F9-924E-274D859E4083}" type="datetimeFigureOut">
              <a:rPr lang="en-IE" smtClean="0"/>
              <a:t>11/09/2019</a:t>
            </a:fld>
            <a:endParaRPr lang="en-IE"/>
          </a:p>
        </p:txBody>
      </p:sp>
      <p:sp>
        <p:nvSpPr>
          <p:cNvPr id="5" name="Footer Placeholder 4">
            <a:extLst>
              <a:ext uri="{FF2B5EF4-FFF2-40B4-BE49-F238E27FC236}">
                <a16:creationId xmlns:a16="http://schemas.microsoft.com/office/drawing/2014/main" id="{29CF7DF7-0EA6-482C-A1AB-CF511361F8E1}"/>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5C765533-A2FE-4A8B-BA55-824B1A6A3602}"/>
              </a:ext>
            </a:extLst>
          </p:cNvPr>
          <p:cNvSpPr>
            <a:spLocks noGrp="1"/>
          </p:cNvSpPr>
          <p:nvPr>
            <p:ph type="sldNum" sz="quarter" idx="12"/>
          </p:nvPr>
        </p:nvSpPr>
        <p:spPr/>
        <p:txBody>
          <a:bodyPr/>
          <a:lstStyle/>
          <a:p>
            <a:fld id="{A93B9163-B546-4E8F-9652-2282E0BED101}" type="slidenum">
              <a:rPr lang="en-IE" smtClean="0"/>
              <a:t>‹#›</a:t>
            </a:fld>
            <a:endParaRPr lang="en-IE"/>
          </a:p>
        </p:txBody>
      </p:sp>
    </p:spTree>
    <p:extLst>
      <p:ext uri="{BB962C8B-B14F-4D97-AF65-F5344CB8AC3E}">
        <p14:creationId xmlns:p14="http://schemas.microsoft.com/office/powerpoint/2010/main" val="11382859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660FAF8-607E-46FF-9C4C-FD6D164A51E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EE064B68-BE93-4E9E-866E-C7D15157A72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A0D755B3-B9EE-4DD9-BE8D-91CDA8366848}"/>
              </a:ext>
            </a:extLst>
          </p:cNvPr>
          <p:cNvSpPr>
            <a:spLocks noGrp="1"/>
          </p:cNvSpPr>
          <p:nvPr>
            <p:ph type="dt" sz="half" idx="10"/>
          </p:nvPr>
        </p:nvSpPr>
        <p:spPr/>
        <p:txBody>
          <a:bodyPr/>
          <a:lstStyle/>
          <a:p>
            <a:fld id="{69B73BCF-A988-49F9-924E-274D859E4083}" type="datetimeFigureOut">
              <a:rPr lang="en-IE" smtClean="0"/>
              <a:t>11/09/2019</a:t>
            </a:fld>
            <a:endParaRPr lang="en-IE"/>
          </a:p>
        </p:txBody>
      </p:sp>
      <p:sp>
        <p:nvSpPr>
          <p:cNvPr id="5" name="Footer Placeholder 4">
            <a:extLst>
              <a:ext uri="{FF2B5EF4-FFF2-40B4-BE49-F238E27FC236}">
                <a16:creationId xmlns:a16="http://schemas.microsoft.com/office/drawing/2014/main" id="{22F4E1C5-F2E2-403F-AF57-80CB43F9D575}"/>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432827FC-64AD-4722-889E-F95456219C55}"/>
              </a:ext>
            </a:extLst>
          </p:cNvPr>
          <p:cNvSpPr>
            <a:spLocks noGrp="1"/>
          </p:cNvSpPr>
          <p:nvPr>
            <p:ph type="sldNum" sz="quarter" idx="12"/>
          </p:nvPr>
        </p:nvSpPr>
        <p:spPr/>
        <p:txBody>
          <a:bodyPr/>
          <a:lstStyle/>
          <a:p>
            <a:fld id="{A93B9163-B546-4E8F-9652-2282E0BED101}" type="slidenum">
              <a:rPr lang="en-IE" smtClean="0"/>
              <a:t>‹#›</a:t>
            </a:fld>
            <a:endParaRPr lang="en-IE"/>
          </a:p>
        </p:txBody>
      </p:sp>
    </p:spTree>
    <p:extLst>
      <p:ext uri="{BB962C8B-B14F-4D97-AF65-F5344CB8AC3E}">
        <p14:creationId xmlns:p14="http://schemas.microsoft.com/office/powerpoint/2010/main" val="37665334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42123B4-1834-4616-AA29-AEF35C077D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E"/>
          </a:p>
        </p:txBody>
      </p:sp>
      <p:sp>
        <p:nvSpPr>
          <p:cNvPr id="3" name="Text Placeholder 2">
            <a:extLst>
              <a:ext uri="{FF2B5EF4-FFF2-40B4-BE49-F238E27FC236}">
                <a16:creationId xmlns:a16="http://schemas.microsoft.com/office/drawing/2014/main" id="{252FAF8A-E1F1-4068-8C4B-BF0CCF3DB3E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92938975-8B11-4CC5-84FE-AC974404425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B73BCF-A988-49F9-924E-274D859E4083}" type="datetimeFigureOut">
              <a:rPr lang="en-IE" smtClean="0"/>
              <a:t>11/09/2019</a:t>
            </a:fld>
            <a:endParaRPr lang="en-IE"/>
          </a:p>
        </p:txBody>
      </p:sp>
      <p:sp>
        <p:nvSpPr>
          <p:cNvPr id="5" name="Footer Placeholder 4">
            <a:extLst>
              <a:ext uri="{FF2B5EF4-FFF2-40B4-BE49-F238E27FC236}">
                <a16:creationId xmlns:a16="http://schemas.microsoft.com/office/drawing/2014/main" id="{C4E9AD2B-C987-454B-BFCD-0304529CF8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E"/>
          </a:p>
        </p:txBody>
      </p:sp>
      <p:sp>
        <p:nvSpPr>
          <p:cNvPr id="6" name="Slide Number Placeholder 5">
            <a:extLst>
              <a:ext uri="{FF2B5EF4-FFF2-40B4-BE49-F238E27FC236}">
                <a16:creationId xmlns:a16="http://schemas.microsoft.com/office/drawing/2014/main" id="{F34D05C8-C1ED-479C-9CBC-B3618408E0C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3B9163-B546-4E8F-9652-2282E0BED101}" type="slidenum">
              <a:rPr lang="en-IE" smtClean="0"/>
              <a:t>‹#›</a:t>
            </a:fld>
            <a:endParaRPr lang="en-IE"/>
          </a:p>
        </p:txBody>
      </p:sp>
    </p:spTree>
    <p:extLst>
      <p:ext uri="{BB962C8B-B14F-4D97-AF65-F5344CB8AC3E}">
        <p14:creationId xmlns:p14="http://schemas.microsoft.com/office/powerpoint/2010/main" val="37333225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D653BFB1-03C4-4E39-A89E-F56AB5D057EB}"/>
              </a:ext>
            </a:extLst>
          </p:cNvPr>
          <p:cNvSpPr>
            <a:spLocks noGrp="1"/>
          </p:cNvSpPr>
          <p:nvPr>
            <p:ph type="ctrTitle"/>
          </p:nvPr>
        </p:nvSpPr>
        <p:spPr>
          <a:xfrm>
            <a:off x="1524000" y="1122363"/>
            <a:ext cx="9144000" cy="2387600"/>
          </a:xfrm>
        </p:spPr>
        <p:txBody>
          <a:bodyPr/>
          <a:lstStyle/>
          <a:p>
            <a:r>
              <a:rPr lang="en-IE"/>
              <a:t>Software Development 3</a:t>
            </a:r>
          </a:p>
        </p:txBody>
      </p:sp>
      <p:sp>
        <p:nvSpPr>
          <p:cNvPr id="9" name="Subtitle 2">
            <a:extLst>
              <a:ext uri="{FF2B5EF4-FFF2-40B4-BE49-F238E27FC236}">
                <a16:creationId xmlns:a16="http://schemas.microsoft.com/office/drawing/2014/main" id="{2D7BC028-FBF8-41D4-9393-8CECC2C95A03}"/>
              </a:ext>
            </a:extLst>
          </p:cNvPr>
          <p:cNvSpPr>
            <a:spLocks noGrp="1"/>
          </p:cNvSpPr>
          <p:nvPr>
            <p:ph type="subTitle" idx="1"/>
          </p:nvPr>
        </p:nvSpPr>
        <p:spPr>
          <a:xfrm>
            <a:off x="1524000" y="3602038"/>
            <a:ext cx="9144000" cy="1655762"/>
          </a:xfrm>
        </p:spPr>
        <p:txBody>
          <a:bodyPr/>
          <a:lstStyle/>
          <a:p>
            <a:r>
              <a:rPr lang="en-IE"/>
              <a:t>OOD Review</a:t>
            </a:r>
          </a:p>
        </p:txBody>
      </p:sp>
    </p:spTree>
    <p:extLst>
      <p:ext uri="{BB962C8B-B14F-4D97-AF65-F5344CB8AC3E}">
        <p14:creationId xmlns:p14="http://schemas.microsoft.com/office/powerpoint/2010/main" val="6428679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2FF58C-BBAD-4144-B69B-377263A1ACC9}"/>
              </a:ext>
            </a:extLst>
          </p:cNvPr>
          <p:cNvSpPr>
            <a:spLocks noGrp="1"/>
          </p:cNvSpPr>
          <p:nvPr>
            <p:ph idx="1"/>
          </p:nvPr>
        </p:nvSpPr>
        <p:spPr/>
        <p:txBody>
          <a:bodyPr/>
          <a:lstStyle/>
          <a:p>
            <a:pPr marL="0" indent="0" algn="ctr">
              <a:buNone/>
            </a:pPr>
            <a:r>
              <a:rPr lang="en-IE"/>
              <a:t>2 Main Approaches</a:t>
            </a:r>
          </a:p>
        </p:txBody>
      </p:sp>
      <p:sp>
        <p:nvSpPr>
          <p:cNvPr id="2" name="Title 1">
            <a:extLst>
              <a:ext uri="{FF2B5EF4-FFF2-40B4-BE49-F238E27FC236}">
                <a16:creationId xmlns:a16="http://schemas.microsoft.com/office/drawing/2014/main" id="{3CACF8B9-66AF-4D67-B558-5F6F2B7BF0A1}"/>
              </a:ext>
            </a:extLst>
          </p:cNvPr>
          <p:cNvSpPr>
            <a:spLocks noGrp="1"/>
          </p:cNvSpPr>
          <p:nvPr>
            <p:ph type="title"/>
          </p:nvPr>
        </p:nvSpPr>
        <p:spPr/>
        <p:txBody>
          <a:bodyPr/>
          <a:lstStyle/>
          <a:p>
            <a:r>
              <a:rPr lang="en-IE"/>
              <a:t>Design Approaches</a:t>
            </a:r>
          </a:p>
        </p:txBody>
      </p:sp>
      <p:sp>
        <p:nvSpPr>
          <p:cNvPr id="5" name="TextBox 4">
            <a:extLst>
              <a:ext uri="{FF2B5EF4-FFF2-40B4-BE49-F238E27FC236}">
                <a16:creationId xmlns:a16="http://schemas.microsoft.com/office/drawing/2014/main" id="{47BC0595-E9C5-485A-834F-84E7267CBECF}"/>
              </a:ext>
            </a:extLst>
          </p:cNvPr>
          <p:cNvSpPr txBox="1"/>
          <p:nvPr/>
        </p:nvSpPr>
        <p:spPr>
          <a:xfrm>
            <a:off x="1578169" y="3429000"/>
            <a:ext cx="3719031" cy="1077218"/>
          </a:xfrm>
          <a:prstGeom prst="rect">
            <a:avLst/>
          </a:prstGeom>
          <a:noFill/>
        </p:spPr>
        <p:txBody>
          <a:bodyPr wrap="none" rtlCol="0">
            <a:spAutoFit/>
          </a:bodyPr>
          <a:lstStyle/>
          <a:p>
            <a:r>
              <a:rPr lang="en-IE" sz="2400" b="1" u="sng"/>
              <a:t>Functional Oriented Design</a:t>
            </a:r>
            <a:r>
              <a:rPr lang="en-IE"/>
              <a:t>:</a:t>
            </a:r>
          </a:p>
          <a:p>
            <a:r>
              <a:rPr lang="en-IE" sz="2000"/>
              <a:t>Starting point:</a:t>
            </a:r>
          </a:p>
          <a:p>
            <a:r>
              <a:rPr lang="en-IE" sz="2000"/>
              <a:t>What will the system do?</a:t>
            </a:r>
          </a:p>
        </p:txBody>
      </p:sp>
      <p:sp>
        <p:nvSpPr>
          <p:cNvPr id="6" name="TextBox 5">
            <a:extLst>
              <a:ext uri="{FF2B5EF4-FFF2-40B4-BE49-F238E27FC236}">
                <a16:creationId xmlns:a16="http://schemas.microsoft.com/office/drawing/2014/main" id="{A214E5DB-1270-405A-97F7-55D9EC2291A6}"/>
              </a:ext>
            </a:extLst>
          </p:cNvPr>
          <p:cNvSpPr txBox="1"/>
          <p:nvPr/>
        </p:nvSpPr>
        <p:spPr>
          <a:xfrm>
            <a:off x="6280934" y="3429000"/>
            <a:ext cx="4297523" cy="1077218"/>
          </a:xfrm>
          <a:prstGeom prst="rect">
            <a:avLst/>
          </a:prstGeom>
          <a:noFill/>
        </p:spPr>
        <p:txBody>
          <a:bodyPr wrap="none" rtlCol="0">
            <a:spAutoFit/>
          </a:bodyPr>
          <a:lstStyle/>
          <a:p>
            <a:r>
              <a:rPr lang="en-IE" sz="2400" b="1" u="sng"/>
              <a:t>Object Oriented Design:</a:t>
            </a:r>
          </a:p>
          <a:p>
            <a:r>
              <a:rPr lang="en-IE" sz="2000"/>
              <a:t>Starting point:</a:t>
            </a:r>
          </a:p>
          <a:p>
            <a:r>
              <a:rPr lang="en-IE" sz="2000"/>
              <a:t>What data will be stored in the system?</a:t>
            </a:r>
          </a:p>
        </p:txBody>
      </p:sp>
      <p:cxnSp>
        <p:nvCxnSpPr>
          <p:cNvPr id="8" name="Straight Arrow Connector 7">
            <a:extLst>
              <a:ext uri="{FF2B5EF4-FFF2-40B4-BE49-F238E27FC236}">
                <a16:creationId xmlns:a16="http://schemas.microsoft.com/office/drawing/2014/main" id="{9DAED660-9471-47B2-B1E8-6EA9E4A86851}"/>
              </a:ext>
            </a:extLst>
          </p:cNvPr>
          <p:cNvCxnSpPr>
            <a:endCxn id="5" idx="0"/>
          </p:cNvCxnSpPr>
          <p:nvPr/>
        </p:nvCxnSpPr>
        <p:spPr>
          <a:xfrm flipH="1">
            <a:off x="3437685" y="2559570"/>
            <a:ext cx="2067907" cy="8694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8BC7DDCC-B173-4333-9E30-1086F82383F7}"/>
              </a:ext>
            </a:extLst>
          </p:cNvPr>
          <p:cNvCxnSpPr>
            <a:cxnSpLocks/>
          </p:cNvCxnSpPr>
          <p:nvPr/>
        </p:nvCxnSpPr>
        <p:spPr>
          <a:xfrm>
            <a:off x="6280934" y="2559570"/>
            <a:ext cx="2067907" cy="8694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73208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59451-CDC0-4AB1-8D6D-BC49BA4CD4A2}"/>
              </a:ext>
            </a:extLst>
          </p:cNvPr>
          <p:cNvSpPr>
            <a:spLocks noGrp="1"/>
          </p:cNvSpPr>
          <p:nvPr>
            <p:ph type="title"/>
          </p:nvPr>
        </p:nvSpPr>
        <p:spPr/>
        <p:txBody>
          <a:bodyPr/>
          <a:lstStyle/>
          <a:p>
            <a:r>
              <a:rPr lang="en-IE"/>
              <a:t>What is a Class?</a:t>
            </a:r>
          </a:p>
        </p:txBody>
      </p:sp>
      <p:sp>
        <p:nvSpPr>
          <p:cNvPr id="3" name="Content Placeholder 2">
            <a:extLst>
              <a:ext uri="{FF2B5EF4-FFF2-40B4-BE49-F238E27FC236}">
                <a16:creationId xmlns:a16="http://schemas.microsoft.com/office/drawing/2014/main" id="{D72624FC-AF11-4D36-8D6F-13236D61B515}"/>
              </a:ext>
            </a:extLst>
          </p:cNvPr>
          <p:cNvSpPr>
            <a:spLocks noGrp="1"/>
          </p:cNvSpPr>
          <p:nvPr>
            <p:ph idx="1"/>
          </p:nvPr>
        </p:nvSpPr>
        <p:spPr/>
        <p:txBody>
          <a:bodyPr/>
          <a:lstStyle/>
          <a:p>
            <a:r>
              <a:rPr lang="en-US" altLang="en-US" i="1"/>
              <a:t>“A class is a blueprint or template that defines the variables and methods common to all objects of a certain kind”</a:t>
            </a:r>
          </a:p>
          <a:p>
            <a:endParaRPr lang="en-IE"/>
          </a:p>
          <a:p>
            <a:r>
              <a:rPr lang="en-IE"/>
              <a:t>It specifies what data needs to be stored for an object, and how the object needs to be designed.</a:t>
            </a:r>
          </a:p>
          <a:p>
            <a:pPr marL="0" indent="0">
              <a:buNone/>
            </a:pPr>
            <a:endParaRPr lang="en-IE"/>
          </a:p>
          <a:p>
            <a:r>
              <a:rPr lang="en-IE"/>
              <a:t>Every object which is created using this class will be the same </a:t>
            </a:r>
          </a:p>
          <a:p>
            <a:endParaRPr lang="en-IE"/>
          </a:p>
        </p:txBody>
      </p:sp>
    </p:spTree>
    <p:extLst>
      <p:ext uri="{BB962C8B-B14F-4D97-AF65-F5344CB8AC3E}">
        <p14:creationId xmlns:p14="http://schemas.microsoft.com/office/powerpoint/2010/main" val="6352324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2AC102-E15A-4BB2-A5D3-B4B985484DED}"/>
              </a:ext>
            </a:extLst>
          </p:cNvPr>
          <p:cNvSpPr>
            <a:spLocks noGrp="1"/>
          </p:cNvSpPr>
          <p:nvPr>
            <p:ph type="title"/>
          </p:nvPr>
        </p:nvSpPr>
        <p:spPr/>
        <p:txBody>
          <a:bodyPr/>
          <a:lstStyle/>
          <a:p>
            <a:r>
              <a:rPr lang="en-IE"/>
              <a:t>Class Example</a:t>
            </a:r>
          </a:p>
        </p:txBody>
      </p:sp>
      <p:sp>
        <p:nvSpPr>
          <p:cNvPr id="3" name="Content Placeholder 2">
            <a:extLst>
              <a:ext uri="{FF2B5EF4-FFF2-40B4-BE49-F238E27FC236}">
                <a16:creationId xmlns:a16="http://schemas.microsoft.com/office/drawing/2014/main" id="{F20ADBB7-F6A9-4EDD-B5D8-80EB308D765A}"/>
              </a:ext>
            </a:extLst>
          </p:cNvPr>
          <p:cNvSpPr>
            <a:spLocks noGrp="1"/>
          </p:cNvSpPr>
          <p:nvPr>
            <p:ph idx="1"/>
          </p:nvPr>
        </p:nvSpPr>
        <p:spPr/>
        <p:txBody>
          <a:bodyPr vert="horz" lIns="91440" tIns="45720" rIns="91440" bIns="45720" rtlCol="0" anchor="t">
            <a:normAutofit/>
          </a:bodyPr>
          <a:lstStyle/>
          <a:p>
            <a:r>
              <a:rPr lang="en-IE"/>
              <a:t>You are creating a </a:t>
            </a:r>
            <a:r>
              <a:rPr lang="en-IE" u="sng"/>
              <a:t>template</a:t>
            </a:r>
            <a:r>
              <a:rPr lang="en-IE"/>
              <a:t> for a car. What do all cars have/need?</a:t>
            </a:r>
          </a:p>
          <a:p>
            <a:endParaRPr lang="en-IE"/>
          </a:p>
          <a:p>
            <a:r>
              <a:rPr lang="en-IE"/>
              <a:t>Body</a:t>
            </a:r>
          </a:p>
          <a:p>
            <a:r>
              <a:rPr lang="en-IE"/>
              <a:t>Transmission</a:t>
            </a:r>
            <a:endParaRPr lang="en-IE">
              <a:cs typeface="Calibri"/>
            </a:endParaRPr>
          </a:p>
          <a:p>
            <a:r>
              <a:rPr lang="en-IE"/>
              <a:t>Doors</a:t>
            </a:r>
          </a:p>
          <a:p>
            <a:endParaRPr lang="en-IE">
              <a:cs typeface="Calibri" panose="020F0502020204030204"/>
            </a:endParaRPr>
          </a:p>
          <a:p>
            <a:endParaRPr lang="en-IE"/>
          </a:p>
        </p:txBody>
      </p:sp>
    </p:spTree>
    <p:extLst>
      <p:ext uri="{BB962C8B-B14F-4D97-AF65-F5344CB8AC3E}">
        <p14:creationId xmlns:p14="http://schemas.microsoft.com/office/powerpoint/2010/main" val="3372173962"/>
      </p:ext>
    </p:extLst>
  </p:cSld>
  <p:clrMapOvr>
    <a:masterClrMapping/>
  </p:clrMapOvr>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DD581-1520-4484-BF12-82F30C4B05C9}"/>
              </a:ext>
            </a:extLst>
          </p:cNvPr>
          <p:cNvSpPr>
            <a:spLocks noGrp="1"/>
          </p:cNvSpPr>
          <p:nvPr>
            <p:ph type="title"/>
          </p:nvPr>
        </p:nvSpPr>
        <p:spPr/>
        <p:txBody>
          <a:bodyPr/>
          <a:lstStyle/>
          <a:p>
            <a:r>
              <a:rPr lang="en-IE"/>
              <a:t>What is an Object?</a:t>
            </a:r>
          </a:p>
        </p:txBody>
      </p:sp>
      <p:sp>
        <p:nvSpPr>
          <p:cNvPr id="3" name="Content Placeholder 2">
            <a:extLst>
              <a:ext uri="{FF2B5EF4-FFF2-40B4-BE49-F238E27FC236}">
                <a16:creationId xmlns:a16="http://schemas.microsoft.com/office/drawing/2014/main" id="{DFB23B76-405D-4F74-929B-39026BDD74F9}"/>
              </a:ext>
            </a:extLst>
          </p:cNvPr>
          <p:cNvSpPr>
            <a:spLocks noGrp="1"/>
          </p:cNvSpPr>
          <p:nvPr>
            <p:ph idx="1"/>
          </p:nvPr>
        </p:nvSpPr>
        <p:spPr/>
        <p:txBody>
          <a:bodyPr>
            <a:normAutofit/>
          </a:bodyPr>
          <a:lstStyle/>
          <a:p>
            <a:r>
              <a:rPr lang="en-US" altLang="en-US" i="1"/>
              <a:t>“An object is an instance of a class”</a:t>
            </a:r>
          </a:p>
          <a:p>
            <a:endParaRPr lang="en-US" altLang="en-US" i="1"/>
          </a:p>
          <a:p>
            <a:r>
              <a:rPr lang="en-US" altLang="en-US"/>
              <a:t>“Instance” or “instantiated” means a built or constructed version of what is set out in the plan (class)</a:t>
            </a:r>
          </a:p>
          <a:p>
            <a:endParaRPr lang="en-US" altLang="en-US" i="1"/>
          </a:p>
          <a:p>
            <a:r>
              <a:rPr lang="en-US" altLang="en-US"/>
              <a:t>Car companies follow a template (class) for how their car is designed. </a:t>
            </a:r>
          </a:p>
          <a:p>
            <a:endParaRPr lang="en-US" altLang="en-US"/>
          </a:p>
          <a:p>
            <a:r>
              <a:rPr lang="en-US" altLang="en-US"/>
              <a:t>Each car (Object) is an instance of that template….</a:t>
            </a:r>
          </a:p>
          <a:p>
            <a:endParaRPr lang="en-US" altLang="en-US"/>
          </a:p>
          <a:p>
            <a:endParaRPr lang="en-US" altLang="en-US"/>
          </a:p>
          <a:p>
            <a:pPr marL="0" indent="0">
              <a:buNone/>
            </a:pPr>
            <a:endParaRPr lang="en-US" altLang="en-US" i="1"/>
          </a:p>
          <a:p>
            <a:endParaRPr lang="en-US" altLang="en-US" i="1"/>
          </a:p>
          <a:p>
            <a:endParaRPr lang="en-IE"/>
          </a:p>
        </p:txBody>
      </p:sp>
    </p:spTree>
    <p:extLst>
      <p:ext uri="{BB962C8B-B14F-4D97-AF65-F5344CB8AC3E}">
        <p14:creationId xmlns:p14="http://schemas.microsoft.com/office/powerpoint/2010/main" val="1465505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96C72-2104-46CF-ABE4-BCB61F395D29}"/>
              </a:ext>
            </a:extLst>
          </p:cNvPr>
          <p:cNvSpPr>
            <a:spLocks noGrp="1"/>
          </p:cNvSpPr>
          <p:nvPr>
            <p:ph type="title"/>
          </p:nvPr>
        </p:nvSpPr>
        <p:spPr/>
        <p:txBody>
          <a:bodyPr/>
          <a:lstStyle/>
          <a:p>
            <a:r>
              <a:rPr lang="en-IE"/>
              <a:t>What is an Object?</a:t>
            </a:r>
          </a:p>
        </p:txBody>
      </p:sp>
      <p:sp>
        <p:nvSpPr>
          <p:cNvPr id="3" name="Content Placeholder 2">
            <a:extLst>
              <a:ext uri="{FF2B5EF4-FFF2-40B4-BE49-F238E27FC236}">
                <a16:creationId xmlns:a16="http://schemas.microsoft.com/office/drawing/2014/main" id="{565C018E-FF5C-47B3-8A5B-325AAF6A8691}"/>
              </a:ext>
            </a:extLst>
          </p:cNvPr>
          <p:cNvSpPr>
            <a:spLocks noGrp="1"/>
          </p:cNvSpPr>
          <p:nvPr>
            <p:ph idx="1"/>
          </p:nvPr>
        </p:nvSpPr>
        <p:spPr/>
        <p:txBody>
          <a:bodyPr/>
          <a:lstStyle/>
          <a:p>
            <a:pPr>
              <a:buFontTx/>
              <a:buChar char="•"/>
            </a:pPr>
            <a:r>
              <a:rPr lang="en-US" altLang="en-US"/>
              <a:t>Looking at an object from more of a programming point of view we can alter the definition as follows:</a:t>
            </a:r>
          </a:p>
          <a:p>
            <a:r>
              <a:rPr lang="en-US" altLang="en-US" i="1"/>
              <a:t>“An object is an instance of a class with a group of attributes and related methods”</a:t>
            </a:r>
          </a:p>
          <a:p>
            <a:endParaRPr lang="en-IE"/>
          </a:p>
          <a:p>
            <a:r>
              <a:rPr lang="en-IE"/>
              <a:t>You can only use the previous class to build a Car object. Obviously, it cannot be used for motorcycles/bicycles/ etc.</a:t>
            </a:r>
          </a:p>
        </p:txBody>
      </p:sp>
    </p:spTree>
    <p:extLst>
      <p:ext uri="{BB962C8B-B14F-4D97-AF65-F5344CB8AC3E}">
        <p14:creationId xmlns:p14="http://schemas.microsoft.com/office/powerpoint/2010/main" val="33583222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04F48-102F-4EC3-AF30-B5537F413FAD}"/>
              </a:ext>
            </a:extLst>
          </p:cNvPr>
          <p:cNvSpPr>
            <a:spLocks noGrp="1"/>
          </p:cNvSpPr>
          <p:nvPr>
            <p:ph type="title"/>
          </p:nvPr>
        </p:nvSpPr>
        <p:spPr/>
        <p:txBody>
          <a:bodyPr/>
          <a:lstStyle/>
          <a:p>
            <a:r>
              <a:rPr lang="en-IE"/>
              <a:t>What is an Object?</a:t>
            </a:r>
          </a:p>
        </p:txBody>
      </p:sp>
      <p:sp>
        <p:nvSpPr>
          <p:cNvPr id="3" name="Content Placeholder 2">
            <a:extLst>
              <a:ext uri="{FF2B5EF4-FFF2-40B4-BE49-F238E27FC236}">
                <a16:creationId xmlns:a16="http://schemas.microsoft.com/office/drawing/2014/main" id="{09024C49-95FF-42C8-AD5F-0A82988C281D}"/>
              </a:ext>
            </a:extLst>
          </p:cNvPr>
          <p:cNvSpPr>
            <a:spLocks noGrp="1"/>
          </p:cNvSpPr>
          <p:nvPr>
            <p:ph idx="1"/>
          </p:nvPr>
        </p:nvSpPr>
        <p:spPr/>
        <p:txBody>
          <a:bodyPr/>
          <a:lstStyle/>
          <a:p>
            <a:r>
              <a:rPr lang="en-IE"/>
              <a:t>From before:</a:t>
            </a:r>
          </a:p>
          <a:p>
            <a:pPr lvl="1"/>
            <a:r>
              <a:rPr lang="en-US" altLang="en-US" i="1"/>
              <a:t>“An object is an instance of a class with a group of attributes and related methods”</a:t>
            </a:r>
          </a:p>
          <a:p>
            <a:pPr>
              <a:buFontTx/>
              <a:buChar char="•"/>
            </a:pPr>
            <a:r>
              <a:rPr lang="en-US" altLang="en-US"/>
              <a:t>So there are 2 parts to an object</a:t>
            </a:r>
          </a:p>
          <a:p>
            <a:pPr lvl="1"/>
            <a:r>
              <a:rPr lang="en-US" altLang="en-US"/>
              <a:t>- the data the object stores</a:t>
            </a:r>
          </a:p>
          <a:p>
            <a:pPr lvl="1"/>
            <a:r>
              <a:rPr lang="en-US" altLang="en-US"/>
              <a:t>- the methods the object has</a:t>
            </a:r>
          </a:p>
          <a:p>
            <a:endParaRPr lang="en-IE"/>
          </a:p>
          <a:p>
            <a:r>
              <a:rPr lang="en-IE"/>
              <a:t>Using our previous car example…</a:t>
            </a:r>
          </a:p>
        </p:txBody>
      </p:sp>
    </p:spTree>
    <p:extLst>
      <p:ext uri="{BB962C8B-B14F-4D97-AF65-F5344CB8AC3E}">
        <p14:creationId xmlns:p14="http://schemas.microsoft.com/office/powerpoint/2010/main" val="35562565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002B4-54B0-4416-A262-5BC434C56B12}"/>
              </a:ext>
            </a:extLst>
          </p:cNvPr>
          <p:cNvSpPr>
            <a:spLocks noGrp="1"/>
          </p:cNvSpPr>
          <p:nvPr>
            <p:ph type="title"/>
          </p:nvPr>
        </p:nvSpPr>
        <p:spPr/>
        <p:txBody>
          <a:bodyPr/>
          <a:lstStyle/>
          <a:p>
            <a:r>
              <a:rPr lang="en-IE"/>
              <a:t>Data the object stores: </a:t>
            </a:r>
          </a:p>
        </p:txBody>
      </p:sp>
      <p:sp>
        <p:nvSpPr>
          <p:cNvPr id="3" name="Content Placeholder 2">
            <a:extLst>
              <a:ext uri="{FF2B5EF4-FFF2-40B4-BE49-F238E27FC236}">
                <a16:creationId xmlns:a16="http://schemas.microsoft.com/office/drawing/2014/main" id="{61270038-C128-46AE-BEAA-2F3058AEE0CE}"/>
              </a:ext>
            </a:extLst>
          </p:cNvPr>
          <p:cNvSpPr>
            <a:spLocks noGrp="1"/>
          </p:cNvSpPr>
          <p:nvPr>
            <p:ph idx="1"/>
          </p:nvPr>
        </p:nvSpPr>
        <p:spPr/>
        <p:txBody>
          <a:bodyPr vert="horz" lIns="91440" tIns="45720" rIns="91440" bIns="45720" rtlCol="0" anchor="t">
            <a:normAutofit/>
          </a:bodyPr>
          <a:lstStyle/>
          <a:p>
            <a:r>
              <a:rPr lang="en-IE"/>
              <a:t>Type of </a:t>
            </a:r>
            <a:r>
              <a:rPr lang="en-IE" u="sng"/>
              <a:t>Body</a:t>
            </a:r>
            <a:r>
              <a:rPr lang="en-IE"/>
              <a:t> the car has</a:t>
            </a:r>
          </a:p>
          <a:p>
            <a:r>
              <a:rPr lang="en-IE"/>
              <a:t>Number of </a:t>
            </a:r>
            <a:r>
              <a:rPr lang="en-IE" u="sng"/>
              <a:t>Doors</a:t>
            </a:r>
            <a:r>
              <a:rPr lang="en-IE"/>
              <a:t> the car has</a:t>
            </a:r>
            <a:endParaRPr lang="en-IE">
              <a:cs typeface="Calibri"/>
            </a:endParaRPr>
          </a:p>
          <a:p>
            <a:r>
              <a:rPr lang="en-IE" u="sng">
                <a:cs typeface="Calibri"/>
              </a:rPr>
              <a:t>Transmission</a:t>
            </a:r>
            <a:r>
              <a:rPr lang="en-IE">
                <a:cs typeface="Calibri"/>
              </a:rPr>
              <a:t> type</a:t>
            </a:r>
            <a:endParaRPr lang="en-IE"/>
          </a:p>
          <a:p>
            <a:endParaRPr lang="en-IE">
              <a:cs typeface="Calibri"/>
            </a:endParaRPr>
          </a:p>
          <a:p>
            <a:endParaRPr lang="en-IE"/>
          </a:p>
          <a:p>
            <a:r>
              <a:rPr lang="en-IE"/>
              <a:t>We can think of this like a database – each of these </a:t>
            </a:r>
            <a:r>
              <a:rPr lang="en-IE" u="sng"/>
              <a:t>attributes</a:t>
            </a:r>
            <a:r>
              <a:rPr lang="en-IE"/>
              <a:t> are a column in the database.</a:t>
            </a:r>
          </a:p>
          <a:p>
            <a:pPr marL="0" indent="0">
              <a:buNone/>
            </a:pPr>
            <a:endParaRPr lang="en-IE" sz="1800"/>
          </a:p>
        </p:txBody>
      </p:sp>
    </p:spTree>
    <p:extLst>
      <p:ext uri="{BB962C8B-B14F-4D97-AF65-F5344CB8AC3E}">
        <p14:creationId xmlns:p14="http://schemas.microsoft.com/office/powerpoint/2010/main" val="16173223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1B895-213D-4E26-A6FF-5AF930CBB1A7}"/>
              </a:ext>
            </a:extLst>
          </p:cNvPr>
          <p:cNvSpPr>
            <a:spLocks noGrp="1"/>
          </p:cNvSpPr>
          <p:nvPr>
            <p:ph type="title"/>
          </p:nvPr>
        </p:nvSpPr>
        <p:spPr/>
        <p:txBody>
          <a:bodyPr/>
          <a:lstStyle/>
          <a:p>
            <a:r>
              <a:rPr lang="en-IE"/>
              <a:t>Our Car Objects as rows in a Database….</a:t>
            </a:r>
          </a:p>
        </p:txBody>
      </p:sp>
      <p:graphicFrame>
        <p:nvGraphicFramePr>
          <p:cNvPr id="4" name="Content Placeholder 3">
            <a:extLst>
              <a:ext uri="{FF2B5EF4-FFF2-40B4-BE49-F238E27FC236}">
                <a16:creationId xmlns:a16="http://schemas.microsoft.com/office/drawing/2014/main" id="{E2B5F895-8F16-4590-9930-BC6F57266DA6}"/>
              </a:ext>
            </a:extLst>
          </p:cNvPr>
          <p:cNvGraphicFramePr>
            <a:graphicFrameLocks noGrp="1"/>
          </p:cNvGraphicFramePr>
          <p:nvPr>
            <p:ph idx="1"/>
            <p:extLst>
              <p:ext uri="{D42A27DB-BD31-4B8C-83A1-F6EECF244321}">
                <p14:modId xmlns:p14="http://schemas.microsoft.com/office/powerpoint/2010/main" val="2604514426"/>
              </p:ext>
            </p:extLst>
          </p:nvPr>
        </p:nvGraphicFramePr>
        <p:xfrm>
          <a:off x="3088341" y="1870448"/>
          <a:ext cx="5007965" cy="1569314"/>
        </p:xfrm>
        <a:graphic>
          <a:graphicData uri="http://schemas.openxmlformats.org/drawingml/2006/table">
            <a:tbl>
              <a:tblPr firstRow="1" bandRow="1">
                <a:tableStyleId>{5C22544A-7EE6-4342-B048-85BDC9FD1C3A}</a:tableStyleId>
              </a:tblPr>
              <a:tblGrid>
                <a:gridCol w="1500266">
                  <a:extLst>
                    <a:ext uri="{9D8B030D-6E8A-4147-A177-3AD203B41FA5}">
                      <a16:colId xmlns:a16="http://schemas.microsoft.com/office/drawing/2014/main" val="1345361666"/>
                    </a:ext>
                  </a:extLst>
                </a:gridCol>
                <a:gridCol w="1663909">
                  <a:extLst>
                    <a:ext uri="{9D8B030D-6E8A-4147-A177-3AD203B41FA5}">
                      <a16:colId xmlns:a16="http://schemas.microsoft.com/office/drawing/2014/main" val="1594158746"/>
                    </a:ext>
                  </a:extLst>
                </a:gridCol>
                <a:gridCol w="1843790">
                  <a:extLst>
                    <a:ext uri="{9D8B030D-6E8A-4147-A177-3AD203B41FA5}">
                      <a16:colId xmlns:a16="http://schemas.microsoft.com/office/drawing/2014/main" val="3403819849"/>
                    </a:ext>
                  </a:extLst>
                </a:gridCol>
              </a:tblGrid>
              <a:tr h="370840">
                <a:tc>
                  <a:txBody>
                    <a:bodyPr/>
                    <a:lstStyle/>
                    <a:p>
                      <a:r>
                        <a:rPr lang="en-IE"/>
                        <a:t>Body</a:t>
                      </a:r>
                    </a:p>
                  </a:txBody>
                  <a:tcPr/>
                </a:tc>
                <a:tc>
                  <a:txBody>
                    <a:bodyPr/>
                    <a:lstStyle/>
                    <a:p>
                      <a:r>
                        <a:rPr lang="en-IE"/>
                        <a:t>Doors</a:t>
                      </a:r>
                    </a:p>
                  </a:txBody>
                  <a:tcPr/>
                </a:tc>
                <a:tc>
                  <a:txBody>
                    <a:bodyPr/>
                    <a:lstStyle/>
                    <a:p>
                      <a:r>
                        <a:rPr lang="en-IE"/>
                        <a:t>Transmission </a:t>
                      </a:r>
                    </a:p>
                  </a:txBody>
                  <a:tcPr/>
                </a:tc>
                <a:extLst>
                  <a:ext uri="{0D108BD9-81ED-4DB2-BD59-A6C34878D82A}">
                    <a16:rowId xmlns:a16="http://schemas.microsoft.com/office/drawing/2014/main" val="349295784"/>
                  </a:ext>
                </a:extLst>
              </a:tr>
              <a:tr h="456794">
                <a:tc>
                  <a:txBody>
                    <a:bodyPr/>
                    <a:lstStyle/>
                    <a:p>
                      <a:r>
                        <a:rPr lang="en-IE"/>
                        <a:t>Hatchback</a:t>
                      </a:r>
                    </a:p>
                  </a:txBody>
                  <a:tcPr/>
                </a:tc>
                <a:tc>
                  <a:txBody>
                    <a:bodyPr/>
                    <a:lstStyle/>
                    <a:p>
                      <a:r>
                        <a:rPr lang="en-IE"/>
                        <a:t>3</a:t>
                      </a:r>
                    </a:p>
                  </a:txBody>
                  <a:tcPr/>
                </a:tc>
                <a:tc>
                  <a:txBody>
                    <a:bodyPr/>
                    <a:lstStyle/>
                    <a:p>
                      <a:r>
                        <a:rPr lang="en-IE"/>
                        <a:t>Manual</a:t>
                      </a:r>
                    </a:p>
                  </a:txBody>
                  <a:tcPr/>
                </a:tc>
                <a:extLst>
                  <a:ext uri="{0D108BD9-81ED-4DB2-BD59-A6C34878D82A}">
                    <a16:rowId xmlns:a16="http://schemas.microsoft.com/office/drawing/2014/main" val="2117252222"/>
                  </a:ext>
                </a:extLst>
              </a:tr>
              <a:tr h="370840">
                <a:tc>
                  <a:txBody>
                    <a:bodyPr/>
                    <a:lstStyle/>
                    <a:p>
                      <a:r>
                        <a:rPr lang="en-IE"/>
                        <a:t>Saloon</a:t>
                      </a:r>
                    </a:p>
                  </a:txBody>
                  <a:tcPr/>
                </a:tc>
                <a:tc>
                  <a:txBody>
                    <a:bodyPr/>
                    <a:lstStyle/>
                    <a:p>
                      <a:r>
                        <a:rPr lang="en-IE"/>
                        <a:t>5</a:t>
                      </a:r>
                    </a:p>
                  </a:txBody>
                  <a:tcPr/>
                </a:tc>
                <a:tc>
                  <a:txBody>
                    <a:bodyPr/>
                    <a:lstStyle/>
                    <a:p>
                      <a:r>
                        <a:rPr lang="en-IE"/>
                        <a:t>Manual</a:t>
                      </a:r>
                    </a:p>
                  </a:txBody>
                  <a:tcPr/>
                </a:tc>
                <a:extLst>
                  <a:ext uri="{0D108BD9-81ED-4DB2-BD59-A6C34878D82A}">
                    <a16:rowId xmlns:a16="http://schemas.microsoft.com/office/drawing/2014/main" val="39602743"/>
                  </a:ext>
                </a:extLst>
              </a:tr>
              <a:tr h="370840">
                <a:tc>
                  <a:txBody>
                    <a:bodyPr/>
                    <a:lstStyle/>
                    <a:p>
                      <a:r>
                        <a:rPr lang="en-IE"/>
                        <a:t>Hatchback</a:t>
                      </a:r>
                    </a:p>
                  </a:txBody>
                  <a:tcPr/>
                </a:tc>
                <a:tc>
                  <a:txBody>
                    <a:bodyPr/>
                    <a:lstStyle/>
                    <a:p>
                      <a:r>
                        <a:rPr lang="en-IE"/>
                        <a:t>5</a:t>
                      </a:r>
                    </a:p>
                  </a:txBody>
                  <a:tcPr/>
                </a:tc>
                <a:tc>
                  <a:txBody>
                    <a:bodyPr/>
                    <a:lstStyle/>
                    <a:p>
                      <a:r>
                        <a:rPr lang="en-IE"/>
                        <a:t>Manual</a:t>
                      </a:r>
                    </a:p>
                  </a:txBody>
                  <a:tcPr/>
                </a:tc>
                <a:extLst>
                  <a:ext uri="{0D108BD9-81ED-4DB2-BD59-A6C34878D82A}">
                    <a16:rowId xmlns:a16="http://schemas.microsoft.com/office/drawing/2014/main" val="699631166"/>
                  </a:ext>
                </a:extLst>
              </a:tr>
            </a:tbl>
          </a:graphicData>
        </a:graphic>
      </p:graphicFrame>
      <p:sp>
        <p:nvSpPr>
          <p:cNvPr id="5" name="TextBox 4">
            <a:extLst>
              <a:ext uri="{FF2B5EF4-FFF2-40B4-BE49-F238E27FC236}">
                <a16:creationId xmlns:a16="http://schemas.microsoft.com/office/drawing/2014/main" id="{5A990BEB-0C5E-4D71-B648-66914EF79F22}"/>
              </a:ext>
            </a:extLst>
          </p:cNvPr>
          <p:cNvSpPr txBox="1"/>
          <p:nvPr/>
        </p:nvSpPr>
        <p:spPr>
          <a:xfrm>
            <a:off x="284815" y="3717561"/>
            <a:ext cx="11437494" cy="2246769"/>
          </a:xfrm>
          <a:prstGeom prst="rect">
            <a:avLst/>
          </a:prstGeom>
          <a:noFill/>
        </p:spPr>
        <p:txBody>
          <a:bodyPr wrap="square" rtlCol="0">
            <a:spAutoFit/>
          </a:bodyPr>
          <a:lstStyle/>
          <a:p>
            <a:pPr marL="457200" indent="-457200">
              <a:buFont typeface="Arial" panose="020B0604020202020204" pitchFamily="34" charset="0"/>
              <a:buChar char="•"/>
            </a:pPr>
            <a:r>
              <a:rPr lang="en-IE" sz="2800"/>
              <a:t>Each Column header shows our attributes – data that must be stored for each object</a:t>
            </a:r>
          </a:p>
          <a:p>
            <a:pPr marL="457200" indent="-457200">
              <a:buFont typeface="Arial" panose="020B0604020202020204" pitchFamily="34" charset="0"/>
              <a:buChar char="•"/>
            </a:pPr>
            <a:r>
              <a:rPr lang="en-IE" sz="2800"/>
              <a:t>Each Row is an Object, a Car that has been created (a real thing!)</a:t>
            </a:r>
          </a:p>
          <a:p>
            <a:pPr marL="457200" indent="-457200">
              <a:buFont typeface="Arial" panose="020B0604020202020204" pitchFamily="34" charset="0"/>
              <a:buChar char="•"/>
            </a:pPr>
            <a:r>
              <a:rPr lang="en-IE" sz="2800"/>
              <a:t>When we create a database table OR a class, we are specifying that our Rows/Objects have this data.</a:t>
            </a:r>
          </a:p>
        </p:txBody>
      </p:sp>
    </p:spTree>
    <p:extLst>
      <p:ext uri="{BB962C8B-B14F-4D97-AF65-F5344CB8AC3E}">
        <p14:creationId xmlns:p14="http://schemas.microsoft.com/office/powerpoint/2010/main" val="30654291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2A058-24A6-4F97-8A9F-32C64764D53B}"/>
              </a:ext>
            </a:extLst>
          </p:cNvPr>
          <p:cNvSpPr>
            <a:spLocks noGrp="1"/>
          </p:cNvSpPr>
          <p:nvPr>
            <p:ph type="title"/>
          </p:nvPr>
        </p:nvSpPr>
        <p:spPr/>
        <p:txBody>
          <a:bodyPr/>
          <a:lstStyle/>
          <a:p>
            <a:r>
              <a:rPr lang="en-IE"/>
              <a:t>Person Class</a:t>
            </a:r>
          </a:p>
        </p:txBody>
      </p:sp>
      <p:sp>
        <p:nvSpPr>
          <p:cNvPr id="5" name="TextBox 4">
            <a:extLst>
              <a:ext uri="{FF2B5EF4-FFF2-40B4-BE49-F238E27FC236}">
                <a16:creationId xmlns:a16="http://schemas.microsoft.com/office/drawing/2014/main" id="{641E95D2-D0EE-4D2F-93E6-1104540783C4}"/>
              </a:ext>
            </a:extLst>
          </p:cNvPr>
          <p:cNvSpPr txBox="1"/>
          <p:nvPr/>
        </p:nvSpPr>
        <p:spPr>
          <a:xfrm>
            <a:off x="6850505" y="2173615"/>
            <a:ext cx="4706911" cy="2677656"/>
          </a:xfrm>
          <a:prstGeom prst="rect">
            <a:avLst/>
          </a:prstGeom>
          <a:noFill/>
        </p:spPr>
        <p:txBody>
          <a:bodyPr wrap="square" rtlCol="0">
            <a:spAutoFit/>
          </a:bodyPr>
          <a:lstStyle/>
          <a:p>
            <a:pPr marL="285750" indent="-285750">
              <a:buFont typeface="Arial" panose="020B0604020202020204" pitchFamily="34" charset="0"/>
              <a:buChar char="•"/>
            </a:pPr>
            <a:r>
              <a:rPr lang="en-IE" sz="2800"/>
              <a:t>This code creates a Person class. </a:t>
            </a:r>
          </a:p>
          <a:p>
            <a:pPr marL="285750" indent="-285750">
              <a:buFont typeface="Arial" panose="020B0604020202020204" pitchFamily="34" charset="0"/>
              <a:buChar char="•"/>
            </a:pPr>
            <a:r>
              <a:rPr lang="en-IE" sz="2800"/>
              <a:t>It contains the template for creating every person – they all have a name, a phone number, and an address…</a:t>
            </a:r>
          </a:p>
        </p:txBody>
      </p:sp>
      <p:pic>
        <p:nvPicPr>
          <p:cNvPr id="9" name="Picture 8">
            <a:extLst>
              <a:ext uri="{FF2B5EF4-FFF2-40B4-BE49-F238E27FC236}">
                <a16:creationId xmlns:a16="http://schemas.microsoft.com/office/drawing/2014/main" id="{6DBB58F7-3AFD-4F38-B309-02A0C9778844}"/>
              </a:ext>
            </a:extLst>
          </p:cNvPr>
          <p:cNvPicPr>
            <a:picLocks noChangeAspect="1"/>
          </p:cNvPicPr>
          <p:nvPr/>
        </p:nvPicPr>
        <p:blipFill>
          <a:blip r:embed="rId2"/>
          <a:stretch>
            <a:fillRect/>
          </a:stretch>
        </p:blipFill>
        <p:spPr>
          <a:xfrm>
            <a:off x="505527" y="2173615"/>
            <a:ext cx="5009063" cy="2677656"/>
          </a:xfrm>
          <a:prstGeom prst="rect">
            <a:avLst/>
          </a:prstGeom>
        </p:spPr>
      </p:pic>
    </p:spTree>
    <p:extLst>
      <p:ext uri="{BB962C8B-B14F-4D97-AF65-F5344CB8AC3E}">
        <p14:creationId xmlns:p14="http://schemas.microsoft.com/office/powerpoint/2010/main" val="25093982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E2F2F-B27F-41AF-A29B-E8C563C07904}"/>
              </a:ext>
            </a:extLst>
          </p:cNvPr>
          <p:cNvSpPr>
            <a:spLocks noGrp="1"/>
          </p:cNvSpPr>
          <p:nvPr>
            <p:ph type="title"/>
          </p:nvPr>
        </p:nvSpPr>
        <p:spPr/>
        <p:txBody>
          <a:bodyPr/>
          <a:lstStyle/>
          <a:p>
            <a:r>
              <a:rPr lang="en-IE"/>
              <a:t>Visibility of methods</a:t>
            </a:r>
          </a:p>
        </p:txBody>
      </p:sp>
      <p:graphicFrame>
        <p:nvGraphicFramePr>
          <p:cNvPr id="4" name="Content Placeholder 3">
            <a:extLst>
              <a:ext uri="{FF2B5EF4-FFF2-40B4-BE49-F238E27FC236}">
                <a16:creationId xmlns:a16="http://schemas.microsoft.com/office/drawing/2014/main" id="{1B7DE43A-CBAB-4BB2-AF19-615D5DA03D48}"/>
              </a:ext>
            </a:extLst>
          </p:cNvPr>
          <p:cNvGraphicFramePr>
            <a:graphicFrameLocks noGrp="1"/>
          </p:cNvGraphicFramePr>
          <p:nvPr>
            <p:ph idx="1"/>
            <p:extLst>
              <p:ext uri="{D42A27DB-BD31-4B8C-83A1-F6EECF244321}">
                <p14:modId xmlns:p14="http://schemas.microsoft.com/office/powerpoint/2010/main" val="720460517"/>
              </p:ext>
            </p:extLst>
          </p:nvPr>
        </p:nvGraphicFramePr>
        <p:xfrm>
          <a:off x="838200" y="1825625"/>
          <a:ext cx="10515600" cy="212344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3837167679"/>
                    </a:ext>
                  </a:extLst>
                </a:gridCol>
                <a:gridCol w="2103120">
                  <a:extLst>
                    <a:ext uri="{9D8B030D-6E8A-4147-A177-3AD203B41FA5}">
                      <a16:colId xmlns:a16="http://schemas.microsoft.com/office/drawing/2014/main" val="3239769676"/>
                    </a:ext>
                  </a:extLst>
                </a:gridCol>
                <a:gridCol w="2103120">
                  <a:extLst>
                    <a:ext uri="{9D8B030D-6E8A-4147-A177-3AD203B41FA5}">
                      <a16:colId xmlns:a16="http://schemas.microsoft.com/office/drawing/2014/main" val="2350022637"/>
                    </a:ext>
                  </a:extLst>
                </a:gridCol>
                <a:gridCol w="2103120">
                  <a:extLst>
                    <a:ext uri="{9D8B030D-6E8A-4147-A177-3AD203B41FA5}">
                      <a16:colId xmlns:a16="http://schemas.microsoft.com/office/drawing/2014/main" val="1288070868"/>
                    </a:ext>
                  </a:extLst>
                </a:gridCol>
                <a:gridCol w="2103120">
                  <a:extLst>
                    <a:ext uri="{9D8B030D-6E8A-4147-A177-3AD203B41FA5}">
                      <a16:colId xmlns:a16="http://schemas.microsoft.com/office/drawing/2014/main" val="3850273653"/>
                    </a:ext>
                  </a:extLst>
                </a:gridCol>
              </a:tblGrid>
              <a:tr h="370840">
                <a:tc>
                  <a:txBody>
                    <a:bodyPr/>
                    <a:lstStyle/>
                    <a:p>
                      <a:r>
                        <a:rPr lang="en-IE"/>
                        <a:t>Visibility</a:t>
                      </a:r>
                    </a:p>
                  </a:txBody>
                  <a:tcPr/>
                </a:tc>
                <a:tc>
                  <a:txBody>
                    <a:bodyPr/>
                    <a:lstStyle/>
                    <a:p>
                      <a:r>
                        <a:rPr lang="en-IE"/>
                        <a:t>Class</a:t>
                      </a:r>
                    </a:p>
                  </a:txBody>
                  <a:tcPr/>
                </a:tc>
                <a:tc>
                  <a:txBody>
                    <a:bodyPr/>
                    <a:lstStyle/>
                    <a:p>
                      <a:r>
                        <a:rPr lang="en-IE"/>
                        <a:t>Package</a:t>
                      </a:r>
                    </a:p>
                  </a:txBody>
                  <a:tcPr/>
                </a:tc>
                <a:tc>
                  <a:txBody>
                    <a:bodyPr/>
                    <a:lstStyle/>
                    <a:p>
                      <a:r>
                        <a:rPr lang="en-IE"/>
                        <a:t>Subclass</a:t>
                      </a:r>
                    </a:p>
                  </a:txBody>
                  <a:tcPr/>
                </a:tc>
                <a:tc>
                  <a:txBody>
                    <a:bodyPr/>
                    <a:lstStyle/>
                    <a:p>
                      <a:r>
                        <a:rPr lang="en-IE"/>
                        <a:t>World</a:t>
                      </a:r>
                    </a:p>
                  </a:txBody>
                  <a:tcPr/>
                </a:tc>
                <a:extLst>
                  <a:ext uri="{0D108BD9-81ED-4DB2-BD59-A6C34878D82A}">
                    <a16:rowId xmlns:a16="http://schemas.microsoft.com/office/drawing/2014/main" val="1996487948"/>
                  </a:ext>
                </a:extLst>
              </a:tr>
              <a:tr h="370840">
                <a:tc>
                  <a:txBody>
                    <a:bodyPr/>
                    <a:lstStyle/>
                    <a:p>
                      <a:r>
                        <a:rPr lang="en-IE"/>
                        <a:t>Public</a:t>
                      </a:r>
                    </a:p>
                  </a:txBody>
                  <a:tcPr/>
                </a:tc>
                <a:tc>
                  <a:txBody>
                    <a:bodyPr/>
                    <a:lstStyle/>
                    <a:p>
                      <a:r>
                        <a:rPr lang="en-IE"/>
                        <a:t>Y</a:t>
                      </a:r>
                    </a:p>
                  </a:txBody>
                  <a:tcPr/>
                </a:tc>
                <a:tc>
                  <a:txBody>
                    <a:bodyPr/>
                    <a:lstStyle/>
                    <a:p>
                      <a:r>
                        <a:rPr lang="en-IE"/>
                        <a:t>Y</a:t>
                      </a:r>
                    </a:p>
                  </a:txBody>
                  <a:tcPr/>
                </a:tc>
                <a:tc>
                  <a:txBody>
                    <a:bodyPr/>
                    <a:lstStyle/>
                    <a:p>
                      <a:r>
                        <a:rPr lang="en-IE"/>
                        <a:t>Y</a:t>
                      </a:r>
                    </a:p>
                  </a:txBody>
                  <a:tcPr/>
                </a:tc>
                <a:tc>
                  <a:txBody>
                    <a:bodyPr/>
                    <a:lstStyle/>
                    <a:p>
                      <a:r>
                        <a:rPr lang="en-IE"/>
                        <a:t>Y</a:t>
                      </a:r>
                    </a:p>
                  </a:txBody>
                  <a:tcPr/>
                </a:tc>
                <a:extLst>
                  <a:ext uri="{0D108BD9-81ED-4DB2-BD59-A6C34878D82A}">
                    <a16:rowId xmlns:a16="http://schemas.microsoft.com/office/drawing/2014/main" val="979728618"/>
                  </a:ext>
                </a:extLst>
              </a:tr>
              <a:tr h="370840">
                <a:tc>
                  <a:txBody>
                    <a:bodyPr/>
                    <a:lstStyle/>
                    <a:p>
                      <a:r>
                        <a:rPr lang="en-IE"/>
                        <a:t>Protected</a:t>
                      </a:r>
                    </a:p>
                  </a:txBody>
                  <a:tcPr/>
                </a:tc>
                <a:tc>
                  <a:txBody>
                    <a:bodyPr/>
                    <a:lstStyle/>
                    <a:p>
                      <a:r>
                        <a:rPr lang="en-IE"/>
                        <a:t>Y</a:t>
                      </a:r>
                    </a:p>
                  </a:txBody>
                  <a:tcPr/>
                </a:tc>
                <a:tc>
                  <a:txBody>
                    <a:bodyPr/>
                    <a:lstStyle/>
                    <a:p>
                      <a:r>
                        <a:rPr lang="en-IE"/>
                        <a:t>Y</a:t>
                      </a:r>
                    </a:p>
                  </a:txBody>
                  <a:tcPr/>
                </a:tc>
                <a:tc>
                  <a:txBody>
                    <a:bodyPr/>
                    <a:lstStyle/>
                    <a:p>
                      <a:r>
                        <a:rPr lang="en-IE"/>
                        <a:t>Y</a:t>
                      </a:r>
                    </a:p>
                  </a:txBody>
                  <a:tcPr/>
                </a:tc>
                <a:tc>
                  <a:txBody>
                    <a:bodyPr/>
                    <a:lstStyle/>
                    <a:p>
                      <a:r>
                        <a:rPr lang="en-IE"/>
                        <a:t>N</a:t>
                      </a:r>
                    </a:p>
                  </a:txBody>
                  <a:tcPr/>
                </a:tc>
                <a:extLst>
                  <a:ext uri="{0D108BD9-81ED-4DB2-BD59-A6C34878D82A}">
                    <a16:rowId xmlns:a16="http://schemas.microsoft.com/office/drawing/2014/main" val="1769650697"/>
                  </a:ext>
                </a:extLst>
              </a:tr>
              <a:tr h="370840">
                <a:tc>
                  <a:txBody>
                    <a:bodyPr/>
                    <a:lstStyle/>
                    <a:p>
                      <a:r>
                        <a:rPr lang="en-IE"/>
                        <a:t>Package (no modifier)</a:t>
                      </a:r>
                    </a:p>
                  </a:txBody>
                  <a:tcPr/>
                </a:tc>
                <a:tc>
                  <a:txBody>
                    <a:bodyPr/>
                    <a:lstStyle/>
                    <a:p>
                      <a:r>
                        <a:rPr lang="en-IE"/>
                        <a:t>Y</a:t>
                      </a:r>
                    </a:p>
                  </a:txBody>
                  <a:tcPr/>
                </a:tc>
                <a:tc>
                  <a:txBody>
                    <a:bodyPr/>
                    <a:lstStyle/>
                    <a:p>
                      <a:r>
                        <a:rPr lang="en-IE"/>
                        <a:t>Y</a:t>
                      </a:r>
                    </a:p>
                  </a:txBody>
                  <a:tcPr/>
                </a:tc>
                <a:tc>
                  <a:txBody>
                    <a:bodyPr/>
                    <a:lstStyle/>
                    <a:p>
                      <a:r>
                        <a:rPr lang="en-IE"/>
                        <a:t>N</a:t>
                      </a:r>
                    </a:p>
                  </a:txBody>
                  <a:tcPr/>
                </a:tc>
                <a:tc>
                  <a:txBody>
                    <a:bodyPr/>
                    <a:lstStyle/>
                    <a:p>
                      <a:r>
                        <a:rPr lang="en-IE"/>
                        <a:t>N</a:t>
                      </a:r>
                    </a:p>
                  </a:txBody>
                  <a:tcPr/>
                </a:tc>
                <a:extLst>
                  <a:ext uri="{0D108BD9-81ED-4DB2-BD59-A6C34878D82A}">
                    <a16:rowId xmlns:a16="http://schemas.microsoft.com/office/drawing/2014/main" val="1389047784"/>
                  </a:ext>
                </a:extLst>
              </a:tr>
              <a:tr h="370840">
                <a:tc>
                  <a:txBody>
                    <a:bodyPr/>
                    <a:lstStyle/>
                    <a:p>
                      <a:r>
                        <a:rPr lang="en-IE"/>
                        <a:t>Private</a:t>
                      </a:r>
                    </a:p>
                  </a:txBody>
                  <a:tcPr/>
                </a:tc>
                <a:tc>
                  <a:txBody>
                    <a:bodyPr/>
                    <a:lstStyle/>
                    <a:p>
                      <a:r>
                        <a:rPr lang="en-IE"/>
                        <a:t>Y</a:t>
                      </a:r>
                    </a:p>
                  </a:txBody>
                  <a:tcPr/>
                </a:tc>
                <a:tc>
                  <a:txBody>
                    <a:bodyPr/>
                    <a:lstStyle/>
                    <a:p>
                      <a:r>
                        <a:rPr lang="en-IE"/>
                        <a:t>N</a:t>
                      </a:r>
                    </a:p>
                  </a:txBody>
                  <a:tcPr/>
                </a:tc>
                <a:tc>
                  <a:txBody>
                    <a:bodyPr/>
                    <a:lstStyle/>
                    <a:p>
                      <a:r>
                        <a:rPr lang="en-IE"/>
                        <a:t>N</a:t>
                      </a:r>
                    </a:p>
                  </a:txBody>
                  <a:tcPr/>
                </a:tc>
                <a:tc>
                  <a:txBody>
                    <a:bodyPr/>
                    <a:lstStyle/>
                    <a:p>
                      <a:r>
                        <a:rPr lang="en-IE"/>
                        <a:t>N</a:t>
                      </a:r>
                    </a:p>
                  </a:txBody>
                  <a:tcPr/>
                </a:tc>
                <a:extLst>
                  <a:ext uri="{0D108BD9-81ED-4DB2-BD59-A6C34878D82A}">
                    <a16:rowId xmlns:a16="http://schemas.microsoft.com/office/drawing/2014/main" val="4178151678"/>
                  </a:ext>
                </a:extLst>
              </a:tr>
            </a:tbl>
          </a:graphicData>
        </a:graphic>
      </p:graphicFrame>
      <p:sp>
        <p:nvSpPr>
          <p:cNvPr id="5" name="TextBox 4">
            <a:extLst>
              <a:ext uri="{FF2B5EF4-FFF2-40B4-BE49-F238E27FC236}">
                <a16:creationId xmlns:a16="http://schemas.microsoft.com/office/drawing/2014/main" id="{F2D26140-1E44-4B35-BBA3-E47FD1B420CC}"/>
              </a:ext>
            </a:extLst>
          </p:cNvPr>
          <p:cNvSpPr txBox="1"/>
          <p:nvPr/>
        </p:nvSpPr>
        <p:spPr>
          <a:xfrm>
            <a:off x="838200" y="4272197"/>
            <a:ext cx="10644266" cy="369332"/>
          </a:xfrm>
          <a:prstGeom prst="rect">
            <a:avLst/>
          </a:prstGeom>
          <a:noFill/>
        </p:spPr>
        <p:txBody>
          <a:bodyPr wrap="square" rtlCol="0">
            <a:spAutoFit/>
          </a:bodyPr>
          <a:lstStyle/>
          <a:p>
            <a:r>
              <a:rPr lang="en-IE"/>
              <a:t>Detailed example of this will be shown later</a:t>
            </a:r>
          </a:p>
        </p:txBody>
      </p:sp>
    </p:spTree>
    <p:extLst>
      <p:ext uri="{BB962C8B-B14F-4D97-AF65-F5344CB8AC3E}">
        <p14:creationId xmlns:p14="http://schemas.microsoft.com/office/powerpoint/2010/main" val="11870308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CC912-A9AC-46B2-942C-E50627F80A96}"/>
              </a:ext>
            </a:extLst>
          </p:cNvPr>
          <p:cNvSpPr>
            <a:spLocks noGrp="1"/>
          </p:cNvSpPr>
          <p:nvPr>
            <p:ph type="title"/>
          </p:nvPr>
        </p:nvSpPr>
        <p:spPr/>
        <p:txBody>
          <a:bodyPr/>
          <a:lstStyle/>
          <a:p>
            <a:r>
              <a:rPr lang="en-IE"/>
              <a:t>Methods</a:t>
            </a:r>
          </a:p>
        </p:txBody>
      </p:sp>
      <p:sp>
        <p:nvSpPr>
          <p:cNvPr id="6" name="Content Placeholder 5">
            <a:extLst>
              <a:ext uri="{FF2B5EF4-FFF2-40B4-BE49-F238E27FC236}">
                <a16:creationId xmlns:a16="http://schemas.microsoft.com/office/drawing/2014/main" id="{20399599-2CCD-4AED-8113-9FDF120F7C3D}"/>
              </a:ext>
            </a:extLst>
          </p:cNvPr>
          <p:cNvSpPr>
            <a:spLocks noGrp="1"/>
          </p:cNvSpPr>
          <p:nvPr>
            <p:ph idx="1"/>
          </p:nvPr>
        </p:nvSpPr>
        <p:spPr/>
        <p:txBody>
          <a:bodyPr/>
          <a:lstStyle/>
          <a:p>
            <a:endParaRPr lang="en-IE"/>
          </a:p>
          <a:p>
            <a:endParaRPr lang="en-IE"/>
          </a:p>
          <a:p>
            <a:endParaRPr lang="en-IE"/>
          </a:p>
          <a:p>
            <a:endParaRPr lang="en-IE"/>
          </a:p>
          <a:p>
            <a:endParaRPr lang="en-IE"/>
          </a:p>
        </p:txBody>
      </p:sp>
      <p:pic>
        <p:nvPicPr>
          <p:cNvPr id="7" name="Picture 6">
            <a:extLst>
              <a:ext uri="{FF2B5EF4-FFF2-40B4-BE49-F238E27FC236}">
                <a16:creationId xmlns:a16="http://schemas.microsoft.com/office/drawing/2014/main" id="{10B4A8DC-38DB-4F9A-92DB-30E2C12B92D0}"/>
              </a:ext>
            </a:extLst>
          </p:cNvPr>
          <p:cNvPicPr>
            <a:picLocks noChangeAspect="1"/>
          </p:cNvPicPr>
          <p:nvPr/>
        </p:nvPicPr>
        <p:blipFill>
          <a:blip r:embed="rId2"/>
          <a:stretch>
            <a:fillRect/>
          </a:stretch>
        </p:blipFill>
        <p:spPr>
          <a:xfrm>
            <a:off x="838200" y="1825625"/>
            <a:ext cx="9316909" cy="1603375"/>
          </a:xfrm>
          <a:prstGeom prst="rect">
            <a:avLst/>
          </a:prstGeom>
        </p:spPr>
      </p:pic>
      <p:pic>
        <p:nvPicPr>
          <p:cNvPr id="9" name="Picture 8">
            <a:extLst>
              <a:ext uri="{FF2B5EF4-FFF2-40B4-BE49-F238E27FC236}">
                <a16:creationId xmlns:a16="http://schemas.microsoft.com/office/drawing/2014/main" id="{F55AE07C-66E6-44AF-8F00-893AC872C8CE}"/>
              </a:ext>
            </a:extLst>
          </p:cNvPr>
          <p:cNvPicPr>
            <a:picLocks noChangeAspect="1"/>
          </p:cNvPicPr>
          <p:nvPr/>
        </p:nvPicPr>
        <p:blipFill>
          <a:blip r:embed="rId3"/>
          <a:stretch>
            <a:fillRect/>
          </a:stretch>
        </p:blipFill>
        <p:spPr>
          <a:xfrm>
            <a:off x="838200" y="4001294"/>
            <a:ext cx="5963477" cy="1397300"/>
          </a:xfrm>
          <a:prstGeom prst="rect">
            <a:avLst/>
          </a:prstGeom>
        </p:spPr>
      </p:pic>
      <p:sp>
        <p:nvSpPr>
          <p:cNvPr id="10" name="TextBox 9">
            <a:extLst>
              <a:ext uri="{FF2B5EF4-FFF2-40B4-BE49-F238E27FC236}">
                <a16:creationId xmlns:a16="http://schemas.microsoft.com/office/drawing/2014/main" id="{F175212E-D941-4183-8116-03D608416139}"/>
              </a:ext>
            </a:extLst>
          </p:cNvPr>
          <p:cNvSpPr txBox="1"/>
          <p:nvPr/>
        </p:nvSpPr>
        <p:spPr>
          <a:xfrm>
            <a:off x="7912138" y="2799556"/>
            <a:ext cx="3124189" cy="4062651"/>
          </a:xfrm>
          <a:prstGeom prst="rect">
            <a:avLst/>
          </a:prstGeom>
          <a:noFill/>
        </p:spPr>
        <p:txBody>
          <a:bodyPr wrap="none" rtlCol="0">
            <a:spAutoFit/>
          </a:bodyPr>
          <a:lstStyle/>
          <a:p>
            <a:r>
              <a:rPr lang="en-IE" sz="2400" b="1" u="sng"/>
              <a:t>Return Types:</a:t>
            </a:r>
          </a:p>
          <a:p>
            <a:endParaRPr lang="en-IE" sz="2400"/>
          </a:p>
          <a:p>
            <a:r>
              <a:rPr lang="en-IE" sz="2400"/>
              <a:t>void (nothing to return)</a:t>
            </a:r>
          </a:p>
          <a:p>
            <a:r>
              <a:rPr lang="en-IE" sz="2400"/>
              <a:t>String</a:t>
            </a:r>
          </a:p>
          <a:p>
            <a:r>
              <a:rPr lang="en-IE" sz="2400"/>
              <a:t>int</a:t>
            </a:r>
          </a:p>
          <a:p>
            <a:r>
              <a:rPr lang="en-IE" sz="2400"/>
              <a:t>long</a:t>
            </a:r>
          </a:p>
          <a:p>
            <a:r>
              <a:rPr lang="en-IE" sz="2400"/>
              <a:t>float</a:t>
            </a:r>
          </a:p>
          <a:p>
            <a:r>
              <a:rPr lang="en-IE" sz="2400"/>
              <a:t>Boolean</a:t>
            </a:r>
          </a:p>
          <a:p>
            <a:r>
              <a:rPr lang="en-IE" sz="2400"/>
              <a:t>Object</a:t>
            </a:r>
          </a:p>
          <a:p>
            <a:r>
              <a:rPr lang="en-IE" sz="2400"/>
              <a:t>etc….</a:t>
            </a:r>
          </a:p>
          <a:p>
            <a:endParaRPr lang="en-IE"/>
          </a:p>
        </p:txBody>
      </p:sp>
    </p:spTree>
    <p:extLst>
      <p:ext uri="{BB962C8B-B14F-4D97-AF65-F5344CB8AC3E}">
        <p14:creationId xmlns:p14="http://schemas.microsoft.com/office/powerpoint/2010/main" val="10988558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5AAEE-82E6-4930-8278-28B2EB982B6F}"/>
              </a:ext>
            </a:extLst>
          </p:cNvPr>
          <p:cNvSpPr>
            <a:spLocks noGrp="1"/>
          </p:cNvSpPr>
          <p:nvPr>
            <p:ph type="title"/>
          </p:nvPr>
        </p:nvSpPr>
        <p:spPr/>
        <p:txBody>
          <a:bodyPr/>
          <a:lstStyle/>
          <a:p>
            <a:r>
              <a:rPr lang="en-IE"/>
              <a:t>Creating an Object</a:t>
            </a:r>
          </a:p>
        </p:txBody>
      </p:sp>
      <p:sp>
        <p:nvSpPr>
          <p:cNvPr id="3" name="Content Placeholder 2">
            <a:extLst>
              <a:ext uri="{FF2B5EF4-FFF2-40B4-BE49-F238E27FC236}">
                <a16:creationId xmlns:a16="http://schemas.microsoft.com/office/drawing/2014/main" id="{C41E8460-B711-4FB3-91F0-26C3EDBD23E1}"/>
              </a:ext>
            </a:extLst>
          </p:cNvPr>
          <p:cNvSpPr>
            <a:spLocks noGrp="1"/>
          </p:cNvSpPr>
          <p:nvPr>
            <p:ph idx="1"/>
          </p:nvPr>
        </p:nvSpPr>
        <p:spPr/>
        <p:txBody>
          <a:bodyPr>
            <a:normAutofit fontScale="92500" lnSpcReduction="10000"/>
          </a:bodyPr>
          <a:lstStyle/>
          <a:p>
            <a:pPr>
              <a:buFontTx/>
              <a:buChar char="•"/>
            </a:pPr>
            <a:r>
              <a:rPr lang="en-US" altLang="en-US"/>
              <a:t>When constructing a house the builder takes the blueprint (class in OOD terms) and uses it to order e.g. blocks and sand. Using the blocks and sand the house is constructed.</a:t>
            </a:r>
          </a:p>
          <a:p>
            <a:pPr>
              <a:buFontTx/>
              <a:buChar char="•"/>
            </a:pPr>
            <a:endParaRPr lang="en-US" altLang="en-US"/>
          </a:p>
          <a:p>
            <a:pPr>
              <a:buFontTx/>
              <a:buChar char="•"/>
            </a:pPr>
            <a:r>
              <a:rPr lang="en-US" altLang="en-US"/>
              <a:t> When a JAVA program starts the JVM performs the equivalent of ordering blocks and sand i.e. it reserves memory space in the RAM of the computer for the object. The memory is reserved on “The Heap”.</a:t>
            </a:r>
          </a:p>
          <a:p>
            <a:pPr>
              <a:buFontTx/>
              <a:buChar char="•"/>
            </a:pPr>
            <a:endParaRPr lang="en-US" altLang="en-US"/>
          </a:p>
          <a:p>
            <a:pPr>
              <a:buFontTx/>
              <a:buChar char="•"/>
            </a:pPr>
            <a:r>
              <a:rPr lang="en-US" altLang="en-US"/>
              <a:t> Once the memory space has been reserved a special method called a constructor sets the initial values of the attributes in reserved memory space.</a:t>
            </a:r>
          </a:p>
          <a:p>
            <a:pPr>
              <a:buFontTx/>
              <a:buChar char="•"/>
            </a:pPr>
            <a:endParaRPr lang="en-US" altLang="en-US"/>
          </a:p>
          <a:p>
            <a:endParaRPr lang="en-IE"/>
          </a:p>
        </p:txBody>
      </p:sp>
    </p:spTree>
    <p:extLst>
      <p:ext uri="{BB962C8B-B14F-4D97-AF65-F5344CB8AC3E}">
        <p14:creationId xmlns:p14="http://schemas.microsoft.com/office/powerpoint/2010/main" val="31364016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E0827-6290-4BD8-AA4A-CA8736E1553D}"/>
              </a:ext>
            </a:extLst>
          </p:cNvPr>
          <p:cNvSpPr>
            <a:spLocks noGrp="1"/>
          </p:cNvSpPr>
          <p:nvPr>
            <p:ph type="title"/>
          </p:nvPr>
        </p:nvSpPr>
        <p:spPr/>
        <p:txBody>
          <a:bodyPr/>
          <a:lstStyle/>
          <a:p>
            <a:r>
              <a:rPr lang="en-IE"/>
              <a:t>Constructors</a:t>
            </a:r>
          </a:p>
        </p:txBody>
      </p:sp>
      <p:sp>
        <p:nvSpPr>
          <p:cNvPr id="3" name="Content Placeholder 2">
            <a:extLst>
              <a:ext uri="{FF2B5EF4-FFF2-40B4-BE49-F238E27FC236}">
                <a16:creationId xmlns:a16="http://schemas.microsoft.com/office/drawing/2014/main" id="{7042F434-B007-4584-B4C6-BB2AF4BB89CF}"/>
              </a:ext>
            </a:extLst>
          </p:cNvPr>
          <p:cNvSpPr>
            <a:spLocks noGrp="1"/>
          </p:cNvSpPr>
          <p:nvPr>
            <p:ph idx="1"/>
          </p:nvPr>
        </p:nvSpPr>
        <p:spPr>
          <a:xfrm>
            <a:off x="838200" y="1825625"/>
            <a:ext cx="6402049" cy="4351338"/>
          </a:xfrm>
        </p:spPr>
        <p:txBody>
          <a:bodyPr>
            <a:normAutofit lnSpcReduction="10000"/>
          </a:bodyPr>
          <a:lstStyle/>
          <a:p>
            <a:r>
              <a:rPr lang="en-IE"/>
              <a:t>Special type of method</a:t>
            </a:r>
          </a:p>
          <a:p>
            <a:r>
              <a:rPr lang="en-IE"/>
              <a:t>Same name as the class</a:t>
            </a:r>
          </a:p>
          <a:p>
            <a:r>
              <a:rPr lang="en-IE"/>
              <a:t>No return type</a:t>
            </a:r>
          </a:p>
          <a:p>
            <a:r>
              <a:rPr lang="en-IE"/>
              <a:t>Implicitly returns instance of the class</a:t>
            </a:r>
          </a:p>
          <a:p>
            <a:r>
              <a:rPr lang="en-IE"/>
              <a:t>Don’t have to declare a Constructor – if none created, a default Constructor is created. It’s the same as creating a Constructor with no parameters, and setting instance variables as default values</a:t>
            </a:r>
          </a:p>
          <a:p>
            <a:endParaRPr lang="en-IE"/>
          </a:p>
        </p:txBody>
      </p:sp>
      <p:pic>
        <p:nvPicPr>
          <p:cNvPr id="4" name="Picture 3">
            <a:extLst>
              <a:ext uri="{FF2B5EF4-FFF2-40B4-BE49-F238E27FC236}">
                <a16:creationId xmlns:a16="http://schemas.microsoft.com/office/drawing/2014/main" id="{A4BEC935-492B-43C0-88A2-B7AD8CE31908}"/>
              </a:ext>
            </a:extLst>
          </p:cNvPr>
          <p:cNvPicPr>
            <a:picLocks noChangeAspect="1"/>
          </p:cNvPicPr>
          <p:nvPr/>
        </p:nvPicPr>
        <p:blipFill>
          <a:blip r:embed="rId2"/>
          <a:stretch>
            <a:fillRect/>
          </a:stretch>
        </p:blipFill>
        <p:spPr>
          <a:xfrm>
            <a:off x="7110569" y="3632940"/>
            <a:ext cx="4664121" cy="2078313"/>
          </a:xfrm>
          <a:prstGeom prst="rect">
            <a:avLst/>
          </a:prstGeom>
        </p:spPr>
      </p:pic>
    </p:spTree>
    <p:extLst>
      <p:ext uri="{BB962C8B-B14F-4D97-AF65-F5344CB8AC3E}">
        <p14:creationId xmlns:p14="http://schemas.microsoft.com/office/powerpoint/2010/main" val="401118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6FE7F-092B-47AB-A26A-25305BDBAC0B}"/>
              </a:ext>
            </a:extLst>
          </p:cNvPr>
          <p:cNvSpPr>
            <a:spLocks noGrp="1"/>
          </p:cNvSpPr>
          <p:nvPr>
            <p:ph type="title"/>
          </p:nvPr>
        </p:nvSpPr>
        <p:spPr/>
        <p:txBody>
          <a:bodyPr/>
          <a:lstStyle/>
          <a:p>
            <a:r>
              <a:rPr lang="en-IE"/>
              <a:t>Overloading</a:t>
            </a:r>
          </a:p>
        </p:txBody>
      </p:sp>
      <p:sp>
        <p:nvSpPr>
          <p:cNvPr id="3" name="Content Placeholder 2">
            <a:extLst>
              <a:ext uri="{FF2B5EF4-FFF2-40B4-BE49-F238E27FC236}">
                <a16:creationId xmlns:a16="http://schemas.microsoft.com/office/drawing/2014/main" id="{D5BC9CE5-8FE6-4CE3-8F8C-EC6461AC17DA}"/>
              </a:ext>
            </a:extLst>
          </p:cNvPr>
          <p:cNvSpPr>
            <a:spLocks noGrp="1"/>
          </p:cNvSpPr>
          <p:nvPr>
            <p:ph idx="1"/>
          </p:nvPr>
        </p:nvSpPr>
        <p:spPr/>
        <p:txBody>
          <a:bodyPr/>
          <a:lstStyle/>
          <a:p>
            <a:r>
              <a:rPr lang="en-IE"/>
              <a:t>We can however create multiple constructors (or any method) which have different number of, or types of parameters:</a:t>
            </a:r>
          </a:p>
        </p:txBody>
      </p:sp>
      <p:pic>
        <p:nvPicPr>
          <p:cNvPr id="4" name="Picture 3">
            <a:extLst>
              <a:ext uri="{FF2B5EF4-FFF2-40B4-BE49-F238E27FC236}">
                <a16:creationId xmlns:a16="http://schemas.microsoft.com/office/drawing/2014/main" id="{7E83B642-2D6D-4D8C-BEFA-E57067A59587}"/>
              </a:ext>
            </a:extLst>
          </p:cNvPr>
          <p:cNvPicPr>
            <a:picLocks noChangeAspect="1"/>
          </p:cNvPicPr>
          <p:nvPr/>
        </p:nvPicPr>
        <p:blipFill>
          <a:blip r:embed="rId2"/>
          <a:stretch>
            <a:fillRect/>
          </a:stretch>
        </p:blipFill>
        <p:spPr>
          <a:xfrm>
            <a:off x="1006526" y="2670903"/>
            <a:ext cx="5111593" cy="3821971"/>
          </a:xfrm>
          <a:prstGeom prst="rect">
            <a:avLst/>
          </a:prstGeom>
        </p:spPr>
      </p:pic>
      <p:pic>
        <p:nvPicPr>
          <p:cNvPr id="5" name="Picture 4">
            <a:extLst>
              <a:ext uri="{FF2B5EF4-FFF2-40B4-BE49-F238E27FC236}">
                <a16:creationId xmlns:a16="http://schemas.microsoft.com/office/drawing/2014/main" id="{6A2266BE-E6E2-4979-9836-56C0B569CD77}"/>
              </a:ext>
            </a:extLst>
          </p:cNvPr>
          <p:cNvPicPr>
            <a:picLocks noChangeAspect="1"/>
          </p:cNvPicPr>
          <p:nvPr/>
        </p:nvPicPr>
        <p:blipFill>
          <a:blip r:embed="rId3"/>
          <a:stretch>
            <a:fillRect/>
          </a:stretch>
        </p:blipFill>
        <p:spPr>
          <a:xfrm>
            <a:off x="5497251" y="3680085"/>
            <a:ext cx="6160851" cy="1325562"/>
          </a:xfrm>
          <a:prstGeom prst="rect">
            <a:avLst/>
          </a:prstGeom>
        </p:spPr>
      </p:pic>
    </p:spTree>
    <p:extLst>
      <p:ext uri="{BB962C8B-B14F-4D97-AF65-F5344CB8AC3E}">
        <p14:creationId xmlns:p14="http://schemas.microsoft.com/office/powerpoint/2010/main" val="38524863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A17D1-AC89-4E23-8744-BB024B6B76A9}"/>
              </a:ext>
            </a:extLst>
          </p:cNvPr>
          <p:cNvSpPr>
            <a:spLocks noGrp="1"/>
          </p:cNvSpPr>
          <p:nvPr>
            <p:ph type="title"/>
          </p:nvPr>
        </p:nvSpPr>
        <p:spPr/>
        <p:txBody>
          <a:bodyPr/>
          <a:lstStyle/>
          <a:p>
            <a:r>
              <a:rPr lang="en-IE"/>
              <a:t>Creating an Object</a:t>
            </a:r>
          </a:p>
        </p:txBody>
      </p:sp>
      <p:sp>
        <p:nvSpPr>
          <p:cNvPr id="3" name="Content Placeholder 2">
            <a:extLst>
              <a:ext uri="{FF2B5EF4-FFF2-40B4-BE49-F238E27FC236}">
                <a16:creationId xmlns:a16="http://schemas.microsoft.com/office/drawing/2014/main" id="{9AC0889D-7516-47BB-9F8E-B796B8C021A5}"/>
              </a:ext>
            </a:extLst>
          </p:cNvPr>
          <p:cNvSpPr>
            <a:spLocks noGrp="1"/>
          </p:cNvSpPr>
          <p:nvPr>
            <p:ph idx="1"/>
          </p:nvPr>
        </p:nvSpPr>
        <p:spPr/>
        <p:txBody>
          <a:bodyPr/>
          <a:lstStyle/>
          <a:p>
            <a:r>
              <a:rPr lang="en-IE"/>
              <a:t>Constructors are used to create objects</a:t>
            </a:r>
          </a:p>
          <a:p>
            <a:endParaRPr lang="en-IE"/>
          </a:p>
          <a:p>
            <a:r>
              <a:rPr lang="en-IE"/>
              <a:t>Person p1 = new Person();</a:t>
            </a:r>
          </a:p>
        </p:txBody>
      </p:sp>
      <p:cxnSp>
        <p:nvCxnSpPr>
          <p:cNvPr id="5" name="Straight Arrow Connector 4">
            <a:extLst>
              <a:ext uri="{FF2B5EF4-FFF2-40B4-BE49-F238E27FC236}">
                <a16:creationId xmlns:a16="http://schemas.microsoft.com/office/drawing/2014/main" id="{0BFF0B52-227B-4A80-B4C8-64248D7B8A5C}"/>
              </a:ext>
            </a:extLst>
          </p:cNvPr>
          <p:cNvCxnSpPr>
            <a:cxnSpLocks/>
          </p:cNvCxnSpPr>
          <p:nvPr/>
        </p:nvCxnSpPr>
        <p:spPr>
          <a:xfrm flipV="1">
            <a:off x="1573967" y="3429001"/>
            <a:ext cx="0" cy="225227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2EC551FB-91A2-459E-B446-5D2CFD42458C}"/>
              </a:ext>
            </a:extLst>
          </p:cNvPr>
          <p:cNvCxnSpPr>
            <a:cxnSpLocks/>
          </p:cNvCxnSpPr>
          <p:nvPr/>
        </p:nvCxnSpPr>
        <p:spPr>
          <a:xfrm flipV="1">
            <a:off x="2445894" y="3236627"/>
            <a:ext cx="0" cy="1830048"/>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541BCE26-EE82-4895-BA62-E84FF3CFCDD7}"/>
              </a:ext>
            </a:extLst>
          </p:cNvPr>
          <p:cNvCxnSpPr>
            <a:cxnSpLocks/>
          </p:cNvCxnSpPr>
          <p:nvPr/>
        </p:nvCxnSpPr>
        <p:spPr>
          <a:xfrm flipV="1">
            <a:off x="3317822" y="3236627"/>
            <a:ext cx="0" cy="1245432"/>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141A8286-90B5-4C50-B9B1-777879D9C203}"/>
              </a:ext>
            </a:extLst>
          </p:cNvPr>
          <p:cNvCxnSpPr>
            <a:cxnSpLocks/>
          </p:cNvCxnSpPr>
          <p:nvPr/>
        </p:nvCxnSpPr>
        <p:spPr>
          <a:xfrm flipV="1">
            <a:off x="4204740" y="3236627"/>
            <a:ext cx="0" cy="660816"/>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BA193C9D-EA0D-4A7C-B4C0-D4CD9065062B}"/>
              </a:ext>
            </a:extLst>
          </p:cNvPr>
          <p:cNvSpPr txBox="1"/>
          <p:nvPr/>
        </p:nvSpPr>
        <p:spPr>
          <a:xfrm>
            <a:off x="1873430" y="5021802"/>
            <a:ext cx="6069610" cy="461665"/>
          </a:xfrm>
          <a:prstGeom prst="rect">
            <a:avLst/>
          </a:prstGeom>
          <a:noFill/>
        </p:spPr>
        <p:txBody>
          <a:bodyPr wrap="none" rtlCol="0">
            <a:spAutoFit/>
          </a:bodyPr>
          <a:lstStyle/>
          <a:p>
            <a:r>
              <a:rPr lang="en-IE" sz="2400">
                <a:solidFill>
                  <a:schemeClr val="accent1"/>
                </a:solidFill>
              </a:rPr>
              <a:t>Reference name of new Object (always unique)</a:t>
            </a:r>
          </a:p>
        </p:txBody>
      </p:sp>
      <p:sp>
        <p:nvSpPr>
          <p:cNvPr id="14" name="TextBox 13">
            <a:extLst>
              <a:ext uri="{FF2B5EF4-FFF2-40B4-BE49-F238E27FC236}">
                <a16:creationId xmlns:a16="http://schemas.microsoft.com/office/drawing/2014/main" id="{7777F856-11DC-483B-A2B4-1DA6EDBF5E4F}"/>
              </a:ext>
            </a:extLst>
          </p:cNvPr>
          <p:cNvSpPr txBox="1"/>
          <p:nvPr/>
        </p:nvSpPr>
        <p:spPr>
          <a:xfrm>
            <a:off x="436873" y="5729369"/>
            <a:ext cx="2653290" cy="461665"/>
          </a:xfrm>
          <a:prstGeom prst="rect">
            <a:avLst/>
          </a:prstGeom>
          <a:noFill/>
        </p:spPr>
        <p:txBody>
          <a:bodyPr wrap="none" rtlCol="0">
            <a:spAutoFit/>
          </a:bodyPr>
          <a:lstStyle/>
          <a:p>
            <a:r>
              <a:rPr lang="en-IE" sz="2400">
                <a:solidFill>
                  <a:srgbClr val="FF0000"/>
                </a:solidFill>
              </a:rPr>
              <a:t>Class type of Object</a:t>
            </a:r>
          </a:p>
        </p:txBody>
      </p:sp>
      <p:sp>
        <p:nvSpPr>
          <p:cNvPr id="15" name="TextBox 14">
            <a:extLst>
              <a:ext uri="{FF2B5EF4-FFF2-40B4-BE49-F238E27FC236}">
                <a16:creationId xmlns:a16="http://schemas.microsoft.com/office/drawing/2014/main" id="{1D488054-DDC8-4C18-8958-E5EC021EF038}"/>
              </a:ext>
            </a:extLst>
          </p:cNvPr>
          <p:cNvSpPr txBox="1"/>
          <p:nvPr/>
        </p:nvSpPr>
        <p:spPr>
          <a:xfrm>
            <a:off x="2726944" y="4437186"/>
            <a:ext cx="5810693" cy="461665"/>
          </a:xfrm>
          <a:prstGeom prst="rect">
            <a:avLst/>
          </a:prstGeom>
          <a:noFill/>
        </p:spPr>
        <p:txBody>
          <a:bodyPr wrap="none" rtlCol="0">
            <a:spAutoFit/>
          </a:bodyPr>
          <a:lstStyle/>
          <a:p>
            <a:r>
              <a:rPr lang="en-IE" sz="2400">
                <a:solidFill>
                  <a:schemeClr val="accent6"/>
                </a:solidFill>
              </a:rPr>
              <a:t>New keyword – create new object of type….. </a:t>
            </a:r>
          </a:p>
        </p:txBody>
      </p:sp>
      <p:sp>
        <p:nvSpPr>
          <p:cNvPr id="16" name="TextBox 15">
            <a:extLst>
              <a:ext uri="{FF2B5EF4-FFF2-40B4-BE49-F238E27FC236}">
                <a16:creationId xmlns:a16="http://schemas.microsoft.com/office/drawing/2014/main" id="{B8FDC907-410F-4F43-95F3-4A901FA681B2}"/>
              </a:ext>
            </a:extLst>
          </p:cNvPr>
          <p:cNvSpPr txBox="1"/>
          <p:nvPr/>
        </p:nvSpPr>
        <p:spPr>
          <a:xfrm>
            <a:off x="3859965" y="3840584"/>
            <a:ext cx="2961836" cy="461665"/>
          </a:xfrm>
          <a:prstGeom prst="rect">
            <a:avLst/>
          </a:prstGeom>
          <a:noFill/>
        </p:spPr>
        <p:txBody>
          <a:bodyPr wrap="none" rtlCol="0">
            <a:spAutoFit/>
          </a:bodyPr>
          <a:lstStyle/>
          <a:p>
            <a:r>
              <a:rPr lang="en-IE" sz="2400">
                <a:solidFill>
                  <a:srgbClr val="7030A0"/>
                </a:solidFill>
              </a:rPr>
              <a:t>Call to the constructor</a:t>
            </a:r>
          </a:p>
        </p:txBody>
      </p:sp>
    </p:spTree>
    <p:extLst>
      <p:ext uri="{BB962C8B-B14F-4D97-AF65-F5344CB8AC3E}">
        <p14:creationId xmlns:p14="http://schemas.microsoft.com/office/powerpoint/2010/main" val="9216986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A5D8F-C2BE-4528-979C-D37052825FAF}"/>
              </a:ext>
            </a:extLst>
          </p:cNvPr>
          <p:cNvSpPr>
            <a:spLocks noGrp="1"/>
          </p:cNvSpPr>
          <p:nvPr>
            <p:ph type="title"/>
          </p:nvPr>
        </p:nvSpPr>
        <p:spPr/>
        <p:txBody>
          <a:bodyPr/>
          <a:lstStyle/>
          <a:p>
            <a:r>
              <a:rPr lang="en-IE"/>
              <a:t>Calling Methods</a:t>
            </a:r>
          </a:p>
        </p:txBody>
      </p:sp>
      <p:sp>
        <p:nvSpPr>
          <p:cNvPr id="3" name="Content Placeholder 2">
            <a:extLst>
              <a:ext uri="{FF2B5EF4-FFF2-40B4-BE49-F238E27FC236}">
                <a16:creationId xmlns:a16="http://schemas.microsoft.com/office/drawing/2014/main" id="{C4A3CB2E-0C0E-4BD0-BC69-040807213C84}"/>
              </a:ext>
            </a:extLst>
          </p:cNvPr>
          <p:cNvSpPr>
            <a:spLocks noGrp="1"/>
          </p:cNvSpPr>
          <p:nvPr>
            <p:ph idx="1"/>
          </p:nvPr>
        </p:nvSpPr>
        <p:spPr/>
        <p:txBody>
          <a:bodyPr/>
          <a:lstStyle/>
          <a:p>
            <a:r>
              <a:rPr lang="en-IE"/>
              <a:t>We can add a method called </a:t>
            </a:r>
            <a:r>
              <a:rPr lang="en-IE" err="1"/>
              <a:t>printDetails</a:t>
            </a:r>
            <a:r>
              <a:rPr lang="en-IE"/>
              <a:t> to our Person class as follows:</a:t>
            </a:r>
          </a:p>
        </p:txBody>
      </p:sp>
      <p:pic>
        <p:nvPicPr>
          <p:cNvPr id="6" name="Picture 5">
            <a:extLst>
              <a:ext uri="{FF2B5EF4-FFF2-40B4-BE49-F238E27FC236}">
                <a16:creationId xmlns:a16="http://schemas.microsoft.com/office/drawing/2014/main" id="{07BCAA40-DFAE-4FD9-9204-3D30D46976D8}"/>
              </a:ext>
            </a:extLst>
          </p:cNvPr>
          <p:cNvPicPr>
            <a:picLocks noChangeAspect="1"/>
          </p:cNvPicPr>
          <p:nvPr/>
        </p:nvPicPr>
        <p:blipFill>
          <a:blip r:embed="rId3"/>
          <a:stretch>
            <a:fillRect/>
          </a:stretch>
        </p:blipFill>
        <p:spPr>
          <a:xfrm>
            <a:off x="869468" y="4159381"/>
            <a:ext cx="5427689" cy="2473377"/>
          </a:xfrm>
          <a:prstGeom prst="rect">
            <a:avLst/>
          </a:prstGeom>
        </p:spPr>
      </p:pic>
      <p:sp>
        <p:nvSpPr>
          <p:cNvPr id="8" name="TextBox 7">
            <a:extLst>
              <a:ext uri="{FF2B5EF4-FFF2-40B4-BE49-F238E27FC236}">
                <a16:creationId xmlns:a16="http://schemas.microsoft.com/office/drawing/2014/main" id="{13485569-BB38-46E3-B7AA-9B5E4F2522AF}"/>
              </a:ext>
            </a:extLst>
          </p:cNvPr>
          <p:cNvSpPr txBox="1"/>
          <p:nvPr/>
        </p:nvSpPr>
        <p:spPr>
          <a:xfrm>
            <a:off x="3731925" y="5447029"/>
            <a:ext cx="4287813" cy="1200329"/>
          </a:xfrm>
          <a:prstGeom prst="rect">
            <a:avLst/>
          </a:prstGeom>
          <a:noFill/>
        </p:spPr>
        <p:txBody>
          <a:bodyPr wrap="square" rtlCol="0">
            <a:spAutoFit/>
          </a:bodyPr>
          <a:lstStyle/>
          <a:p>
            <a:endParaRPr lang="en-IE"/>
          </a:p>
          <a:p>
            <a:r>
              <a:rPr lang="en-IE"/>
              <a:t>Which allows us to easily output the details for each person….</a:t>
            </a:r>
          </a:p>
          <a:p>
            <a:endParaRPr lang="en-IE"/>
          </a:p>
        </p:txBody>
      </p:sp>
      <p:pic>
        <p:nvPicPr>
          <p:cNvPr id="9" name="Picture 8">
            <a:extLst>
              <a:ext uri="{FF2B5EF4-FFF2-40B4-BE49-F238E27FC236}">
                <a16:creationId xmlns:a16="http://schemas.microsoft.com/office/drawing/2014/main" id="{7035B4EC-289D-46DF-ADA7-E4522C296625}"/>
              </a:ext>
            </a:extLst>
          </p:cNvPr>
          <p:cNvPicPr>
            <a:picLocks noChangeAspect="1"/>
          </p:cNvPicPr>
          <p:nvPr/>
        </p:nvPicPr>
        <p:blipFill>
          <a:blip r:embed="rId4"/>
          <a:stretch>
            <a:fillRect/>
          </a:stretch>
        </p:blipFill>
        <p:spPr>
          <a:xfrm>
            <a:off x="8381346" y="2263529"/>
            <a:ext cx="2783154" cy="4383829"/>
          </a:xfrm>
          <a:prstGeom prst="rect">
            <a:avLst/>
          </a:prstGeom>
        </p:spPr>
      </p:pic>
      <p:pic>
        <p:nvPicPr>
          <p:cNvPr id="10" name="Picture 9">
            <a:extLst>
              <a:ext uri="{FF2B5EF4-FFF2-40B4-BE49-F238E27FC236}">
                <a16:creationId xmlns:a16="http://schemas.microsoft.com/office/drawing/2014/main" id="{75462B80-06EA-4045-9085-D07061031E9B}"/>
              </a:ext>
            </a:extLst>
          </p:cNvPr>
          <p:cNvPicPr>
            <a:picLocks noChangeAspect="1"/>
          </p:cNvPicPr>
          <p:nvPr/>
        </p:nvPicPr>
        <p:blipFill>
          <a:blip r:embed="rId5"/>
          <a:stretch>
            <a:fillRect/>
          </a:stretch>
        </p:blipFill>
        <p:spPr>
          <a:xfrm>
            <a:off x="775907" y="2588175"/>
            <a:ext cx="6134559" cy="1567890"/>
          </a:xfrm>
          <a:prstGeom prst="rect">
            <a:avLst/>
          </a:prstGeom>
        </p:spPr>
      </p:pic>
    </p:spTree>
    <p:extLst>
      <p:ext uri="{BB962C8B-B14F-4D97-AF65-F5344CB8AC3E}">
        <p14:creationId xmlns:p14="http://schemas.microsoft.com/office/powerpoint/2010/main" val="18257570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155C7-D883-46F6-B334-864C8566A488}"/>
              </a:ext>
            </a:extLst>
          </p:cNvPr>
          <p:cNvSpPr>
            <a:spLocks noGrp="1"/>
          </p:cNvSpPr>
          <p:nvPr>
            <p:ph type="title"/>
          </p:nvPr>
        </p:nvSpPr>
        <p:spPr/>
        <p:txBody>
          <a:bodyPr/>
          <a:lstStyle/>
          <a:p>
            <a:r>
              <a:rPr lang="en-IE"/>
              <a:t>Calling Methods</a:t>
            </a:r>
          </a:p>
        </p:txBody>
      </p:sp>
      <p:sp>
        <p:nvSpPr>
          <p:cNvPr id="3" name="Content Placeholder 2">
            <a:extLst>
              <a:ext uri="{FF2B5EF4-FFF2-40B4-BE49-F238E27FC236}">
                <a16:creationId xmlns:a16="http://schemas.microsoft.com/office/drawing/2014/main" id="{401C5064-6551-4B57-9A72-60985862672B}"/>
              </a:ext>
            </a:extLst>
          </p:cNvPr>
          <p:cNvSpPr>
            <a:spLocks noGrp="1"/>
          </p:cNvSpPr>
          <p:nvPr>
            <p:ph idx="1"/>
          </p:nvPr>
        </p:nvSpPr>
        <p:spPr/>
        <p:txBody>
          <a:bodyPr/>
          <a:lstStyle/>
          <a:p>
            <a:r>
              <a:rPr lang="en-IE"/>
              <a:t>As you’ve seen, each method in the class is useable by any object created using the class ‘template’</a:t>
            </a:r>
          </a:p>
          <a:p>
            <a:endParaRPr lang="en-IE"/>
          </a:p>
          <a:p>
            <a:r>
              <a:rPr lang="en-IE"/>
              <a:t>We created 5 people objects p1, p2, p3, p4, p5</a:t>
            </a:r>
          </a:p>
          <a:p>
            <a:endParaRPr lang="en-IE"/>
          </a:p>
          <a:p>
            <a:r>
              <a:rPr lang="en-IE"/>
              <a:t>When </a:t>
            </a:r>
            <a:r>
              <a:rPr lang="en-IE" err="1"/>
              <a:t>printDetails</a:t>
            </a:r>
            <a:r>
              <a:rPr lang="en-IE"/>
              <a:t> called for these objects, it uses the details from that object:</a:t>
            </a:r>
          </a:p>
          <a:p>
            <a:r>
              <a:rPr lang="en-IE"/>
              <a:t>p1.printDetails() will print the details for p1. It only has access to the information for that specific object. </a:t>
            </a:r>
          </a:p>
        </p:txBody>
      </p:sp>
    </p:spTree>
    <p:extLst>
      <p:ext uri="{BB962C8B-B14F-4D97-AF65-F5344CB8AC3E}">
        <p14:creationId xmlns:p14="http://schemas.microsoft.com/office/powerpoint/2010/main" val="12993877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74FA9-D2D7-4D89-9ACC-8D2EC6CC6494}"/>
              </a:ext>
            </a:extLst>
          </p:cNvPr>
          <p:cNvSpPr>
            <a:spLocks noGrp="1"/>
          </p:cNvSpPr>
          <p:nvPr>
            <p:ph type="title"/>
          </p:nvPr>
        </p:nvSpPr>
        <p:spPr/>
        <p:txBody>
          <a:bodyPr/>
          <a:lstStyle/>
          <a:p>
            <a:r>
              <a:rPr lang="en-IE"/>
              <a:t>Exercises</a:t>
            </a:r>
          </a:p>
        </p:txBody>
      </p:sp>
      <p:sp>
        <p:nvSpPr>
          <p:cNvPr id="3" name="Content Placeholder 2">
            <a:extLst>
              <a:ext uri="{FF2B5EF4-FFF2-40B4-BE49-F238E27FC236}">
                <a16:creationId xmlns:a16="http://schemas.microsoft.com/office/drawing/2014/main" id="{775131DA-AE94-4DB0-A136-4083C63ED371}"/>
              </a:ext>
            </a:extLst>
          </p:cNvPr>
          <p:cNvSpPr>
            <a:spLocks noGrp="1"/>
          </p:cNvSpPr>
          <p:nvPr>
            <p:ph idx="1"/>
          </p:nvPr>
        </p:nvSpPr>
        <p:spPr/>
        <p:txBody>
          <a:bodyPr vert="horz" lIns="91440" tIns="45720" rIns="91440" bIns="45720" rtlCol="0" anchor="t">
            <a:normAutofit/>
          </a:bodyPr>
          <a:lstStyle/>
          <a:p>
            <a:r>
              <a:rPr lang="en-IE">
                <a:cs typeface="Calibri"/>
              </a:rPr>
              <a:t>Create a class Car</a:t>
            </a:r>
          </a:p>
          <a:p>
            <a:r>
              <a:rPr lang="en-IE">
                <a:cs typeface="Calibri"/>
              </a:rPr>
              <a:t>Number of doors</a:t>
            </a:r>
          </a:p>
          <a:p>
            <a:r>
              <a:rPr lang="en-IE">
                <a:cs typeface="Calibri"/>
              </a:rPr>
              <a:t>Type of transmission</a:t>
            </a:r>
          </a:p>
          <a:p>
            <a:r>
              <a:rPr lang="en-IE">
                <a:cs typeface="Calibri"/>
              </a:rPr>
              <a:t>Body type</a:t>
            </a:r>
          </a:p>
          <a:p>
            <a:endParaRPr lang="en-IE">
              <a:cs typeface="Calibri"/>
            </a:endParaRPr>
          </a:p>
          <a:p>
            <a:endParaRPr lang="en-IE">
              <a:cs typeface="Calibri"/>
            </a:endParaRPr>
          </a:p>
          <a:p>
            <a:endParaRPr lang="en-IE">
              <a:cs typeface="Calibri"/>
            </a:endParaRPr>
          </a:p>
          <a:p>
            <a:r>
              <a:rPr lang="en-IE">
                <a:cs typeface="Calibri"/>
              </a:rPr>
              <a:t>Create 2 constructors: one empty, one with all three parameters</a:t>
            </a:r>
          </a:p>
        </p:txBody>
      </p:sp>
      <p:pic>
        <p:nvPicPr>
          <p:cNvPr id="5" name="Picture 4" descr="A screenshot of text&#10;&#10;Description generated with very high confidence">
            <a:extLst>
              <a:ext uri="{FF2B5EF4-FFF2-40B4-BE49-F238E27FC236}">
                <a16:creationId xmlns:a16="http://schemas.microsoft.com/office/drawing/2014/main" id="{DE57EB7B-6857-40C7-A712-C061341FC18E}"/>
              </a:ext>
            </a:extLst>
          </p:cNvPr>
          <p:cNvPicPr>
            <a:picLocks noChangeAspect="1"/>
          </p:cNvPicPr>
          <p:nvPr/>
        </p:nvPicPr>
        <p:blipFill>
          <a:blip r:embed="rId2"/>
          <a:stretch>
            <a:fillRect/>
          </a:stretch>
        </p:blipFill>
        <p:spPr>
          <a:xfrm>
            <a:off x="4688210" y="172828"/>
            <a:ext cx="6988160" cy="5220866"/>
          </a:xfrm>
          <a:prstGeom prst="rect">
            <a:avLst/>
          </a:prstGeom>
        </p:spPr>
      </p:pic>
    </p:spTree>
    <p:extLst>
      <p:ext uri="{BB962C8B-B14F-4D97-AF65-F5344CB8AC3E}">
        <p14:creationId xmlns:p14="http://schemas.microsoft.com/office/powerpoint/2010/main" val="38366887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14C85-D5D9-482A-B2F7-02A198358A28}"/>
              </a:ext>
            </a:extLst>
          </p:cNvPr>
          <p:cNvSpPr>
            <a:spLocks noGrp="1"/>
          </p:cNvSpPr>
          <p:nvPr>
            <p:ph type="title"/>
          </p:nvPr>
        </p:nvSpPr>
        <p:spPr/>
        <p:txBody>
          <a:bodyPr/>
          <a:lstStyle/>
          <a:p>
            <a:r>
              <a:rPr lang="en-IE"/>
              <a:t>Encapsulation</a:t>
            </a:r>
          </a:p>
        </p:txBody>
      </p:sp>
      <p:graphicFrame>
        <p:nvGraphicFramePr>
          <p:cNvPr id="4" name="Content Placeholder 3">
            <a:extLst>
              <a:ext uri="{FF2B5EF4-FFF2-40B4-BE49-F238E27FC236}">
                <a16:creationId xmlns:a16="http://schemas.microsoft.com/office/drawing/2014/main" id="{6A3D05DB-04F6-43B6-8185-DA70278DE552}"/>
              </a:ext>
            </a:extLst>
          </p:cNvPr>
          <p:cNvGraphicFramePr>
            <a:graphicFrameLocks noGrp="1"/>
          </p:cNvGraphicFramePr>
          <p:nvPr>
            <p:ph idx="1"/>
            <p:extLst>
              <p:ext uri="{D42A27DB-BD31-4B8C-83A1-F6EECF244321}">
                <p14:modId xmlns:p14="http://schemas.microsoft.com/office/powerpoint/2010/main" val="720892034"/>
              </p:ext>
            </p:extLst>
          </p:nvPr>
        </p:nvGraphicFramePr>
        <p:xfrm>
          <a:off x="838200" y="1825625"/>
          <a:ext cx="10515600" cy="1854200"/>
        </p:xfrm>
        <a:graphic>
          <a:graphicData uri="http://schemas.openxmlformats.org/drawingml/2006/table">
            <a:tbl>
              <a:tblPr firstRow="1" bandRow="1">
                <a:tableStyleId>{5C22544A-7EE6-4342-B048-85BDC9FD1C3A}</a:tableStyleId>
              </a:tblPr>
              <a:tblGrid>
                <a:gridCol w="3505200">
                  <a:extLst>
                    <a:ext uri="{9D8B030D-6E8A-4147-A177-3AD203B41FA5}">
                      <a16:colId xmlns:a16="http://schemas.microsoft.com/office/drawing/2014/main" val="707277850"/>
                    </a:ext>
                  </a:extLst>
                </a:gridCol>
                <a:gridCol w="3505200">
                  <a:extLst>
                    <a:ext uri="{9D8B030D-6E8A-4147-A177-3AD203B41FA5}">
                      <a16:colId xmlns:a16="http://schemas.microsoft.com/office/drawing/2014/main" val="4085430605"/>
                    </a:ext>
                  </a:extLst>
                </a:gridCol>
                <a:gridCol w="3505200">
                  <a:extLst>
                    <a:ext uri="{9D8B030D-6E8A-4147-A177-3AD203B41FA5}">
                      <a16:colId xmlns:a16="http://schemas.microsoft.com/office/drawing/2014/main" val="4265185845"/>
                    </a:ext>
                  </a:extLst>
                </a:gridCol>
              </a:tblGrid>
              <a:tr h="370840">
                <a:tc>
                  <a:txBody>
                    <a:bodyPr/>
                    <a:lstStyle/>
                    <a:p>
                      <a:r>
                        <a:rPr lang="en-IE"/>
                        <a:t>Name</a:t>
                      </a:r>
                    </a:p>
                  </a:txBody>
                  <a:tcPr/>
                </a:tc>
                <a:tc>
                  <a:txBody>
                    <a:bodyPr/>
                    <a:lstStyle/>
                    <a:p>
                      <a:r>
                        <a:rPr lang="en-IE"/>
                        <a:t>Address</a:t>
                      </a:r>
                    </a:p>
                  </a:txBody>
                  <a:tcPr/>
                </a:tc>
                <a:tc>
                  <a:txBody>
                    <a:bodyPr/>
                    <a:lstStyle/>
                    <a:p>
                      <a:r>
                        <a:rPr lang="en-IE"/>
                        <a:t>Phone Number</a:t>
                      </a:r>
                    </a:p>
                  </a:txBody>
                  <a:tcPr/>
                </a:tc>
                <a:extLst>
                  <a:ext uri="{0D108BD9-81ED-4DB2-BD59-A6C34878D82A}">
                    <a16:rowId xmlns:a16="http://schemas.microsoft.com/office/drawing/2014/main" val="3222877202"/>
                  </a:ext>
                </a:extLst>
              </a:tr>
              <a:tr h="370840">
                <a:tc>
                  <a:txBody>
                    <a:bodyPr/>
                    <a:lstStyle/>
                    <a:p>
                      <a:r>
                        <a:rPr lang="en-IE"/>
                        <a:t>John</a:t>
                      </a:r>
                    </a:p>
                  </a:txBody>
                  <a:tcPr/>
                </a:tc>
                <a:tc>
                  <a:txBody>
                    <a:bodyPr/>
                    <a:lstStyle/>
                    <a:p>
                      <a:r>
                        <a:rPr lang="en-IE"/>
                        <a:t>null</a:t>
                      </a:r>
                    </a:p>
                  </a:txBody>
                  <a:tcPr/>
                </a:tc>
                <a:tc>
                  <a:txBody>
                    <a:bodyPr/>
                    <a:lstStyle/>
                    <a:p>
                      <a:r>
                        <a:rPr lang="en-IE"/>
                        <a:t>0</a:t>
                      </a:r>
                    </a:p>
                  </a:txBody>
                  <a:tcPr/>
                </a:tc>
                <a:extLst>
                  <a:ext uri="{0D108BD9-81ED-4DB2-BD59-A6C34878D82A}">
                    <a16:rowId xmlns:a16="http://schemas.microsoft.com/office/drawing/2014/main" val="2784317694"/>
                  </a:ext>
                </a:extLst>
              </a:tr>
              <a:tr h="370840">
                <a:tc>
                  <a:txBody>
                    <a:bodyPr/>
                    <a:lstStyle/>
                    <a:p>
                      <a:r>
                        <a:rPr lang="en-IE"/>
                        <a:t>Mary</a:t>
                      </a:r>
                    </a:p>
                  </a:txBody>
                  <a:tcPr/>
                </a:tc>
                <a:tc>
                  <a:txBody>
                    <a:bodyPr/>
                    <a:lstStyle/>
                    <a:p>
                      <a:r>
                        <a:rPr lang="en-IE"/>
                        <a:t>Cork</a:t>
                      </a:r>
                    </a:p>
                  </a:txBody>
                  <a:tcPr/>
                </a:tc>
                <a:tc>
                  <a:txBody>
                    <a:bodyPr/>
                    <a:lstStyle/>
                    <a:p>
                      <a:r>
                        <a:rPr lang="en-IE"/>
                        <a:t>0</a:t>
                      </a:r>
                    </a:p>
                  </a:txBody>
                  <a:tcPr/>
                </a:tc>
                <a:extLst>
                  <a:ext uri="{0D108BD9-81ED-4DB2-BD59-A6C34878D82A}">
                    <a16:rowId xmlns:a16="http://schemas.microsoft.com/office/drawing/2014/main" val="3432489442"/>
                  </a:ext>
                </a:extLst>
              </a:tr>
              <a:tr h="370840">
                <a:tc>
                  <a:txBody>
                    <a:bodyPr/>
                    <a:lstStyle/>
                    <a:p>
                      <a:r>
                        <a:rPr lang="en-IE"/>
                        <a:t>Claire</a:t>
                      </a:r>
                    </a:p>
                  </a:txBody>
                  <a:tcPr/>
                </a:tc>
                <a:tc>
                  <a:txBody>
                    <a:bodyPr/>
                    <a:lstStyle/>
                    <a:p>
                      <a:r>
                        <a:rPr lang="en-IE"/>
                        <a:t>null</a:t>
                      </a:r>
                    </a:p>
                  </a:txBody>
                  <a:tcPr/>
                </a:tc>
                <a:tc>
                  <a:txBody>
                    <a:bodyPr/>
                    <a:lstStyle/>
                    <a:p>
                      <a:r>
                        <a:rPr lang="en-IE" sz="1800" kern="1200">
                          <a:solidFill>
                            <a:schemeClr val="dk1"/>
                          </a:solidFill>
                          <a:latin typeface="+mn-lt"/>
                          <a:ea typeface="+mn-ea"/>
                          <a:cs typeface="+mn-cs"/>
                        </a:rPr>
                        <a:t>871234567</a:t>
                      </a:r>
                      <a:endParaRPr lang="en-IE"/>
                    </a:p>
                  </a:txBody>
                  <a:tcPr/>
                </a:tc>
                <a:extLst>
                  <a:ext uri="{0D108BD9-81ED-4DB2-BD59-A6C34878D82A}">
                    <a16:rowId xmlns:a16="http://schemas.microsoft.com/office/drawing/2014/main" val="1607568708"/>
                  </a:ext>
                </a:extLst>
              </a:tr>
              <a:tr h="370840">
                <a:tc>
                  <a:txBody>
                    <a:bodyPr/>
                    <a:lstStyle/>
                    <a:p>
                      <a:r>
                        <a:rPr lang="en-IE"/>
                        <a:t>Michael</a:t>
                      </a:r>
                    </a:p>
                  </a:txBody>
                  <a:tcPr/>
                </a:tc>
                <a:tc>
                  <a:txBody>
                    <a:bodyPr/>
                    <a:lstStyle/>
                    <a:p>
                      <a:r>
                        <a:rPr lang="en-IE"/>
                        <a:t>Dublin</a:t>
                      </a:r>
                    </a:p>
                  </a:txBody>
                  <a:tcPr/>
                </a:tc>
                <a:tc>
                  <a:txBody>
                    <a:bodyPr/>
                    <a:lstStyle/>
                    <a:p>
                      <a:r>
                        <a:rPr lang="en-IE" sz="1800" kern="1200">
                          <a:solidFill>
                            <a:schemeClr val="dk1"/>
                          </a:solidFill>
                          <a:latin typeface="+mn-lt"/>
                          <a:ea typeface="+mn-ea"/>
                          <a:cs typeface="+mn-cs"/>
                        </a:rPr>
                        <a:t>877654321</a:t>
                      </a:r>
                      <a:endParaRPr lang="en-IE"/>
                    </a:p>
                  </a:txBody>
                  <a:tcPr/>
                </a:tc>
                <a:extLst>
                  <a:ext uri="{0D108BD9-81ED-4DB2-BD59-A6C34878D82A}">
                    <a16:rowId xmlns:a16="http://schemas.microsoft.com/office/drawing/2014/main" val="2005181667"/>
                  </a:ext>
                </a:extLst>
              </a:tr>
            </a:tbl>
          </a:graphicData>
        </a:graphic>
      </p:graphicFrame>
      <p:sp>
        <p:nvSpPr>
          <p:cNvPr id="5" name="TextBox 4">
            <a:extLst>
              <a:ext uri="{FF2B5EF4-FFF2-40B4-BE49-F238E27FC236}">
                <a16:creationId xmlns:a16="http://schemas.microsoft.com/office/drawing/2014/main" id="{5F38C796-3387-4DA0-9933-F6B095F9B10B}"/>
              </a:ext>
            </a:extLst>
          </p:cNvPr>
          <p:cNvSpPr txBox="1"/>
          <p:nvPr/>
        </p:nvSpPr>
        <p:spPr>
          <a:xfrm>
            <a:off x="974361" y="4811843"/>
            <a:ext cx="7677038" cy="1200329"/>
          </a:xfrm>
          <a:prstGeom prst="rect">
            <a:avLst/>
          </a:prstGeom>
          <a:noFill/>
        </p:spPr>
        <p:txBody>
          <a:bodyPr wrap="none" rtlCol="0">
            <a:spAutoFit/>
          </a:bodyPr>
          <a:lstStyle/>
          <a:p>
            <a:r>
              <a:rPr lang="en-IE"/>
              <a:t>Suppose we need to add an address or phone number for John, Mary, or Claire?</a:t>
            </a:r>
          </a:p>
          <a:p>
            <a:r>
              <a:rPr lang="en-IE"/>
              <a:t>What if Michael changes his phone and moves network?</a:t>
            </a:r>
          </a:p>
          <a:p>
            <a:endParaRPr lang="en-IE"/>
          </a:p>
          <a:p>
            <a:r>
              <a:rPr lang="en-IE"/>
              <a:t>We need methods to allow us to read or change the data.</a:t>
            </a:r>
          </a:p>
        </p:txBody>
      </p:sp>
    </p:spTree>
    <p:extLst>
      <p:ext uri="{BB962C8B-B14F-4D97-AF65-F5344CB8AC3E}">
        <p14:creationId xmlns:p14="http://schemas.microsoft.com/office/powerpoint/2010/main" val="37079472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25958-4305-4820-BA98-9C7CA8FCEB23}"/>
              </a:ext>
            </a:extLst>
          </p:cNvPr>
          <p:cNvSpPr>
            <a:spLocks noGrp="1"/>
          </p:cNvSpPr>
          <p:nvPr>
            <p:ph type="title"/>
          </p:nvPr>
        </p:nvSpPr>
        <p:spPr/>
        <p:txBody>
          <a:bodyPr/>
          <a:lstStyle/>
          <a:p>
            <a:r>
              <a:rPr lang="en-IE"/>
              <a:t>Getters and Setters</a:t>
            </a:r>
          </a:p>
        </p:txBody>
      </p:sp>
      <p:sp>
        <p:nvSpPr>
          <p:cNvPr id="3" name="Content Placeholder 2">
            <a:extLst>
              <a:ext uri="{FF2B5EF4-FFF2-40B4-BE49-F238E27FC236}">
                <a16:creationId xmlns:a16="http://schemas.microsoft.com/office/drawing/2014/main" id="{1CF1D657-84C2-407E-A2BB-521608554936}"/>
              </a:ext>
            </a:extLst>
          </p:cNvPr>
          <p:cNvSpPr>
            <a:spLocks noGrp="1"/>
          </p:cNvSpPr>
          <p:nvPr>
            <p:ph idx="1"/>
          </p:nvPr>
        </p:nvSpPr>
        <p:spPr/>
        <p:txBody>
          <a:bodyPr/>
          <a:lstStyle/>
          <a:p>
            <a:r>
              <a:rPr lang="en-IE"/>
              <a:t>All instance variables are generally set to private. This ensures they are only visible within the class, and if external classes need to make changes, they must know the underlying structure.</a:t>
            </a:r>
          </a:p>
          <a:p>
            <a:endParaRPr lang="en-IE"/>
          </a:p>
          <a:p>
            <a:r>
              <a:rPr lang="en-IE"/>
              <a:t>Previously we printed details of the object using a </a:t>
            </a:r>
            <a:r>
              <a:rPr lang="en-IE" err="1"/>
              <a:t>printDetails</a:t>
            </a:r>
            <a:r>
              <a:rPr lang="en-IE"/>
              <a:t> method within the class. </a:t>
            </a:r>
            <a:r>
              <a:rPr lang="en-IE" err="1"/>
              <a:t>System.out.println</a:t>
            </a:r>
            <a:r>
              <a:rPr lang="en-IE"/>
              <a:t>(“Name: “ + name)</a:t>
            </a:r>
          </a:p>
          <a:p>
            <a:endParaRPr lang="en-IE"/>
          </a:p>
          <a:p>
            <a:r>
              <a:rPr lang="en-IE"/>
              <a:t>We cannot access these details in another class in this manner if they are set to private. </a:t>
            </a:r>
          </a:p>
        </p:txBody>
      </p:sp>
    </p:spTree>
    <p:extLst>
      <p:ext uri="{BB962C8B-B14F-4D97-AF65-F5344CB8AC3E}">
        <p14:creationId xmlns:p14="http://schemas.microsoft.com/office/powerpoint/2010/main" val="24226873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0678B-214B-47A5-B7D0-11F5C1B0DAA0}"/>
              </a:ext>
            </a:extLst>
          </p:cNvPr>
          <p:cNvSpPr>
            <a:spLocks noGrp="1"/>
          </p:cNvSpPr>
          <p:nvPr>
            <p:ph type="title"/>
          </p:nvPr>
        </p:nvSpPr>
        <p:spPr/>
        <p:txBody>
          <a:bodyPr/>
          <a:lstStyle/>
          <a:p>
            <a:r>
              <a:rPr lang="en-IE"/>
              <a:t>Getters and Setters</a:t>
            </a:r>
          </a:p>
        </p:txBody>
      </p:sp>
      <p:sp>
        <p:nvSpPr>
          <p:cNvPr id="3" name="Content Placeholder 2">
            <a:extLst>
              <a:ext uri="{FF2B5EF4-FFF2-40B4-BE49-F238E27FC236}">
                <a16:creationId xmlns:a16="http://schemas.microsoft.com/office/drawing/2014/main" id="{F3FFFE74-7F96-4BC8-9786-B6ABE14FBD00}"/>
              </a:ext>
            </a:extLst>
          </p:cNvPr>
          <p:cNvSpPr>
            <a:spLocks noGrp="1"/>
          </p:cNvSpPr>
          <p:nvPr>
            <p:ph idx="1"/>
          </p:nvPr>
        </p:nvSpPr>
        <p:spPr/>
        <p:txBody>
          <a:bodyPr/>
          <a:lstStyle/>
          <a:p>
            <a:r>
              <a:rPr lang="en-IE"/>
              <a:t>Encapsulation uses methods called getters and setters to get (read) and set (update/change) details.</a:t>
            </a:r>
          </a:p>
          <a:p>
            <a:endParaRPr lang="en-IE"/>
          </a:p>
          <a:p>
            <a:endParaRPr lang="en-IE"/>
          </a:p>
        </p:txBody>
      </p:sp>
      <p:pic>
        <p:nvPicPr>
          <p:cNvPr id="4" name="Picture 3">
            <a:extLst>
              <a:ext uri="{FF2B5EF4-FFF2-40B4-BE49-F238E27FC236}">
                <a16:creationId xmlns:a16="http://schemas.microsoft.com/office/drawing/2014/main" id="{376A723E-06BD-48F8-8D56-62F886E008C4}"/>
              </a:ext>
            </a:extLst>
          </p:cNvPr>
          <p:cNvPicPr>
            <a:picLocks noChangeAspect="1"/>
          </p:cNvPicPr>
          <p:nvPr/>
        </p:nvPicPr>
        <p:blipFill>
          <a:blip r:embed="rId2"/>
          <a:stretch>
            <a:fillRect/>
          </a:stretch>
        </p:blipFill>
        <p:spPr>
          <a:xfrm>
            <a:off x="838200" y="2786153"/>
            <a:ext cx="5457669" cy="2634737"/>
          </a:xfrm>
          <a:prstGeom prst="rect">
            <a:avLst/>
          </a:prstGeom>
        </p:spPr>
      </p:pic>
      <p:sp>
        <p:nvSpPr>
          <p:cNvPr id="5" name="TextBox 4">
            <a:extLst>
              <a:ext uri="{FF2B5EF4-FFF2-40B4-BE49-F238E27FC236}">
                <a16:creationId xmlns:a16="http://schemas.microsoft.com/office/drawing/2014/main" id="{F5402C3F-2197-44C8-8FEA-BDF56103FCC1}"/>
              </a:ext>
            </a:extLst>
          </p:cNvPr>
          <p:cNvSpPr txBox="1"/>
          <p:nvPr/>
        </p:nvSpPr>
        <p:spPr>
          <a:xfrm>
            <a:off x="5507196" y="2782611"/>
            <a:ext cx="6287170" cy="1107996"/>
          </a:xfrm>
          <a:prstGeom prst="rect">
            <a:avLst/>
          </a:prstGeom>
          <a:noFill/>
        </p:spPr>
        <p:txBody>
          <a:bodyPr wrap="none" rtlCol="0">
            <a:spAutoFit/>
          </a:bodyPr>
          <a:lstStyle/>
          <a:p>
            <a:r>
              <a:rPr lang="en-IE" sz="2200"/>
              <a:t>We return the name (which is a String) of the Person</a:t>
            </a:r>
          </a:p>
          <a:p>
            <a:r>
              <a:rPr lang="en-IE" sz="2200"/>
              <a:t>object. No information is needed to access the name,</a:t>
            </a:r>
          </a:p>
          <a:p>
            <a:r>
              <a:rPr lang="en-IE" sz="2200"/>
              <a:t>so no parameters are passed in.</a:t>
            </a:r>
          </a:p>
        </p:txBody>
      </p:sp>
      <p:sp>
        <p:nvSpPr>
          <p:cNvPr id="6" name="TextBox 5">
            <a:extLst>
              <a:ext uri="{FF2B5EF4-FFF2-40B4-BE49-F238E27FC236}">
                <a16:creationId xmlns:a16="http://schemas.microsoft.com/office/drawing/2014/main" id="{063D7FF8-3DDB-4D8C-8642-FD6349CA6BB1}"/>
              </a:ext>
            </a:extLst>
          </p:cNvPr>
          <p:cNvSpPr txBox="1"/>
          <p:nvPr/>
        </p:nvSpPr>
        <p:spPr>
          <a:xfrm>
            <a:off x="6096000" y="4338130"/>
            <a:ext cx="5391604" cy="1446550"/>
          </a:xfrm>
          <a:prstGeom prst="rect">
            <a:avLst/>
          </a:prstGeom>
          <a:noFill/>
        </p:spPr>
        <p:txBody>
          <a:bodyPr wrap="none" rtlCol="0">
            <a:spAutoFit/>
          </a:bodyPr>
          <a:lstStyle/>
          <a:p>
            <a:r>
              <a:rPr lang="en-IE" sz="2200"/>
              <a:t>We change the details (for example Mary got</a:t>
            </a:r>
          </a:p>
          <a:p>
            <a:r>
              <a:rPr lang="en-IE" sz="2200"/>
              <a:t>married) by passing in a String, but as we are</a:t>
            </a:r>
          </a:p>
          <a:p>
            <a:r>
              <a:rPr lang="en-IE" sz="2200"/>
              <a:t>not looking for information, nothing needs to</a:t>
            </a:r>
          </a:p>
          <a:p>
            <a:r>
              <a:rPr lang="en-IE" sz="2200"/>
              <a:t>be returned – void return type.</a:t>
            </a:r>
          </a:p>
        </p:txBody>
      </p:sp>
    </p:spTree>
    <p:extLst>
      <p:ext uri="{BB962C8B-B14F-4D97-AF65-F5344CB8AC3E}">
        <p14:creationId xmlns:p14="http://schemas.microsoft.com/office/powerpoint/2010/main" val="35443406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9E3E2-A5CA-4B2A-BB72-FAAFCDCF0332}"/>
              </a:ext>
            </a:extLst>
          </p:cNvPr>
          <p:cNvSpPr>
            <a:spLocks noGrp="1"/>
          </p:cNvSpPr>
          <p:nvPr>
            <p:ph type="title"/>
          </p:nvPr>
        </p:nvSpPr>
        <p:spPr/>
        <p:txBody>
          <a:bodyPr/>
          <a:lstStyle/>
          <a:p>
            <a:r>
              <a:rPr lang="en-IE"/>
              <a:t>Getters and Setters</a:t>
            </a:r>
          </a:p>
        </p:txBody>
      </p:sp>
      <p:sp>
        <p:nvSpPr>
          <p:cNvPr id="3" name="Content Placeholder 2">
            <a:extLst>
              <a:ext uri="{FF2B5EF4-FFF2-40B4-BE49-F238E27FC236}">
                <a16:creationId xmlns:a16="http://schemas.microsoft.com/office/drawing/2014/main" id="{64801161-85EF-4157-BFAB-8B23A76EB635}"/>
              </a:ext>
            </a:extLst>
          </p:cNvPr>
          <p:cNvSpPr>
            <a:spLocks noGrp="1"/>
          </p:cNvSpPr>
          <p:nvPr>
            <p:ph idx="1"/>
          </p:nvPr>
        </p:nvSpPr>
        <p:spPr/>
        <p:txBody>
          <a:bodyPr/>
          <a:lstStyle/>
          <a:p>
            <a:r>
              <a:rPr lang="en-IE"/>
              <a:t>The getters and Setters are named so that the code is understandable to everyone</a:t>
            </a:r>
          </a:p>
          <a:p>
            <a:r>
              <a:rPr lang="en-IE"/>
              <a:t>Each instance variable will have a </a:t>
            </a:r>
            <a:r>
              <a:rPr lang="en-IE" err="1"/>
              <a:t>getMethod</a:t>
            </a:r>
            <a:r>
              <a:rPr lang="en-IE"/>
              <a:t> and a </a:t>
            </a:r>
            <a:r>
              <a:rPr lang="en-IE" err="1"/>
              <a:t>setMethod</a:t>
            </a:r>
            <a:endParaRPr lang="en-IE"/>
          </a:p>
          <a:p>
            <a:endParaRPr lang="en-IE"/>
          </a:p>
          <a:p>
            <a:r>
              <a:rPr lang="en-IE"/>
              <a:t>They are not mandatory (sometimes they’re not needed as data won’t be changed), however it is best practice to include them.</a:t>
            </a:r>
          </a:p>
          <a:p>
            <a:endParaRPr lang="en-IE"/>
          </a:p>
        </p:txBody>
      </p:sp>
    </p:spTree>
    <p:extLst>
      <p:ext uri="{BB962C8B-B14F-4D97-AF65-F5344CB8AC3E}">
        <p14:creationId xmlns:p14="http://schemas.microsoft.com/office/powerpoint/2010/main" val="8619582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58DDC-F1B9-4BA5-9493-085EAB79EBF7}"/>
              </a:ext>
            </a:extLst>
          </p:cNvPr>
          <p:cNvSpPr>
            <a:spLocks noGrp="1"/>
          </p:cNvSpPr>
          <p:nvPr>
            <p:ph type="title"/>
          </p:nvPr>
        </p:nvSpPr>
        <p:spPr/>
        <p:txBody>
          <a:bodyPr/>
          <a:lstStyle/>
          <a:p>
            <a:r>
              <a:rPr lang="en-IE">
                <a:cs typeface="Calibri Light"/>
              </a:rPr>
              <a:t>Getters and Setters continued</a:t>
            </a:r>
            <a:endParaRPr lang="en-IE"/>
          </a:p>
        </p:txBody>
      </p:sp>
      <p:pic>
        <p:nvPicPr>
          <p:cNvPr id="5" name="Picture 4">
            <a:extLst>
              <a:ext uri="{FF2B5EF4-FFF2-40B4-BE49-F238E27FC236}">
                <a16:creationId xmlns:a16="http://schemas.microsoft.com/office/drawing/2014/main" id="{5449B1E0-F011-418F-8989-2CADD297632B}"/>
              </a:ext>
            </a:extLst>
          </p:cNvPr>
          <p:cNvPicPr>
            <a:picLocks noChangeAspect="1"/>
          </p:cNvPicPr>
          <p:nvPr/>
        </p:nvPicPr>
        <p:blipFill>
          <a:blip r:embed="rId2"/>
          <a:stretch>
            <a:fillRect/>
          </a:stretch>
        </p:blipFill>
        <p:spPr>
          <a:xfrm>
            <a:off x="632944" y="1825625"/>
            <a:ext cx="4148918" cy="4811684"/>
          </a:xfrm>
          <a:prstGeom prst="rect">
            <a:avLst/>
          </a:prstGeom>
        </p:spPr>
      </p:pic>
      <p:pic>
        <p:nvPicPr>
          <p:cNvPr id="6" name="Picture 5">
            <a:extLst>
              <a:ext uri="{FF2B5EF4-FFF2-40B4-BE49-F238E27FC236}">
                <a16:creationId xmlns:a16="http://schemas.microsoft.com/office/drawing/2014/main" id="{A7D92E00-CAA2-4315-8AB2-7C89E3ED1F15}"/>
              </a:ext>
            </a:extLst>
          </p:cNvPr>
          <p:cNvPicPr>
            <a:picLocks noChangeAspect="1"/>
          </p:cNvPicPr>
          <p:nvPr/>
        </p:nvPicPr>
        <p:blipFill>
          <a:blip r:embed="rId3"/>
          <a:stretch>
            <a:fillRect/>
          </a:stretch>
        </p:blipFill>
        <p:spPr>
          <a:xfrm>
            <a:off x="5007107" y="1948800"/>
            <a:ext cx="5403320" cy="1861955"/>
          </a:xfrm>
          <a:prstGeom prst="rect">
            <a:avLst/>
          </a:prstGeom>
        </p:spPr>
      </p:pic>
      <p:pic>
        <p:nvPicPr>
          <p:cNvPr id="7" name="Picture 6">
            <a:extLst>
              <a:ext uri="{FF2B5EF4-FFF2-40B4-BE49-F238E27FC236}">
                <a16:creationId xmlns:a16="http://schemas.microsoft.com/office/drawing/2014/main" id="{65B950E2-641A-4718-A563-86E78CD12549}"/>
              </a:ext>
            </a:extLst>
          </p:cNvPr>
          <p:cNvPicPr>
            <a:picLocks noChangeAspect="1"/>
          </p:cNvPicPr>
          <p:nvPr/>
        </p:nvPicPr>
        <p:blipFill>
          <a:blip r:embed="rId4"/>
          <a:stretch>
            <a:fillRect/>
          </a:stretch>
        </p:blipFill>
        <p:spPr>
          <a:xfrm>
            <a:off x="6317303" y="4762058"/>
            <a:ext cx="1747406" cy="1239069"/>
          </a:xfrm>
          <a:prstGeom prst="rect">
            <a:avLst/>
          </a:prstGeom>
        </p:spPr>
      </p:pic>
      <p:sp>
        <p:nvSpPr>
          <p:cNvPr id="8" name="TextBox 7">
            <a:extLst>
              <a:ext uri="{FF2B5EF4-FFF2-40B4-BE49-F238E27FC236}">
                <a16:creationId xmlns:a16="http://schemas.microsoft.com/office/drawing/2014/main" id="{EAE64D6C-86A5-4D6C-9BDD-A4D0D14A8A70}"/>
              </a:ext>
            </a:extLst>
          </p:cNvPr>
          <p:cNvSpPr txBox="1"/>
          <p:nvPr/>
        </p:nvSpPr>
        <p:spPr>
          <a:xfrm>
            <a:off x="6547872" y="4088098"/>
            <a:ext cx="1160895" cy="461665"/>
          </a:xfrm>
          <a:prstGeom prst="rect">
            <a:avLst/>
          </a:prstGeom>
          <a:noFill/>
        </p:spPr>
        <p:txBody>
          <a:bodyPr wrap="none" rtlCol="0">
            <a:spAutoFit/>
          </a:bodyPr>
          <a:lstStyle/>
          <a:p>
            <a:r>
              <a:rPr lang="en-IE" sz="2400"/>
              <a:t>Output:</a:t>
            </a:r>
          </a:p>
        </p:txBody>
      </p:sp>
      <p:sp>
        <p:nvSpPr>
          <p:cNvPr id="9" name="TextBox 8">
            <a:extLst>
              <a:ext uri="{FF2B5EF4-FFF2-40B4-BE49-F238E27FC236}">
                <a16:creationId xmlns:a16="http://schemas.microsoft.com/office/drawing/2014/main" id="{B85C779B-A2AE-41BB-BB2B-D99BE41537C5}"/>
              </a:ext>
            </a:extLst>
          </p:cNvPr>
          <p:cNvSpPr txBox="1"/>
          <p:nvPr/>
        </p:nvSpPr>
        <p:spPr>
          <a:xfrm>
            <a:off x="10090021" y="2464278"/>
            <a:ext cx="1602307" cy="830997"/>
          </a:xfrm>
          <a:prstGeom prst="rect">
            <a:avLst/>
          </a:prstGeom>
          <a:noFill/>
        </p:spPr>
        <p:txBody>
          <a:bodyPr wrap="square" rtlCol="0">
            <a:spAutoFit/>
          </a:bodyPr>
          <a:lstStyle/>
          <a:p>
            <a:r>
              <a:rPr lang="en-IE" sz="2400"/>
              <a:t>Either of these work</a:t>
            </a:r>
          </a:p>
        </p:txBody>
      </p:sp>
      <p:cxnSp>
        <p:nvCxnSpPr>
          <p:cNvPr id="11" name="Straight Arrow Connector 10">
            <a:extLst>
              <a:ext uri="{FF2B5EF4-FFF2-40B4-BE49-F238E27FC236}">
                <a16:creationId xmlns:a16="http://schemas.microsoft.com/office/drawing/2014/main" id="{23BC03E3-7689-4A6F-805C-5D71A95AE62E}"/>
              </a:ext>
            </a:extLst>
          </p:cNvPr>
          <p:cNvCxnSpPr/>
          <p:nvPr/>
        </p:nvCxnSpPr>
        <p:spPr>
          <a:xfrm flipH="1" flipV="1">
            <a:off x="9158990" y="2473377"/>
            <a:ext cx="884420" cy="406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A9D9E148-D16B-43C5-9E52-A89538356D5D}"/>
              </a:ext>
            </a:extLst>
          </p:cNvPr>
          <p:cNvCxnSpPr>
            <a:cxnSpLocks/>
            <a:stCxn id="9" idx="1"/>
          </p:cNvCxnSpPr>
          <p:nvPr/>
        </p:nvCxnSpPr>
        <p:spPr>
          <a:xfrm flipH="1">
            <a:off x="9323882" y="2879777"/>
            <a:ext cx="766139" cy="5245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78203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F769-386C-41DF-A5C9-FF7997B9D3B1}"/>
              </a:ext>
            </a:extLst>
          </p:cNvPr>
          <p:cNvSpPr>
            <a:spLocks noGrp="1"/>
          </p:cNvSpPr>
          <p:nvPr>
            <p:ph type="title"/>
          </p:nvPr>
        </p:nvSpPr>
        <p:spPr/>
        <p:txBody>
          <a:bodyPr/>
          <a:lstStyle/>
          <a:p>
            <a:r>
              <a:rPr lang="en-US">
                <a:cs typeface="Calibri Light"/>
              </a:rPr>
              <a:t>Exercise</a:t>
            </a:r>
            <a:endParaRPr lang="en-US"/>
          </a:p>
        </p:txBody>
      </p:sp>
      <p:sp>
        <p:nvSpPr>
          <p:cNvPr id="3" name="Content Placeholder 2">
            <a:extLst>
              <a:ext uri="{FF2B5EF4-FFF2-40B4-BE49-F238E27FC236}">
                <a16:creationId xmlns:a16="http://schemas.microsoft.com/office/drawing/2014/main" id="{1EEF3C4F-E6FD-4CAE-992A-15D114074289}"/>
              </a:ext>
            </a:extLst>
          </p:cNvPr>
          <p:cNvSpPr>
            <a:spLocks noGrp="1"/>
          </p:cNvSpPr>
          <p:nvPr>
            <p:ph idx="1"/>
          </p:nvPr>
        </p:nvSpPr>
        <p:spPr/>
        <p:txBody>
          <a:bodyPr vert="horz" lIns="91440" tIns="45720" rIns="91440" bIns="45720" rtlCol="0" anchor="t">
            <a:normAutofit/>
          </a:bodyPr>
          <a:lstStyle/>
          <a:p>
            <a:r>
              <a:rPr lang="en-US">
                <a:cs typeface="Calibri"/>
              </a:rPr>
              <a:t>Using the class Car</a:t>
            </a:r>
          </a:p>
          <a:p>
            <a:r>
              <a:rPr lang="en-US">
                <a:cs typeface="Calibri"/>
              </a:rPr>
              <a:t>Add getters and setters for the attributes</a:t>
            </a:r>
          </a:p>
          <a:p>
            <a:r>
              <a:rPr lang="en-US">
                <a:cs typeface="Calibri"/>
              </a:rPr>
              <a:t>Create a </a:t>
            </a:r>
            <a:r>
              <a:rPr lang="en-US" err="1">
                <a:cs typeface="Calibri"/>
              </a:rPr>
              <a:t>printDetails</a:t>
            </a:r>
            <a:r>
              <a:rPr lang="en-US">
                <a:cs typeface="Calibri"/>
              </a:rPr>
              <a:t>() method </a:t>
            </a:r>
          </a:p>
          <a:p>
            <a:r>
              <a:rPr lang="en-US">
                <a:cs typeface="Calibri"/>
              </a:rPr>
              <a:t>Create a "tester" class to create 3 Car objects using both constructors (6 in total)</a:t>
            </a:r>
          </a:p>
          <a:p>
            <a:r>
              <a:rPr lang="en-US">
                <a:cs typeface="Calibri"/>
              </a:rPr>
              <a:t>Using the getters and setters, add information to the Cars created with empty constructor</a:t>
            </a:r>
          </a:p>
          <a:p>
            <a:r>
              <a:rPr lang="en-US">
                <a:cs typeface="Calibri"/>
              </a:rPr>
              <a:t>Print details for all cars</a:t>
            </a:r>
          </a:p>
        </p:txBody>
      </p:sp>
      <p:pic>
        <p:nvPicPr>
          <p:cNvPr id="5" name="Picture 4" descr="A screenshot of a cell phone&#10;&#10;Description generated with high confidence">
            <a:extLst>
              <a:ext uri="{FF2B5EF4-FFF2-40B4-BE49-F238E27FC236}">
                <a16:creationId xmlns:a16="http://schemas.microsoft.com/office/drawing/2014/main" id="{B46E1A01-8544-409F-A215-9ACE8940B38F}"/>
              </a:ext>
            </a:extLst>
          </p:cNvPr>
          <p:cNvPicPr>
            <a:picLocks noChangeAspect="1"/>
          </p:cNvPicPr>
          <p:nvPr/>
        </p:nvPicPr>
        <p:blipFill>
          <a:blip r:embed="rId2"/>
          <a:stretch>
            <a:fillRect/>
          </a:stretch>
        </p:blipFill>
        <p:spPr>
          <a:xfrm>
            <a:off x="4263178" y="472504"/>
            <a:ext cx="7658558" cy="1954576"/>
          </a:xfrm>
          <a:prstGeom prst="rect">
            <a:avLst/>
          </a:prstGeom>
        </p:spPr>
      </p:pic>
      <p:pic>
        <p:nvPicPr>
          <p:cNvPr id="7" name="Picture 6" descr="A screenshot of a cell phone&#10;&#10;Description generated with very high confidence">
            <a:extLst>
              <a:ext uri="{FF2B5EF4-FFF2-40B4-BE49-F238E27FC236}">
                <a16:creationId xmlns:a16="http://schemas.microsoft.com/office/drawing/2014/main" id="{C021466E-EE80-4726-B614-DEAE1C6DDAD2}"/>
              </a:ext>
            </a:extLst>
          </p:cNvPr>
          <p:cNvPicPr>
            <a:picLocks noChangeAspect="1"/>
          </p:cNvPicPr>
          <p:nvPr/>
        </p:nvPicPr>
        <p:blipFill>
          <a:blip r:embed="rId3"/>
          <a:stretch>
            <a:fillRect/>
          </a:stretch>
        </p:blipFill>
        <p:spPr>
          <a:xfrm>
            <a:off x="4622604" y="4830397"/>
            <a:ext cx="7565837" cy="3440092"/>
          </a:xfrm>
          <a:prstGeom prst="rect">
            <a:avLst/>
          </a:prstGeom>
        </p:spPr>
      </p:pic>
    </p:spTree>
    <p:extLst>
      <p:ext uri="{BB962C8B-B14F-4D97-AF65-F5344CB8AC3E}">
        <p14:creationId xmlns:p14="http://schemas.microsoft.com/office/powerpoint/2010/main" val="2786524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1F9DB-0DCE-4DA7-959A-ED93463958AA}"/>
              </a:ext>
            </a:extLst>
          </p:cNvPr>
          <p:cNvSpPr>
            <a:spLocks noGrp="1"/>
          </p:cNvSpPr>
          <p:nvPr>
            <p:ph type="title"/>
          </p:nvPr>
        </p:nvSpPr>
        <p:spPr/>
        <p:txBody>
          <a:bodyPr/>
          <a:lstStyle/>
          <a:p>
            <a:r>
              <a:rPr lang="en-US" dirty="0"/>
              <a:t>Explaining what I mean…. </a:t>
            </a:r>
          </a:p>
        </p:txBody>
      </p:sp>
      <p:sp>
        <p:nvSpPr>
          <p:cNvPr id="3" name="Content Placeholder 2">
            <a:extLst>
              <a:ext uri="{FF2B5EF4-FFF2-40B4-BE49-F238E27FC236}">
                <a16:creationId xmlns:a16="http://schemas.microsoft.com/office/drawing/2014/main" id="{DDB6748F-A34C-47EF-8DD5-F1D031FCC0AC}"/>
              </a:ext>
            </a:extLst>
          </p:cNvPr>
          <p:cNvSpPr>
            <a:spLocks noGrp="1"/>
          </p:cNvSpPr>
          <p:nvPr>
            <p:ph idx="1"/>
          </p:nvPr>
        </p:nvSpPr>
        <p:spPr/>
        <p:txBody>
          <a:bodyPr vert="horz" lIns="91440" tIns="45720" rIns="91440" bIns="45720" rtlCol="0" anchor="t">
            <a:normAutofit lnSpcReduction="10000"/>
          </a:bodyPr>
          <a:lstStyle/>
          <a:p>
            <a:pPr marL="0" indent="0">
              <a:buNone/>
            </a:pPr>
            <a:r>
              <a:rPr lang="en-US">
                <a:cs typeface="Calibri" panose="020F0502020204030204"/>
              </a:rPr>
              <a:t>Car c1 = new Car();</a:t>
            </a:r>
          </a:p>
          <a:p>
            <a:pPr marL="0" indent="0">
              <a:buNone/>
            </a:pPr>
            <a:r>
              <a:rPr lang="en-US">
                <a:cs typeface="Calibri" panose="020F0502020204030204"/>
              </a:rPr>
              <a:t>C1.setDoors(5);</a:t>
            </a:r>
          </a:p>
          <a:p>
            <a:pPr marL="0" indent="0">
              <a:buNone/>
            </a:pPr>
            <a:r>
              <a:rPr lang="en-US">
                <a:cs typeface="Calibri" panose="020F0502020204030204"/>
              </a:rPr>
              <a:t>C1.setTransmission("Manual");</a:t>
            </a:r>
          </a:p>
          <a:p>
            <a:pPr marL="0" indent="0">
              <a:buNone/>
            </a:pPr>
            <a:r>
              <a:rPr lang="en-US">
                <a:cs typeface="Calibri" panose="020F0502020204030204"/>
              </a:rPr>
              <a:t>C1.setBody("Saloon");</a:t>
            </a:r>
          </a:p>
          <a:p>
            <a:pPr marL="0" indent="0">
              <a:buNone/>
            </a:pPr>
            <a:r>
              <a:rPr lang="en-US" err="1">
                <a:cs typeface="Calibri" panose="020F0502020204030204"/>
              </a:rPr>
              <a:t>System.out.println</a:t>
            </a:r>
            <a:r>
              <a:rPr lang="en-US">
                <a:cs typeface="Calibri" panose="020F0502020204030204"/>
              </a:rPr>
              <a:t>("Car 1:  "+ c1.getDoors() + " " + c1.getTransmission() + " " + c1.getBody());</a:t>
            </a:r>
          </a:p>
          <a:p>
            <a:pPr marL="0" indent="0">
              <a:buNone/>
            </a:pPr>
            <a:endParaRPr lang="en-US">
              <a:cs typeface="Calibri" panose="020F0502020204030204"/>
            </a:endParaRPr>
          </a:p>
          <a:p>
            <a:pPr marL="0" indent="0">
              <a:buNone/>
            </a:pPr>
            <a:r>
              <a:rPr lang="en-US">
                <a:cs typeface="Calibri" panose="020F0502020204030204"/>
              </a:rPr>
              <a:t>Car c2 = new Car("Hatchback", "Manual" , 5);</a:t>
            </a:r>
            <a:endParaRPr lang="en-US">
              <a:ea typeface="+mn-lt"/>
              <a:cs typeface="+mn-lt"/>
            </a:endParaRPr>
          </a:p>
          <a:p>
            <a:pPr marL="0" indent="0">
              <a:buNone/>
            </a:pPr>
            <a:r>
              <a:rPr lang="en-US">
                <a:cs typeface="Calibri" panose="020F0502020204030204"/>
              </a:rPr>
              <a:t>C2.printDetails();</a:t>
            </a:r>
            <a:endParaRPr lang="en-US">
              <a:ea typeface="+mn-lt"/>
              <a:cs typeface="+mn-lt"/>
            </a:endParaRPr>
          </a:p>
          <a:p>
            <a:pPr marL="0" indent="0">
              <a:buNone/>
            </a:pPr>
            <a:endParaRPr lang="en-US">
              <a:ea typeface="+mn-lt"/>
              <a:cs typeface="+mn-lt"/>
            </a:endParaRPr>
          </a:p>
          <a:p>
            <a:pPr marL="0" indent="0">
              <a:buNone/>
            </a:pPr>
            <a:endParaRPr lang="en-US">
              <a:cs typeface="Calibri" panose="020F0502020204030204"/>
            </a:endParaRPr>
          </a:p>
        </p:txBody>
      </p:sp>
    </p:spTree>
    <p:extLst>
      <p:ext uri="{BB962C8B-B14F-4D97-AF65-F5344CB8AC3E}">
        <p14:creationId xmlns:p14="http://schemas.microsoft.com/office/powerpoint/2010/main" val="37374020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E2F2F-B27F-41AF-A29B-E8C563C07904}"/>
              </a:ext>
            </a:extLst>
          </p:cNvPr>
          <p:cNvSpPr>
            <a:spLocks noGrp="1"/>
          </p:cNvSpPr>
          <p:nvPr>
            <p:ph type="title"/>
          </p:nvPr>
        </p:nvSpPr>
        <p:spPr/>
        <p:txBody>
          <a:bodyPr/>
          <a:lstStyle/>
          <a:p>
            <a:r>
              <a:rPr lang="en-IE"/>
              <a:t>Visibility in detail</a:t>
            </a:r>
          </a:p>
        </p:txBody>
      </p:sp>
      <p:graphicFrame>
        <p:nvGraphicFramePr>
          <p:cNvPr id="4" name="Content Placeholder 3">
            <a:extLst>
              <a:ext uri="{FF2B5EF4-FFF2-40B4-BE49-F238E27FC236}">
                <a16:creationId xmlns:a16="http://schemas.microsoft.com/office/drawing/2014/main" id="{1B7DE43A-CBAB-4BB2-AF19-615D5DA03D48}"/>
              </a:ext>
            </a:extLst>
          </p:cNvPr>
          <p:cNvGraphicFramePr>
            <a:graphicFrameLocks noGrp="1"/>
          </p:cNvGraphicFramePr>
          <p:nvPr>
            <p:ph idx="1"/>
            <p:extLst>
              <p:ext uri="{D42A27DB-BD31-4B8C-83A1-F6EECF244321}">
                <p14:modId xmlns:p14="http://schemas.microsoft.com/office/powerpoint/2010/main" val="781662697"/>
              </p:ext>
            </p:extLst>
          </p:nvPr>
        </p:nvGraphicFramePr>
        <p:xfrm>
          <a:off x="538397" y="2582208"/>
          <a:ext cx="10515600" cy="212344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3837167679"/>
                    </a:ext>
                  </a:extLst>
                </a:gridCol>
                <a:gridCol w="2103120">
                  <a:extLst>
                    <a:ext uri="{9D8B030D-6E8A-4147-A177-3AD203B41FA5}">
                      <a16:colId xmlns:a16="http://schemas.microsoft.com/office/drawing/2014/main" val="3239769676"/>
                    </a:ext>
                  </a:extLst>
                </a:gridCol>
                <a:gridCol w="2103120">
                  <a:extLst>
                    <a:ext uri="{9D8B030D-6E8A-4147-A177-3AD203B41FA5}">
                      <a16:colId xmlns:a16="http://schemas.microsoft.com/office/drawing/2014/main" val="2350022637"/>
                    </a:ext>
                  </a:extLst>
                </a:gridCol>
                <a:gridCol w="2103120">
                  <a:extLst>
                    <a:ext uri="{9D8B030D-6E8A-4147-A177-3AD203B41FA5}">
                      <a16:colId xmlns:a16="http://schemas.microsoft.com/office/drawing/2014/main" val="1288070868"/>
                    </a:ext>
                  </a:extLst>
                </a:gridCol>
                <a:gridCol w="2103120">
                  <a:extLst>
                    <a:ext uri="{9D8B030D-6E8A-4147-A177-3AD203B41FA5}">
                      <a16:colId xmlns:a16="http://schemas.microsoft.com/office/drawing/2014/main" val="3850273653"/>
                    </a:ext>
                  </a:extLst>
                </a:gridCol>
              </a:tblGrid>
              <a:tr h="370840">
                <a:tc>
                  <a:txBody>
                    <a:bodyPr/>
                    <a:lstStyle/>
                    <a:p>
                      <a:r>
                        <a:rPr lang="en-IE"/>
                        <a:t>Visibility</a:t>
                      </a:r>
                    </a:p>
                  </a:txBody>
                  <a:tcPr/>
                </a:tc>
                <a:tc>
                  <a:txBody>
                    <a:bodyPr/>
                    <a:lstStyle/>
                    <a:p>
                      <a:r>
                        <a:rPr lang="en-IE"/>
                        <a:t>Class</a:t>
                      </a:r>
                    </a:p>
                  </a:txBody>
                  <a:tcPr/>
                </a:tc>
                <a:tc>
                  <a:txBody>
                    <a:bodyPr/>
                    <a:lstStyle/>
                    <a:p>
                      <a:r>
                        <a:rPr lang="en-IE"/>
                        <a:t>Package</a:t>
                      </a:r>
                    </a:p>
                  </a:txBody>
                  <a:tcPr/>
                </a:tc>
                <a:tc>
                  <a:txBody>
                    <a:bodyPr/>
                    <a:lstStyle/>
                    <a:p>
                      <a:r>
                        <a:rPr lang="en-IE"/>
                        <a:t>Subclass</a:t>
                      </a:r>
                    </a:p>
                  </a:txBody>
                  <a:tcPr/>
                </a:tc>
                <a:tc>
                  <a:txBody>
                    <a:bodyPr/>
                    <a:lstStyle/>
                    <a:p>
                      <a:r>
                        <a:rPr lang="en-IE"/>
                        <a:t>World</a:t>
                      </a:r>
                    </a:p>
                  </a:txBody>
                  <a:tcPr/>
                </a:tc>
                <a:extLst>
                  <a:ext uri="{0D108BD9-81ED-4DB2-BD59-A6C34878D82A}">
                    <a16:rowId xmlns:a16="http://schemas.microsoft.com/office/drawing/2014/main" val="1996487948"/>
                  </a:ext>
                </a:extLst>
              </a:tr>
              <a:tr h="370840">
                <a:tc>
                  <a:txBody>
                    <a:bodyPr/>
                    <a:lstStyle/>
                    <a:p>
                      <a:r>
                        <a:rPr lang="en-IE"/>
                        <a:t>Public</a:t>
                      </a:r>
                    </a:p>
                  </a:txBody>
                  <a:tcPr/>
                </a:tc>
                <a:tc>
                  <a:txBody>
                    <a:bodyPr/>
                    <a:lstStyle/>
                    <a:p>
                      <a:r>
                        <a:rPr lang="en-IE"/>
                        <a:t>Y</a:t>
                      </a:r>
                    </a:p>
                  </a:txBody>
                  <a:tcPr/>
                </a:tc>
                <a:tc>
                  <a:txBody>
                    <a:bodyPr/>
                    <a:lstStyle/>
                    <a:p>
                      <a:r>
                        <a:rPr lang="en-IE"/>
                        <a:t>Y</a:t>
                      </a:r>
                    </a:p>
                  </a:txBody>
                  <a:tcPr/>
                </a:tc>
                <a:tc>
                  <a:txBody>
                    <a:bodyPr/>
                    <a:lstStyle/>
                    <a:p>
                      <a:r>
                        <a:rPr lang="en-IE"/>
                        <a:t>Y</a:t>
                      </a:r>
                    </a:p>
                  </a:txBody>
                  <a:tcPr/>
                </a:tc>
                <a:tc>
                  <a:txBody>
                    <a:bodyPr/>
                    <a:lstStyle/>
                    <a:p>
                      <a:r>
                        <a:rPr lang="en-IE"/>
                        <a:t>Y</a:t>
                      </a:r>
                    </a:p>
                  </a:txBody>
                  <a:tcPr/>
                </a:tc>
                <a:extLst>
                  <a:ext uri="{0D108BD9-81ED-4DB2-BD59-A6C34878D82A}">
                    <a16:rowId xmlns:a16="http://schemas.microsoft.com/office/drawing/2014/main" val="979728618"/>
                  </a:ext>
                </a:extLst>
              </a:tr>
              <a:tr h="370840">
                <a:tc>
                  <a:txBody>
                    <a:bodyPr/>
                    <a:lstStyle/>
                    <a:p>
                      <a:r>
                        <a:rPr lang="en-IE"/>
                        <a:t>Protected</a:t>
                      </a:r>
                    </a:p>
                  </a:txBody>
                  <a:tcPr/>
                </a:tc>
                <a:tc>
                  <a:txBody>
                    <a:bodyPr/>
                    <a:lstStyle/>
                    <a:p>
                      <a:r>
                        <a:rPr lang="en-IE"/>
                        <a:t>Y</a:t>
                      </a:r>
                    </a:p>
                  </a:txBody>
                  <a:tcPr/>
                </a:tc>
                <a:tc>
                  <a:txBody>
                    <a:bodyPr/>
                    <a:lstStyle/>
                    <a:p>
                      <a:r>
                        <a:rPr lang="en-IE"/>
                        <a:t>Y</a:t>
                      </a:r>
                    </a:p>
                  </a:txBody>
                  <a:tcPr/>
                </a:tc>
                <a:tc>
                  <a:txBody>
                    <a:bodyPr/>
                    <a:lstStyle/>
                    <a:p>
                      <a:r>
                        <a:rPr lang="en-IE"/>
                        <a:t>Y</a:t>
                      </a:r>
                    </a:p>
                  </a:txBody>
                  <a:tcPr/>
                </a:tc>
                <a:tc>
                  <a:txBody>
                    <a:bodyPr/>
                    <a:lstStyle/>
                    <a:p>
                      <a:r>
                        <a:rPr lang="en-IE"/>
                        <a:t>N</a:t>
                      </a:r>
                    </a:p>
                  </a:txBody>
                  <a:tcPr/>
                </a:tc>
                <a:extLst>
                  <a:ext uri="{0D108BD9-81ED-4DB2-BD59-A6C34878D82A}">
                    <a16:rowId xmlns:a16="http://schemas.microsoft.com/office/drawing/2014/main" val="1769650697"/>
                  </a:ext>
                </a:extLst>
              </a:tr>
              <a:tr h="370840">
                <a:tc>
                  <a:txBody>
                    <a:bodyPr/>
                    <a:lstStyle/>
                    <a:p>
                      <a:r>
                        <a:rPr lang="en-IE"/>
                        <a:t>Package (no modifier)</a:t>
                      </a:r>
                    </a:p>
                  </a:txBody>
                  <a:tcPr/>
                </a:tc>
                <a:tc>
                  <a:txBody>
                    <a:bodyPr/>
                    <a:lstStyle/>
                    <a:p>
                      <a:r>
                        <a:rPr lang="en-IE"/>
                        <a:t>Y</a:t>
                      </a:r>
                    </a:p>
                  </a:txBody>
                  <a:tcPr/>
                </a:tc>
                <a:tc>
                  <a:txBody>
                    <a:bodyPr/>
                    <a:lstStyle/>
                    <a:p>
                      <a:r>
                        <a:rPr lang="en-IE"/>
                        <a:t>Y</a:t>
                      </a:r>
                    </a:p>
                  </a:txBody>
                  <a:tcPr/>
                </a:tc>
                <a:tc>
                  <a:txBody>
                    <a:bodyPr/>
                    <a:lstStyle/>
                    <a:p>
                      <a:r>
                        <a:rPr lang="en-IE"/>
                        <a:t>N</a:t>
                      </a:r>
                    </a:p>
                  </a:txBody>
                  <a:tcPr/>
                </a:tc>
                <a:tc>
                  <a:txBody>
                    <a:bodyPr/>
                    <a:lstStyle/>
                    <a:p>
                      <a:r>
                        <a:rPr lang="en-IE"/>
                        <a:t>N</a:t>
                      </a:r>
                    </a:p>
                  </a:txBody>
                  <a:tcPr/>
                </a:tc>
                <a:extLst>
                  <a:ext uri="{0D108BD9-81ED-4DB2-BD59-A6C34878D82A}">
                    <a16:rowId xmlns:a16="http://schemas.microsoft.com/office/drawing/2014/main" val="1389047784"/>
                  </a:ext>
                </a:extLst>
              </a:tr>
              <a:tr h="370840">
                <a:tc>
                  <a:txBody>
                    <a:bodyPr/>
                    <a:lstStyle/>
                    <a:p>
                      <a:r>
                        <a:rPr lang="en-IE"/>
                        <a:t>Private</a:t>
                      </a:r>
                    </a:p>
                  </a:txBody>
                  <a:tcPr/>
                </a:tc>
                <a:tc>
                  <a:txBody>
                    <a:bodyPr/>
                    <a:lstStyle/>
                    <a:p>
                      <a:r>
                        <a:rPr lang="en-IE"/>
                        <a:t>Y</a:t>
                      </a:r>
                    </a:p>
                  </a:txBody>
                  <a:tcPr/>
                </a:tc>
                <a:tc>
                  <a:txBody>
                    <a:bodyPr/>
                    <a:lstStyle/>
                    <a:p>
                      <a:r>
                        <a:rPr lang="en-IE"/>
                        <a:t>N</a:t>
                      </a:r>
                    </a:p>
                  </a:txBody>
                  <a:tcPr/>
                </a:tc>
                <a:tc>
                  <a:txBody>
                    <a:bodyPr/>
                    <a:lstStyle/>
                    <a:p>
                      <a:r>
                        <a:rPr lang="en-IE"/>
                        <a:t>N</a:t>
                      </a:r>
                    </a:p>
                  </a:txBody>
                  <a:tcPr/>
                </a:tc>
                <a:tc>
                  <a:txBody>
                    <a:bodyPr/>
                    <a:lstStyle/>
                    <a:p>
                      <a:r>
                        <a:rPr lang="en-IE"/>
                        <a:t>N</a:t>
                      </a:r>
                    </a:p>
                  </a:txBody>
                  <a:tcPr/>
                </a:tc>
                <a:extLst>
                  <a:ext uri="{0D108BD9-81ED-4DB2-BD59-A6C34878D82A}">
                    <a16:rowId xmlns:a16="http://schemas.microsoft.com/office/drawing/2014/main" val="4178151678"/>
                  </a:ext>
                </a:extLst>
              </a:tr>
            </a:tbl>
          </a:graphicData>
        </a:graphic>
      </p:graphicFrame>
      <p:sp>
        <p:nvSpPr>
          <p:cNvPr id="5" name="TextBox 4">
            <a:extLst>
              <a:ext uri="{FF2B5EF4-FFF2-40B4-BE49-F238E27FC236}">
                <a16:creationId xmlns:a16="http://schemas.microsoft.com/office/drawing/2014/main" id="{F2D26140-1E44-4B35-BBA3-E47FD1B420CC}"/>
              </a:ext>
            </a:extLst>
          </p:cNvPr>
          <p:cNvSpPr txBox="1"/>
          <p:nvPr/>
        </p:nvSpPr>
        <p:spPr>
          <a:xfrm>
            <a:off x="538397" y="1690688"/>
            <a:ext cx="10644266" cy="461665"/>
          </a:xfrm>
          <a:prstGeom prst="rect">
            <a:avLst/>
          </a:prstGeom>
          <a:noFill/>
        </p:spPr>
        <p:txBody>
          <a:bodyPr wrap="square" rtlCol="0">
            <a:spAutoFit/>
          </a:bodyPr>
          <a:lstStyle/>
          <a:p>
            <a:r>
              <a:rPr lang="en-IE" sz="2400"/>
              <a:t>We saw this visibility table earlier:</a:t>
            </a:r>
          </a:p>
        </p:txBody>
      </p:sp>
    </p:spTree>
    <p:extLst>
      <p:ext uri="{BB962C8B-B14F-4D97-AF65-F5344CB8AC3E}">
        <p14:creationId xmlns:p14="http://schemas.microsoft.com/office/powerpoint/2010/main" val="22206230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3C20C-EE0C-4CEF-9DCF-4D9EC4961FB2}"/>
              </a:ext>
            </a:extLst>
          </p:cNvPr>
          <p:cNvSpPr>
            <a:spLocks noGrp="1"/>
          </p:cNvSpPr>
          <p:nvPr>
            <p:ph type="title"/>
          </p:nvPr>
        </p:nvSpPr>
        <p:spPr/>
        <p:txBody>
          <a:bodyPr/>
          <a:lstStyle/>
          <a:p>
            <a:r>
              <a:rPr lang="en-IE"/>
              <a:t>Visibility</a:t>
            </a:r>
          </a:p>
        </p:txBody>
      </p:sp>
      <p:sp>
        <p:nvSpPr>
          <p:cNvPr id="3" name="Content Placeholder 2">
            <a:extLst>
              <a:ext uri="{FF2B5EF4-FFF2-40B4-BE49-F238E27FC236}">
                <a16:creationId xmlns:a16="http://schemas.microsoft.com/office/drawing/2014/main" id="{3E007947-54E2-40F9-BC0C-63CA80B59466}"/>
              </a:ext>
            </a:extLst>
          </p:cNvPr>
          <p:cNvSpPr>
            <a:spLocks noGrp="1"/>
          </p:cNvSpPr>
          <p:nvPr>
            <p:ph idx="1"/>
          </p:nvPr>
        </p:nvSpPr>
        <p:spPr/>
        <p:txBody>
          <a:bodyPr/>
          <a:lstStyle/>
          <a:p>
            <a:r>
              <a:rPr lang="en-IE"/>
              <a:t>Public variables and methods can be seen by any code – any class, any package etc. This is not a secure option for variables!</a:t>
            </a:r>
          </a:p>
          <a:p>
            <a:endParaRPr lang="en-IE"/>
          </a:p>
          <a:p>
            <a:r>
              <a:rPr lang="en-IE"/>
              <a:t>Getters and Setters are public to allow access to </a:t>
            </a:r>
            <a:r>
              <a:rPr lang="en-IE" u="sng"/>
              <a:t>private</a:t>
            </a:r>
            <a:r>
              <a:rPr lang="en-IE"/>
              <a:t> instance variables</a:t>
            </a:r>
          </a:p>
          <a:p>
            <a:endParaRPr lang="en-IE"/>
          </a:p>
          <a:p>
            <a:r>
              <a:rPr lang="en-IE"/>
              <a:t>However they also allow access to protected/package (no modifier) variables depending on where they are being accessed from….</a:t>
            </a:r>
          </a:p>
        </p:txBody>
      </p:sp>
    </p:spTree>
    <p:extLst>
      <p:ext uri="{BB962C8B-B14F-4D97-AF65-F5344CB8AC3E}">
        <p14:creationId xmlns:p14="http://schemas.microsoft.com/office/powerpoint/2010/main" val="37744626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6E231-045E-4945-8DF6-033F2555FABB}"/>
              </a:ext>
            </a:extLst>
          </p:cNvPr>
          <p:cNvSpPr>
            <a:spLocks noGrp="1"/>
          </p:cNvSpPr>
          <p:nvPr>
            <p:ph type="title"/>
          </p:nvPr>
        </p:nvSpPr>
        <p:spPr/>
        <p:txBody>
          <a:bodyPr/>
          <a:lstStyle/>
          <a:p>
            <a:r>
              <a:rPr lang="en-IE"/>
              <a:t>Visibility</a:t>
            </a:r>
          </a:p>
        </p:txBody>
      </p:sp>
      <p:pic>
        <p:nvPicPr>
          <p:cNvPr id="5" name="Picture 4">
            <a:extLst>
              <a:ext uri="{FF2B5EF4-FFF2-40B4-BE49-F238E27FC236}">
                <a16:creationId xmlns:a16="http://schemas.microsoft.com/office/drawing/2014/main" id="{F64EF4CC-60AE-4D9B-9792-366189E511CF}"/>
              </a:ext>
            </a:extLst>
          </p:cNvPr>
          <p:cNvPicPr>
            <a:picLocks noChangeAspect="1"/>
          </p:cNvPicPr>
          <p:nvPr/>
        </p:nvPicPr>
        <p:blipFill>
          <a:blip r:embed="rId2"/>
          <a:stretch>
            <a:fillRect/>
          </a:stretch>
        </p:blipFill>
        <p:spPr>
          <a:xfrm>
            <a:off x="838199" y="1690688"/>
            <a:ext cx="5849763" cy="2686440"/>
          </a:xfrm>
          <a:prstGeom prst="rect">
            <a:avLst/>
          </a:prstGeom>
        </p:spPr>
      </p:pic>
      <p:pic>
        <p:nvPicPr>
          <p:cNvPr id="8" name="Picture 7">
            <a:extLst>
              <a:ext uri="{FF2B5EF4-FFF2-40B4-BE49-F238E27FC236}">
                <a16:creationId xmlns:a16="http://schemas.microsoft.com/office/drawing/2014/main" id="{F2A8EC88-0972-4A0C-8F80-52BE5598BE61}"/>
              </a:ext>
            </a:extLst>
          </p:cNvPr>
          <p:cNvPicPr>
            <a:picLocks noChangeAspect="1"/>
          </p:cNvPicPr>
          <p:nvPr/>
        </p:nvPicPr>
        <p:blipFill>
          <a:blip r:embed="rId3"/>
          <a:stretch>
            <a:fillRect/>
          </a:stretch>
        </p:blipFill>
        <p:spPr>
          <a:xfrm>
            <a:off x="838198" y="4816866"/>
            <a:ext cx="6379647" cy="1676009"/>
          </a:xfrm>
          <a:prstGeom prst="rect">
            <a:avLst/>
          </a:prstGeom>
        </p:spPr>
      </p:pic>
      <p:pic>
        <p:nvPicPr>
          <p:cNvPr id="9" name="Picture 8">
            <a:extLst>
              <a:ext uri="{FF2B5EF4-FFF2-40B4-BE49-F238E27FC236}">
                <a16:creationId xmlns:a16="http://schemas.microsoft.com/office/drawing/2014/main" id="{854D54E8-B9A4-4B4D-A865-00FD750810BB}"/>
              </a:ext>
            </a:extLst>
          </p:cNvPr>
          <p:cNvPicPr>
            <a:picLocks noChangeAspect="1"/>
          </p:cNvPicPr>
          <p:nvPr/>
        </p:nvPicPr>
        <p:blipFill>
          <a:blip r:embed="rId4"/>
          <a:stretch>
            <a:fillRect/>
          </a:stretch>
        </p:blipFill>
        <p:spPr>
          <a:xfrm>
            <a:off x="4028021" y="3714088"/>
            <a:ext cx="8002592" cy="1102778"/>
          </a:xfrm>
          <a:prstGeom prst="rect">
            <a:avLst/>
          </a:prstGeom>
        </p:spPr>
      </p:pic>
    </p:spTree>
    <p:extLst>
      <p:ext uri="{BB962C8B-B14F-4D97-AF65-F5344CB8AC3E}">
        <p14:creationId xmlns:p14="http://schemas.microsoft.com/office/powerpoint/2010/main" val="35336174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6E231-045E-4945-8DF6-033F2555FABB}"/>
              </a:ext>
            </a:extLst>
          </p:cNvPr>
          <p:cNvSpPr>
            <a:spLocks noGrp="1"/>
          </p:cNvSpPr>
          <p:nvPr>
            <p:ph type="title"/>
          </p:nvPr>
        </p:nvSpPr>
        <p:spPr/>
        <p:txBody>
          <a:bodyPr/>
          <a:lstStyle/>
          <a:p>
            <a:r>
              <a:rPr lang="en-IE"/>
              <a:t>Visibility</a:t>
            </a:r>
          </a:p>
        </p:txBody>
      </p:sp>
      <p:pic>
        <p:nvPicPr>
          <p:cNvPr id="5" name="Picture 4">
            <a:extLst>
              <a:ext uri="{FF2B5EF4-FFF2-40B4-BE49-F238E27FC236}">
                <a16:creationId xmlns:a16="http://schemas.microsoft.com/office/drawing/2014/main" id="{F64EF4CC-60AE-4D9B-9792-366189E511CF}"/>
              </a:ext>
            </a:extLst>
          </p:cNvPr>
          <p:cNvPicPr>
            <a:picLocks noChangeAspect="1"/>
          </p:cNvPicPr>
          <p:nvPr/>
        </p:nvPicPr>
        <p:blipFill>
          <a:blip r:embed="rId2"/>
          <a:stretch>
            <a:fillRect/>
          </a:stretch>
        </p:blipFill>
        <p:spPr>
          <a:xfrm>
            <a:off x="838199" y="1690688"/>
            <a:ext cx="5849763" cy="2686440"/>
          </a:xfrm>
          <a:prstGeom prst="rect">
            <a:avLst/>
          </a:prstGeom>
        </p:spPr>
      </p:pic>
      <p:pic>
        <p:nvPicPr>
          <p:cNvPr id="4" name="Picture 3">
            <a:extLst>
              <a:ext uri="{FF2B5EF4-FFF2-40B4-BE49-F238E27FC236}">
                <a16:creationId xmlns:a16="http://schemas.microsoft.com/office/drawing/2014/main" id="{0B70D145-9991-4836-A2DC-714AD9C1CA37}"/>
              </a:ext>
            </a:extLst>
          </p:cNvPr>
          <p:cNvPicPr>
            <a:picLocks noChangeAspect="1"/>
          </p:cNvPicPr>
          <p:nvPr/>
        </p:nvPicPr>
        <p:blipFill>
          <a:blip r:embed="rId3"/>
          <a:stretch>
            <a:fillRect/>
          </a:stretch>
        </p:blipFill>
        <p:spPr>
          <a:xfrm>
            <a:off x="9131898" y="2971595"/>
            <a:ext cx="1440719" cy="2017007"/>
          </a:xfrm>
          <a:prstGeom prst="rect">
            <a:avLst/>
          </a:prstGeom>
        </p:spPr>
      </p:pic>
      <p:pic>
        <p:nvPicPr>
          <p:cNvPr id="7" name="Picture 6">
            <a:extLst>
              <a:ext uri="{FF2B5EF4-FFF2-40B4-BE49-F238E27FC236}">
                <a16:creationId xmlns:a16="http://schemas.microsoft.com/office/drawing/2014/main" id="{7A9796F4-DA45-43D1-9C6B-0D29ECF98AA5}"/>
              </a:ext>
            </a:extLst>
          </p:cNvPr>
          <p:cNvPicPr>
            <a:picLocks noChangeAspect="1"/>
          </p:cNvPicPr>
          <p:nvPr/>
        </p:nvPicPr>
        <p:blipFill>
          <a:blip r:embed="rId4"/>
          <a:stretch>
            <a:fillRect/>
          </a:stretch>
        </p:blipFill>
        <p:spPr>
          <a:xfrm>
            <a:off x="838199" y="4767261"/>
            <a:ext cx="7066796" cy="1725613"/>
          </a:xfrm>
          <a:prstGeom prst="rect">
            <a:avLst/>
          </a:prstGeom>
        </p:spPr>
      </p:pic>
    </p:spTree>
    <p:extLst>
      <p:ext uri="{BB962C8B-B14F-4D97-AF65-F5344CB8AC3E}">
        <p14:creationId xmlns:p14="http://schemas.microsoft.com/office/powerpoint/2010/main" val="4191505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0CD41-A031-45B8-8135-AAF41E96E022}"/>
              </a:ext>
            </a:extLst>
          </p:cNvPr>
          <p:cNvSpPr>
            <a:spLocks noGrp="1"/>
          </p:cNvSpPr>
          <p:nvPr>
            <p:ph type="title"/>
          </p:nvPr>
        </p:nvSpPr>
        <p:spPr/>
        <p:txBody>
          <a:bodyPr/>
          <a:lstStyle/>
          <a:p>
            <a:r>
              <a:rPr lang="en-IE"/>
              <a:t>Visibility</a:t>
            </a:r>
          </a:p>
        </p:txBody>
      </p:sp>
      <p:sp>
        <p:nvSpPr>
          <p:cNvPr id="3" name="Content Placeholder 2">
            <a:extLst>
              <a:ext uri="{FF2B5EF4-FFF2-40B4-BE49-F238E27FC236}">
                <a16:creationId xmlns:a16="http://schemas.microsoft.com/office/drawing/2014/main" id="{31AFF750-3471-412C-9BBC-F6A21A300B1E}"/>
              </a:ext>
            </a:extLst>
          </p:cNvPr>
          <p:cNvSpPr>
            <a:spLocks noGrp="1"/>
          </p:cNvSpPr>
          <p:nvPr>
            <p:ph idx="1"/>
          </p:nvPr>
        </p:nvSpPr>
        <p:spPr/>
        <p:txBody>
          <a:bodyPr>
            <a:normAutofit lnSpcReduction="10000"/>
          </a:bodyPr>
          <a:lstStyle/>
          <a:p>
            <a:r>
              <a:rPr lang="en-IE"/>
              <a:t>The only visibility type that caused problems here was private. Why??</a:t>
            </a:r>
          </a:p>
          <a:p>
            <a:endParaRPr lang="en-IE"/>
          </a:p>
          <a:p>
            <a:endParaRPr lang="en-IE"/>
          </a:p>
          <a:p>
            <a:endParaRPr lang="en-IE"/>
          </a:p>
          <a:p>
            <a:endParaRPr lang="en-IE"/>
          </a:p>
          <a:p>
            <a:endParaRPr lang="en-IE"/>
          </a:p>
          <a:p>
            <a:endParaRPr lang="en-IE"/>
          </a:p>
          <a:p>
            <a:r>
              <a:rPr lang="en-IE"/>
              <a:t>The classes are in the same package: all other visibility types work in the same package!</a:t>
            </a:r>
          </a:p>
          <a:p>
            <a:pPr marL="0" indent="0">
              <a:buNone/>
            </a:pPr>
            <a:endParaRPr lang="en-IE"/>
          </a:p>
        </p:txBody>
      </p:sp>
      <p:graphicFrame>
        <p:nvGraphicFramePr>
          <p:cNvPr id="4" name="Content Placeholder 3">
            <a:extLst>
              <a:ext uri="{FF2B5EF4-FFF2-40B4-BE49-F238E27FC236}">
                <a16:creationId xmlns:a16="http://schemas.microsoft.com/office/drawing/2014/main" id="{79AE1F94-D9C1-4E29-9B79-7931251C6725}"/>
              </a:ext>
            </a:extLst>
          </p:cNvPr>
          <p:cNvGraphicFramePr>
            <a:graphicFrameLocks/>
          </p:cNvGraphicFramePr>
          <p:nvPr>
            <p:extLst>
              <p:ext uri="{D42A27DB-BD31-4B8C-83A1-F6EECF244321}">
                <p14:modId xmlns:p14="http://schemas.microsoft.com/office/powerpoint/2010/main" val="4252019391"/>
              </p:ext>
            </p:extLst>
          </p:nvPr>
        </p:nvGraphicFramePr>
        <p:xfrm>
          <a:off x="838200" y="2564821"/>
          <a:ext cx="10515600" cy="212344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3837167679"/>
                    </a:ext>
                  </a:extLst>
                </a:gridCol>
                <a:gridCol w="2103120">
                  <a:extLst>
                    <a:ext uri="{9D8B030D-6E8A-4147-A177-3AD203B41FA5}">
                      <a16:colId xmlns:a16="http://schemas.microsoft.com/office/drawing/2014/main" val="3239769676"/>
                    </a:ext>
                  </a:extLst>
                </a:gridCol>
                <a:gridCol w="2103120">
                  <a:extLst>
                    <a:ext uri="{9D8B030D-6E8A-4147-A177-3AD203B41FA5}">
                      <a16:colId xmlns:a16="http://schemas.microsoft.com/office/drawing/2014/main" val="2350022637"/>
                    </a:ext>
                  </a:extLst>
                </a:gridCol>
                <a:gridCol w="2103120">
                  <a:extLst>
                    <a:ext uri="{9D8B030D-6E8A-4147-A177-3AD203B41FA5}">
                      <a16:colId xmlns:a16="http://schemas.microsoft.com/office/drawing/2014/main" val="1288070868"/>
                    </a:ext>
                  </a:extLst>
                </a:gridCol>
                <a:gridCol w="2103120">
                  <a:extLst>
                    <a:ext uri="{9D8B030D-6E8A-4147-A177-3AD203B41FA5}">
                      <a16:colId xmlns:a16="http://schemas.microsoft.com/office/drawing/2014/main" val="3850273653"/>
                    </a:ext>
                  </a:extLst>
                </a:gridCol>
              </a:tblGrid>
              <a:tr h="370840">
                <a:tc>
                  <a:txBody>
                    <a:bodyPr/>
                    <a:lstStyle/>
                    <a:p>
                      <a:r>
                        <a:rPr lang="en-IE"/>
                        <a:t>Visibility</a:t>
                      </a:r>
                    </a:p>
                  </a:txBody>
                  <a:tcPr/>
                </a:tc>
                <a:tc>
                  <a:txBody>
                    <a:bodyPr/>
                    <a:lstStyle/>
                    <a:p>
                      <a:r>
                        <a:rPr lang="en-IE"/>
                        <a:t>Class</a:t>
                      </a:r>
                    </a:p>
                  </a:txBody>
                  <a:tcPr/>
                </a:tc>
                <a:tc>
                  <a:txBody>
                    <a:bodyPr/>
                    <a:lstStyle/>
                    <a:p>
                      <a:r>
                        <a:rPr lang="en-IE"/>
                        <a:t>Package</a:t>
                      </a:r>
                    </a:p>
                  </a:txBody>
                  <a:tcPr/>
                </a:tc>
                <a:tc>
                  <a:txBody>
                    <a:bodyPr/>
                    <a:lstStyle/>
                    <a:p>
                      <a:r>
                        <a:rPr lang="en-IE"/>
                        <a:t>Subclass</a:t>
                      </a:r>
                    </a:p>
                  </a:txBody>
                  <a:tcPr/>
                </a:tc>
                <a:tc>
                  <a:txBody>
                    <a:bodyPr/>
                    <a:lstStyle/>
                    <a:p>
                      <a:r>
                        <a:rPr lang="en-IE"/>
                        <a:t>World</a:t>
                      </a:r>
                    </a:p>
                  </a:txBody>
                  <a:tcPr/>
                </a:tc>
                <a:extLst>
                  <a:ext uri="{0D108BD9-81ED-4DB2-BD59-A6C34878D82A}">
                    <a16:rowId xmlns:a16="http://schemas.microsoft.com/office/drawing/2014/main" val="1996487948"/>
                  </a:ext>
                </a:extLst>
              </a:tr>
              <a:tr h="370840">
                <a:tc>
                  <a:txBody>
                    <a:bodyPr/>
                    <a:lstStyle/>
                    <a:p>
                      <a:r>
                        <a:rPr lang="en-IE"/>
                        <a:t>Public</a:t>
                      </a:r>
                    </a:p>
                  </a:txBody>
                  <a:tcPr/>
                </a:tc>
                <a:tc>
                  <a:txBody>
                    <a:bodyPr/>
                    <a:lstStyle/>
                    <a:p>
                      <a:r>
                        <a:rPr lang="en-IE"/>
                        <a:t>Y</a:t>
                      </a:r>
                    </a:p>
                  </a:txBody>
                  <a:tcPr/>
                </a:tc>
                <a:tc>
                  <a:txBody>
                    <a:bodyPr/>
                    <a:lstStyle/>
                    <a:p>
                      <a:r>
                        <a:rPr lang="en-IE"/>
                        <a:t>Y</a:t>
                      </a:r>
                    </a:p>
                  </a:txBody>
                  <a:tcPr/>
                </a:tc>
                <a:tc>
                  <a:txBody>
                    <a:bodyPr/>
                    <a:lstStyle/>
                    <a:p>
                      <a:r>
                        <a:rPr lang="en-IE"/>
                        <a:t>Y</a:t>
                      </a:r>
                    </a:p>
                  </a:txBody>
                  <a:tcPr/>
                </a:tc>
                <a:tc>
                  <a:txBody>
                    <a:bodyPr/>
                    <a:lstStyle/>
                    <a:p>
                      <a:r>
                        <a:rPr lang="en-IE"/>
                        <a:t>Y</a:t>
                      </a:r>
                    </a:p>
                  </a:txBody>
                  <a:tcPr/>
                </a:tc>
                <a:extLst>
                  <a:ext uri="{0D108BD9-81ED-4DB2-BD59-A6C34878D82A}">
                    <a16:rowId xmlns:a16="http://schemas.microsoft.com/office/drawing/2014/main" val="979728618"/>
                  </a:ext>
                </a:extLst>
              </a:tr>
              <a:tr h="370840">
                <a:tc>
                  <a:txBody>
                    <a:bodyPr/>
                    <a:lstStyle/>
                    <a:p>
                      <a:r>
                        <a:rPr lang="en-IE"/>
                        <a:t>Protected</a:t>
                      </a:r>
                    </a:p>
                  </a:txBody>
                  <a:tcPr/>
                </a:tc>
                <a:tc>
                  <a:txBody>
                    <a:bodyPr/>
                    <a:lstStyle/>
                    <a:p>
                      <a:r>
                        <a:rPr lang="en-IE"/>
                        <a:t>Y</a:t>
                      </a:r>
                    </a:p>
                  </a:txBody>
                  <a:tcPr/>
                </a:tc>
                <a:tc>
                  <a:txBody>
                    <a:bodyPr/>
                    <a:lstStyle/>
                    <a:p>
                      <a:r>
                        <a:rPr lang="en-IE"/>
                        <a:t>Y</a:t>
                      </a:r>
                    </a:p>
                  </a:txBody>
                  <a:tcPr/>
                </a:tc>
                <a:tc>
                  <a:txBody>
                    <a:bodyPr/>
                    <a:lstStyle/>
                    <a:p>
                      <a:r>
                        <a:rPr lang="en-IE"/>
                        <a:t>Y</a:t>
                      </a:r>
                    </a:p>
                  </a:txBody>
                  <a:tcPr/>
                </a:tc>
                <a:tc>
                  <a:txBody>
                    <a:bodyPr/>
                    <a:lstStyle/>
                    <a:p>
                      <a:r>
                        <a:rPr lang="en-IE"/>
                        <a:t>N</a:t>
                      </a:r>
                    </a:p>
                  </a:txBody>
                  <a:tcPr/>
                </a:tc>
                <a:extLst>
                  <a:ext uri="{0D108BD9-81ED-4DB2-BD59-A6C34878D82A}">
                    <a16:rowId xmlns:a16="http://schemas.microsoft.com/office/drawing/2014/main" val="1769650697"/>
                  </a:ext>
                </a:extLst>
              </a:tr>
              <a:tr h="370840">
                <a:tc>
                  <a:txBody>
                    <a:bodyPr/>
                    <a:lstStyle/>
                    <a:p>
                      <a:r>
                        <a:rPr lang="en-IE"/>
                        <a:t>Package (no modifier)</a:t>
                      </a:r>
                    </a:p>
                  </a:txBody>
                  <a:tcPr/>
                </a:tc>
                <a:tc>
                  <a:txBody>
                    <a:bodyPr/>
                    <a:lstStyle/>
                    <a:p>
                      <a:r>
                        <a:rPr lang="en-IE"/>
                        <a:t>Y</a:t>
                      </a:r>
                    </a:p>
                  </a:txBody>
                  <a:tcPr/>
                </a:tc>
                <a:tc>
                  <a:txBody>
                    <a:bodyPr/>
                    <a:lstStyle/>
                    <a:p>
                      <a:r>
                        <a:rPr lang="en-IE"/>
                        <a:t>Y</a:t>
                      </a:r>
                    </a:p>
                  </a:txBody>
                  <a:tcPr/>
                </a:tc>
                <a:tc>
                  <a:txBody>
                    <a:bodyPr/>
                    <a:lstStyle/>
                    <a:p>
                      <a:r>
                        <a:rPr lang="en-IE"/>
                        <a:t>N</a:t>
                      </a:r>
                    </a:p>
                  </a:txBody>
                  <a:tcPr/>
                </a:tc>
                <a:tc>
                  <a:txBody>
                    <a:bodyPr/>
                    <a:lstStyle/>
                    <a:p>
                      <a:r>
                        <a:rPr lang="en-IE"/>
                        <a:t>N</a:t>
                      </a:r>
                    </a:p>
                  </a:txBody>
                  <a:tcPr/>
                </a:tc>
                <a:extLst>
                  <a:ext uri="{0D108BD9-81ED-4DB2-BD59-A6C34878D82A}">
                    <a16:rowId xmlns:a16="http://schemas.microsoft.com/office/drawing/2014/main" val="1389047784"/>
                  </a:ext>
                </a:extLst>
              </a:tr>
              <a:tr h="370840">
                <a:tc>
                  <a:txBody>
                    <a:bodyPr/>
                    <a:lstStyle/>
                    <a:p>
                      <a:r>
                        <a:rPr lang="en-IE"/>
                        <a:t>Private</a:t>
                      </a:r>
                    </a:p>
                  </a:txBody>
                  <a:tcPr/>
                </a:tc>
                <a:tc>
                  <a:txBody>
                    <a:bodyPr/>
                    <a:lstStyle/>
                    <a:p>
                      <a:r>
                        <a:rPr lang="en-IE"/>
                        <a:t>Y</a:t>
                      </a:r>
                    </a:p>
                  </a:txBody>
                  <a:tcPr/>
                </a:tc>
                <a:tc>
                  <a:txBody>
                    <a:bodyPr/>
                    <a:lstStyle/>
                    <a:p>
                      <a:r>
                        <a:rPr lang="en-IE"/>
                        <a:t>N</a:t>
                      </a:r>
                    </a:p>
                  </a:txBody>
                  <a:tcPr/>
                </a:tc>
                <a:tc>
                  <a:txBody>
                    <a:bodyPr/>
                    <a:lstStyle/>
                    <a:p>
                      <a:r>
                        <a:rPr lang="en-IE"/>
                        <a:t>N</a:t>
                      </a:r>
                    </a:p>
                  </a:txBody>
                  <a:tcPr/>
                </a:tc>
                <a:tc>
                  <a:txBody>
                    <a:bodyPr/>
                    <a:lstStyle/>
                    <a:p>
                      <a:r>
                        <a:rPr lang="en-IE"/>
                        <a:t>N</a:t>
                      </a:r>
                    </a:p>
                  </a:txBody>
                  <a:tcPr/>
                </a:tc>
                <a:extLst>
                  <a:ext uri="{0D108BD9-81ED-4DB2-BD59-A6C34878D82A}">
                    <a16:rowId xmlns:a16="http://schemas.microsoft.com/office/drawing/2014/main" val="4178151678"/>
                  </a:ext>
                </a:extLst>
              </a:tr>
            </a:tbl>
          </a:graphicData>
        </a:graphic>
      </p:graphicFrame>
    </p:spTree>
    <p:extLst>
      <p:ext uri="{BB962C8B-B14F-4D97-AF65-F5344CB8AC3E}">
        <p14:creationId xmlns:p14="http://schemas.microsoft.com/office/powerpoint/2010/main" val="34070855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B4301-8DE9-441F-AE8B-6511E4840263}"/>
              </a:ext>
            </a:extLst>
          </p:cNvPr>
          <p:cNvSpPr>
            <a:spLocks noGrp="1"/>
          </p:cNvSpPr>
          <p:nvPr>
            <p:ph type="title"/>
          </p:nvPr>
        </p:nvSpPr>
        <p:spPr/>
        <p:txBody>
          <a:bodyPr/>
          <a:lstStyle/>
          <a:p>
            <a:r>
              <a:rPr lang="en-IE"/>
              <a:t>Imagine….</a:t>
            </a:r>
          </a:p>
        </p:txBody>
      </p:sp>
      <p:sp>
        <p:nvSpPr>
          <p:cNvPr id="3" name="Content Placeholder 2">
            <a:extLst>
              <a:ext uri="{FF2B5EF4-FFF2-40B4-BE49-F238E27FC236}">
                <a16:creationId xmlns:a16="http://schemas.microsoft.com/office/drawing/2014/main" id="{59D0438A-E0DC-4D1A-8AEE-3230C33F730E}"/>
              </a:ext>
            </a:extLst>
          </p:cNvPr>
          <p:cNvSpPr>
            <a:spLocks noGrp="1"/>
          </p:cNvSpPr>
          <p:nvPr>
            <p:ph idx="1"/>
          </p:nvPr>
        </p:nvSpPr>
        <p:spPr/>
        <p:txBody>
          <a:bodyPr/>
          <a:lstStyle/>
          <a:p>
            <a:r>
              <a:rPr lang="en-IE"/>
              <a:t>Imagine you are in charge of writing the software for a local bank</a:t>
            </a:r>
          </a:p>
          <a:p>
            <a:r>
              <a:rPr lang="en-IE"/>
              <a:t>They want the most basic function possible</a:t>
            </a:r>
          </a:p>
          <a:p>
            <a:r>
              <a:rPr lang="en-IE"/>
              <a:t>People need to:</a:t>
            </a:r>
          </a:p>
          <a:p>
            <a:pPr lvl="1"/>
            <a:r>
              <a:rPr lang="en-IE"/>
              <a:t>Open an account (they can open an account without lodging money)</a:t>
            </a:r>
          </a:p>
          <a:p>
            <a:pPr lvl="1"/>
            <a:r>
              <a:rPr lang="en-IE"/>
              <a:t>Lodge money</a:t>
            </a:r>
          </a:p>
          <a:p>
            <a:pPr lvl="1"/>
            <a:r>
              <a:rPr lang="en-IE"/>
              <a:t>Withdraw money</a:t>
            </a:r>
          </a:p>
          <a:p>
            <a:pPr lvl="1"/>
            <a:r>
              <a:rPr lang="en-IE"/>
              <a:t>Get their balance</a:t>
            </a:r>
          </a:p>
          <a:p>
            <a:pPr lvl="1"/>
            <a:endParaRPr lang="en-IE"/>
          </a:p>
          <a:p>
            <a:endParaRPr lang="en-IE"/>
          </a:p>
          <a:p>
            <a:endParaRPr lang="en-IE"/>
          </a:p>
        </p:txBody>
      </p:sp>
    </p:spTree>
    <p:extLst>
      <p:ext uri="{BB962C8B-B14F-4D97-AF65-F5344CB8AC3E}">
        <p14:creationId xmlns:p14="http://schemas.microsoft.com/office/powerpoint/2010/main" val="20022278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CFBFD-86F6-484F-91B9-FA3458314006}"/>
              </a:ext>
            </a:extLst>
          </p:cNvPr>
          <p:cNvSpPr>
            <a:spLocks noGrp="1"/>
          </p:cNvSpPr>
          <p:nvPr>
            <p:ph type="title"/>
          </p:nvPr>
        </p:nvSpPr>
        <p:spPr/>
        <p:txBody>
          <a:bodyPr/>
          <a:lstStyle/>
          <a:p>
            <a:r>
              <a:rPr lang="en-IE"/>
              <a:t>Simple Bank Account</a:t>
            </a:r>
          </a:p>
        </p:txBody>
      </p:sp>
      <p:pic>
        <p:nvPicPr>
          <p:cNvPr id="4" name="Content Placeholder 3">
            <a:extLst>
              <a:ext uri="{FF2B5EF4-FFF2-40B4-BE49-F238E27FC236}">
                <a16:creationId xmlns:a16="http://schemas.microsoft.com/office/drawing/2014/main" id="{67AB20BB-E38A-417F-9E5C-CBA7F050949D}"/>
              </a:ext>
            </a:extLst>
          </p:cNvPr>
          <p:cNvPicPr>
            <a:picLocks noGrp="1" noChangeAspect="1"/>
          </p:cNvPicPr>
          <p:nvPr>
            <p:ph idx="1"/>
          </p:nvPr>
        </p:nvPicPr>
        <p:blipFill>
          <a:blip r:embed="rId2"/>
          <a:stretch>
            <a:fillRect/>
          </a:stretch>
        </p:blipFill>
        <p:spPr>
          <a:xfrm>
            <a:off x="730820" y="1884189"/>
            <a:ext cx="3833578" cy="4786433"/>
          </a:xfrm>
          <a:prstGeom prst="rect">
            <a:avLst/>
          </a:prstGeom>
        </p:spPr>
      </p:pic>
    </p:spTree>
    <p:extLst>
      <p:ext uri="{BB962C8B-B14F-4D97-AF65-F5344CB8AC3E}">
        <p14:creationId xmlns:p14="http://schemas.microsoft.com/office/powerpoint/2010/main" val="25012029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CFBFD-86F6-484F-91B9-FA3458314006}"/>
              </a:ext>
            </a:extLst>
          </p:cNvPr>
          <p:cNvSpPr>
            <a:spLocks noGrp="1"/>
          </p:cNvSpPr>
          <p:nvPr>
            <p:ph type="title"/>
          </p:nvPr>
        </p:nvSpPr>
        <p:spPr/>
        <p:txBody>
          <a:bodyPr/>
          <a:lstStyle/>
          <a:p>
            <a:r>
              <a:rPr lang="en-IE"/>
              <a:t>Simple Bank Account</a:t>
            </a:r>
          </a:p>
        </p:txBody>
      </p:sp>
      <p:pic>
        <p:nvPicPr>
          <p:cNvPr id="4" name="Content Placeholder 3">
            <a:extLst>
              <a:ext uri="{FF2B5EF4-FFF2-40B4-BE49-F238E27FC236}">
                <a16:creationId xmlns:a16="http://schemas.microsoft.com/office/drawing/2014/main" id="{67AB20BB-E38A-417F-9E5C-CBA7F050949D}"/>
              </a:ext>
            </a:extLst>
          </p:cNvPr>
          <p:cNvPicPr>
            <a:picLocks noGrp="1" noChangeAspect="1"/>
          </p:cNvPicPr>
          <p:nvPr>
            <p:ph idx="1"/>
          </p:nvPr>
        </p:nvPicPr>
        <p:blipFill>
          <a:blip r:embed="rId2"/>
          <a:stretch>
            <a:fillRect/>
          </a:stretch>
        </p:blipFill>
        <p:spPr>
          <a:xfrm>
            <a:off x="730820" y="1884189"/>
            <a:ext cx="3833578" cy="4786433"/>
          </a:xfrm>
          <a:prstGeom prst="rect">
            <a:avLst/>
          </a:prstGeom>
        </p:spPr>
      </p:pic>
      <p:sp>
        <p:nvSpPr>
          <p:cNvPr id="6" name="TextBox 5">
            <a:extLst>
              <a:ext uri="{FF2B5EF4-FFF2-40B4-BE49-F238E27FC236}">
                <a16:creationId xmlns:a16="http://schemas.microsoft.com/office/drawing/2014/main" id="{CFCFA44E-03D2-4035-87C3-4834C1F03B51}"/>
              </a:ext>
            </a:extLst>
          </p:cNvPr>
          <p:cNvSpPr txBox="1"/>
          <p:nvPr/>
        </p:nvSpPr>
        <p:spPr>
          <a:xfrm>
            <a:off x="7704943" y="3252866"/>
            <a:ext cx="3387777" cy="1754326"/>
          </a:xfrm>
          <a:prstGeom prst="rect">
            <a:avLst/>
          </a:prstGeom>
          <a:noFill/>
        </p:spPr>
        <p:txBody>
          <a:bodyPr wrap="square" rtlCol="0">
            <a:spAutoFit/>
          </a:bodyPr>
          <a:lstStyle/>
          <a:p>
            <a:r>
              <a:rPr lang="en-IE"/>
              <a:t>This is bad coding practice. We should be using our </a:t>
            </a:r>
            <a:r>
              <a:rPr lang="en-IE" err="1"/>
              <a:t>setBalance</a:t>
            </a:r>
            <a:r>
              <a:rPr lang="en-IE"/>
              <a:t>.</a:t>
            </a:r>
          </a:p>
          <a:p>
            <a:endParaRPr lang="en-IE"/>
          </a:p>
          <a:p>
            <a:r>
              <a:rPr lang="en-IE"/>
              <a:t>I’ll show proper coding practice in a separate file, but for now we’ll keep it simple!</a:t>
            </a:r>
          </a:p>
        </p:txBody>
      </p:sp>
      <p:cxnSp>
        <p:nvCxnSpPr>
          <p:cNvPr id="8" name="Straight Arrow Connector 7">
            <a:extLst>
              <a:ext uri="{FF2B5EF4-FFF2-40B4-BE49-F238E27FC236}">
                <a16:creationId xmlns:a16="http://schemas.microsoft.com/office/drawing/2014/main" id="{7FBB142E-49A8-418D-9C2B-C78B78D87D85}"/>
              </a:ext>
            </a:extLst>
          </p:cNvPr>
          <p:cNvCxnSpPr>
            <a:cxnSpLocks/>
          </p:cNvCxnSpPr>
          <p:nvPr/>
        </p:nvCxnSpPr>
        <p:spPr>
          <a:xfrm flipH="1">
            <a:off x="4272197" y="3597639"/>
            <a:ext cx="3582649" cy="17088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71A2CD69-8AD4-401B-B11E-AF6F60515C23}"/>
              </a:ext>
            </a:extLst>
          </p:cNvPr>
          <p:cNvCxnSpPr>
            <a:cxnSpLocks/>
          </p:cNvCxnSpPr>
          <p:nvPr/>
        </p:nvCxnSpPr>
        <p:spPr>
          <a:xfrm flipH="1">
            <a:off x="4272197" y="3597639"/>
            <a:ext cx="3582650" cy="23834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10904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4E5A7-4DFF-4392-A26C-F46120A38E13}"/>
              </a:ext>
            </a:extLst>
          </p:cNvPr>
          <p:cNvSpPr>
            <a:spLocks noGrp="1"/>
          </p:cNvSpPr>
          <p:nvPr>
            <p:ph type="title"/>
          </p:nvPr>
        </p:nvSpPr>
        <p:spPr/>
        <p:txBody>
          <a:bodyPr/>
          <a:lstStyle/>
          <a:p>
            <a:r>
              <a:rPr lang="en-IE"/>
              <a:t>Testing….</a:t>
            </a:r>
          </a:p>
        </p:txBody>
      </p:sp>
      <p:sp>
        <p:nvSpPr>
          <p:cNvPr id="3" name="Content Placeholder 2">
            <a:extLst>
              <a:ext uri="{FF2B5EF4-FFF2-40B4-BE49-F238E27FC236}">
                <a16:creationId xmlns:a16="http://schemas.microsoft.com/office/drawing/2014/main" id="{1380FD9D-1D02-4213-A1B8-0DF3AE774CBC}"/>
              </a:ext>
            </a:extLst>
          </p:cNvPr>
          <p:cNvSpPr>
            <a:spLocks noGrp="1"/>
          </p:cNvSpPr>
          <p:nvPr>
            <p:ph idx="1"/>
          </p:nvPr>
        </p:nvSpPr>
        <p:spPr/>
        <p:txBody>
          <a:bodyPr/>
          <a:lstStyle/>
          <a:p>
            <a:endParaRPr lang="en-IE"/>
          </a:p>
        </p:txBody>
      </p:sp>
      <p:pic>
        <p:nvPicPr>
          <p:cNvPr id="5" name="Picture 4">
            <a:extLst>
              <a:ext uri="{FF2B5EF4-FFF2-40B4-BE49-F238E27FC236}">
                <a16:creationId xmlns:a16="http://schemas.microsoft.com/office/drawing/2014/main" id="{4600E827-0903-4CCB-AEA3-016E88DF7B27}"/>
              </a:ext>
            </a:extLst>
          </p:cNvPr>
          <p:cNvPicPr>
            <a:picLocks noChangeAspect="1"/>
          </p:cNvPicPr>
          <p:nvPr/>
        </p:nvPicPr>
        <p:blipFill>
          <a:blip r:embed="rId2"/>
          <a:stretch>
            <a:fillRect/>
          </a:stretch>
        </p:blipFill>
        <p:spPr>
          <a:xfrm>
            <a:off x="716338" y="1825625"/>
            <a:ext cx="6181756" cy="4351338"/>
          </a:xfrm>
          <a:prstGeom prst="rect">
            <a:avLst/>
          </a:prstGeom>
        </p:spPr>
      </p:pic>
      <p:pic>
        <p:nvPicPr>
          <p:cNvPr id="6" name="Picture 5">
            <a:extLst>
              <a:ext uri="{FF2B5EF4-FFF2-40B4-BE49-F238E27FC236}">
                <a16:creationId xmlns:a16="http://schemas.microsoft.com/office/drawing/2014/main" id="{2EF182A0-3519-439E-BEC4-41E8B23F19E2}"/>
              </a:ext>
            </a:extLst>
          </p:cNvPr>
          <p:cNvPicPr>
            <a:picLocks noChangeAspect="1"/>
          </p:cNvPicPr>
          <p:nvPr/>
        </p:nvPicPr>
        <p:blipFill>
          <a:blip r:embed="rId3"/>
          <a:stretch>
            <a:fillRect/>
          </a:stretch>
        </p:blipFill>
        <p:spPr>
          <a:xfrm>
            <a:off x="8129676" y="2359818"/>
            <a:ext cx="2974080" cy="4351337"/>
          </a:xfrm>
          <a:prstGeom prst="rect">
            <a:avLst/>
          </a:prstGeom>
        </p:spPr>
      </p:pic>
    </p:spTree>
    <p:extLst>
      <p:ext uri="{BB962C8B-B14F-4D97-AF65-F5344CB8AC3E}">
        <p14:creationId xmlns:p14="http://schemas.microsoft.com/office/powerpoint/2010/main" val="3901202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217CA-BD84-4DE5-B7DF-98D0881B7237}"/>
              </a:ext>
            </a:extLst>
          </p:cNvPr>
          <p:cNvSpPr>
            <a:spLocks noGrp="1"/>
          </p:cNvSpPr>
          <p:nvPr>
            <p:ph type="title"/>
          </p:nvPr>
        </p:nvSpPr>
        <p:spPr/>
        <p:txBody>
          <a:bodyPr/>
          <a:lstStyle/>
          <a:p>
            <a:r>
              <a:rPr lang="en-IE"/>
              <a:t>Error Checking Lodging</a:t>
            </a:r>
          </a:p>
        </p:txBody>
      </p:sp>
      <p:sp>
        <p:nvSpPr>
          <p:cNvPr id="3" name="Content Placeholder 2">
            <a:extLst>
              <a:ext uri="{FF2B5EF4-FFF2-40B4-BE49-F238E27FC236}">
                <a16:creationId xmlns:a16="http://schemas.microsoft.com/office/drawing/2014/main" id="{285B4767-EF45-49FB-BECD-27A4F3057D42}"/>
              </a:ext>
            </a:extLst>
          </p:cNvPr>
          <p:cNvSpPr>
            <a:spLocks noGrp="1"/>
          </p:cNvSpPr>
          <p:nvPr>
            <p:ph idx="1"/>
          </p:nvPr>
        </p:nvSpPr>
        <p:spPr/>
        <p:txBody>
          <a:bodyPr/>
          <a:lstStyle/>
          <a:p>
            <a:r>
              <a:rPr lang="en-IE"/>
              <a:t>Possible Problems?</a:t>
            </a:r>
          </a:p>
          <a:p>
            <a:pPr lvl="1"/>
            <a:r>
              <a:rPr lang="en-IE"/>
              <a:t>Lodging 0 or minus amounts:</a:t>
            </a:r>
          </a:p>
        </p:txBody>
      </p:sp>
      <p:pic>
        <p:nvPicPr>
          <p:cNvPr id="4" name="Picture 3">
            <a:extLst>
              <a:ext uri="{FF2B5EF4-FFF2-40B4-BE49-F238E27FC236}">
                <a16:creationId xmlns:a16="http://schemas.microsoft.com/office/drawing/2014/main" id="{33BEAA59-C87A-41E7-9E65-0BCD91BE348B}"/>
              </a:ext>
            </a:extLst>
          </p:cNvPr>
          <p:cNvPicPr>
            <a:picLocks noChangeAspect="1"/>
          </p:cNvPicPr>
          <p:nvPr/>
        </p:nvPicPr>
        <p:blipFill>
          <a:blip r:embed="rId2"/>
          <a:stretch>
            <a:fillRect/>
          </a:stretch>
        </p:blipFill>
        <p:spPr>
          <a:xfrm>
            <a:off x="1116621" y="3273942"/>
            <a:ext cx="9442138" cy="2212457"/>
          </a:xfrm>
          <a:prstGeom prst="rect">
            <a:avLst/>
          </a:prstGeom>
        </p:spPr>
      </p:pic>
    </p:spTree>
    <p:extLst>
      <p:ext uri="{BB962C8B-B14F-4D97-AF65-F5344CB8AC3E}">
        <p14:creationId xmlns:p14="http://schemas.microsoft.com/office/powerpoint/2010/main" val="24846147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217CA-BD84-4DE5-B7DF-98D0881B7237}"/>
              </a:ext>
            </a:extLst>
          </p:cNvPr>
          <p:cNvSpPr>
            <a:spLocks noGrp="1"/>
          </p:cNvSpPr>
          <p:nvPr>
            <p:ph type="title"/>
          </p:nvPr>
        </p:nvSpPr>
        <p:spPr/>
        <p:txBody>
          <a:bodyPr/>
          <a:lstStyle/>
          <a:p>
            <a:r>
              <a:rPr lang="en-IE"/>
              <a:t>Error Checking Withdrawing</a:t>
            </a:r>
          </a:p>
        </p:txBody>
      </p:sp>
      <p:sp>
        <p:nvSpPr>
          <p:cNvPr id="3" name="Content Placeholder 2">
            <a:extLst>
              <a:ext uri="{FF2B5EF4-FFF2-40B4-BE49-F238E27FC236}">
                <a16:creationId xmlns:a16="http://schemas.microsoft.com/office/drawing/2014/main" id="{285B4767-EF45-49FB-BECD-27A4F3057D42}"/>
              </a:ext>
            </a:extLst>
          </p:cNvPr>
          <p:cNvSpPr>
            <a:spLocks noGrp="1"/>
          </p:cNvSpPr>
          <p:nvPr>
            <p:ph idx="1"/>
          </p:nvPr>
        </p:nvSpPr>
        <p:spPr/>
        <p:txBody>
          <a:bodyPr/>
          <a:lstStyle/>
          <a:p>
            <a:r>
              <a:rPr lang="en-IE"/>
              <a:t>Possible Problems?</a:t>
            </a:r>
          </a:p>
          <a:p>
            <a:pPr lvl="1"/>
            <a:r>
              <a:rPr lang="en-IE"/>
              <a:t>Withdrawing more than in the account</a:t>
            </a:r>
          </a:p>
          <a:p>
            <a:pPr lvl="1"/>
            <a:r>
              <a:rPr lang="en-IE"/>
              <a:t>Withdrawing 0 or minus amounts</a:t>
            </a:r>
          </a:p>
        </p:txBody>
      </p:sp>
      <p:pic>
        <p:nvPicPr>
          <p:cNvPr id="6" name="Picture 5">
            <a:extLst>
              <a:ext uri="{FF2B5EF4-FFF2-40B4-BE49-F238E27FC236}">
                <a16:creationId xmlns:a16="http://schemas.microsoft.com/office/drawing/2014/main" id="{AF9D07F8-4BCC-4305-BEEA-FF0882A06390}"/>
              </a:ext>
            </a:extLst>
          </p:cNvPr>
          <p:cNvPicPr>
            <a:picLocks noChangeAspect="1"/>
          </p:cNvPicPr>
          <p:nvPr/>
        </p:nvPicPr>
        <p:blipFill>
          <a:blip r:embed="rId2"/>
          <a:stretch>
            <a:fillRect/>
          </a:stretch>
        </p:blipFill>
        <p:spPr>
          <a:xfrm>
            <a:off x="1042036" y="3470223"/>
            <a:ext cx="8799971" cy="2300990"/>
          </a:xfrm>
          <a:prstGeom prst="rect">
            <a:avLst/>
          </a:prstGeom>
        </p:spPr>
      </p:pic>
    </p:spTree>
    <p:extLst>
      <p:ext uri="{BB962C8B-B14F-4D97-AF65-F5344CB8AC3E}">
        <p14:creationId xmlns:p14="http://schemas.microsoft.com/office/powerpoint/2010/main" val="26393456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4E5A7-4DFF-4392-A26C-F46120A38E13}"/>
              </a:ext>
            </a:extLst>
          </p:cNvPr>
          <p:cNvSpPr>
            <a:spLocks noGrp="1"/>
          </p:cNvSpPr>
          <p:nvPr>
            <p:ph type="title"/>
          </p:nvPr>
        </p:nvSpPr>
        <p:spPr/>
        <p:txBody>
          <a:bodyPr/>
          <a:lstStyle/>
          <a:p>
            <a:r>
              <a:rPr lang="en-IE"/>
              <a:t>Testing….</a:t>
            </a:r>
          </a:p>
        </p:txBody>
      </p:sp>
      <p:sp>
        <p:nvSpPr>
          <p:cNvPr id="3" name="Content Placeholder 2">
            <a:extLst>
              <a:ext uri="{FF2B5EF4-FFF2-40B4-BE49-F238E27FC236}">
                <a16:creationId xmlns:a16="http://schemas.microsoft.com/office/drawing/2014/main" id="{1380FD9D-1D02-4213-A1B8-0DF3AE774CBC}"/>
              </a:ext>
            </a:extLst>
          </p:cNvPr>
          <p:cNvSpPr>
            <a:spLocks noGrp="1"/>
          </p:cNvSpPr>
          <p:nvPr>
            <p:ph idx="1"/>
          </p:nvPr>
        </p:nvSpPr>
        <p:spPr/>
        <p:txBody>
          <a:bodyPr/>
          <a:lstStyle/>
          <a:p>
            <a:endParaRPr lang="en-IE"/>
          </a:p>
        </p:txBody>
      </p:sp>
      <p:pic>
        <p:nvPicPr>
          <p:cNvPr id="5" name="Picture 4">
            <a:extLst>
              <a:ext uri="{FF2B5EF4-FFF2-40B4-BE49-F238E27FC236}">
                <a16:creationId xmlns:a16="http://schemas.microsoft.com/office/drawing/2014/main" id="{4600E827-0903-4CCB-AEA3-016E88DF7B27}"/>
              </a:ext>
            </a:extLst>
          </p:cNvPr>
          <p:cNvPicPr>
            <a:picLocks noChangeAspect="1"/>
          </p:cNvPicPr>
          <p:nvPr/>
        </p:nvPicPr>
        <p:blipFill>
          <a:blip r:embed="rId2"/>
          <a:stretch>
            <a:fillRect/>
          </a:stretch>
        </p:blipFill>
        <p:spPr>
          <a:xfrm>
            <a:off x="716338" y="1825625"/>
            <a:ext cx="6181756" cy="4351338"/>
          </a:xfrm>
          <a:prstGeom prst="rect">
            <a:avLst/>
          </a:prstGeom>
        </p:spPr>
      </p:pic>
      <p:pic>
        <p:nvPicPr>
          <p:cNvPr id="8" name="Picture 7">
            <a:extLst>
              <a:ext uri="{FF2B5EF4-FFF2-40B4-BE49-F238E27FC236}">
                <a16:creationId xmlns:a16="http://schemas.microsoft.com/office/drawing/2014/main" id="{210156C8-C601-4AA1-87DB-865B22624EC1}"/>
              </a:ext>
            </a:extLst>
          </p:cNvPr>
          <p:cNvPicPr>
            <a:picLocks noChangeAspect="1"/>
          </p:cNvPicPr>
          <p:nvPr/>
        </p:nvPicPr>
        <p:blipFill>
          <a:blip r:embed="rId3"/>
          <a:stretch>
            <a:fillRect/>
          </a:stretch>
        </p:blipFill>
        <p:spPr>
          <a:xfrm>
            <a:off x="7019956" y="2655572"/>
            <a:ext cx="4595995" cy="3521391"/>
          </a:xfrm>
          <a:prstGeom prst="rect">
            <a:avLst/>
          </a:prstGeom>
        </p:spPr>
      </p:pic>
    </p:spTree>
    <p:extLst>
      <p:ext uri="{BB962C8B-B14F-4D97-AF65-F5344CB8AC3E}">
        <p14:creationId xmlns:p14="http://schemas.microsoft.com/office/powerpoint/2010/main" val="18586523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86A4B-44D3-4932-97A7-A67CF0BBC407}"/>
              </a:ext>
            </a:extLst>
          </p:cNvPr>
          <p:cNvSpPr>
            <a:spLocks noGrp="1"/>
          </p:cNvSpPr>
          <p:nvPr>
            <p:ph type="title"/>
          </p:nvPr>
        </p:nvSpPr>
        <p:spPr/>
        <p:txBody>
          <a:bodyPr/>
          <a:lstStyle/>
          <a:p>
            <a:r>
              <a:rPr lang="en-US">
                <a:cs typeface="Calibri Light"/>
              </a:rPr>
              <a:t>Exercise</a:t>
            </a:r>
            <a:endParaRPr lang="en-US"/>
          </a:p>
        </p:txBody>
      </p:sp>
      <p:sp>
        <p:nvSpPr>
          <p:cNvPr id="3" name="Content Placeholder 2">
            <a:extLst>
              <a:ext uri="{FF2B5EF4-FFF2-40B4-BE49-F238E27FC236}">
                <a16:creationId xmlns:a16="http://schemas.microsoft.com/office/drawing/2014/main" id="{D3D6A105-762E-4735-B3E2-C335047CF812}"/>
              </a:ext>
            </a:extLst>
          </p:cNvPr>
          <p:cNvSpPr>
            <a:spLocks noGrp="1"/>
          </p:cNvSpPr>
          <p:nvPr>
            <p:ph idx="1"/>
          </p:nvPr>
        </p:nvSpPr>
        <p:spPr/>
        <p:txBody>
          <a:bodyPr vert="horz" lIns="91440" tIns="45720" rIns="91440" bIns="45720" rtlCol="0" anchor="t">
            <a:normAutofit lnSpcReduction="10000"/>
          </a:bodyPr>
          <a:lstStyle/>
          <a:p>
            <a:r>
              <a:rPr lang="en-US">
                <a:cs typeface="Calibri"/>
              </a:rPr>
              <a:t>Create a basic bank account class like we just saw</a:t>
            </a:r>
          </a:p>
          <a:p>
            <a:r>
              <a:rPr lang="en-US">
                <a:cs typeface="Calibri"/>
              </a:rPr>
              <a:t>Name</a:t>
            </a:r>
          </a:p>
          <a:p>
            <a:r>
              <a:rPr lang="en-US">
                <a:cs typeface="Calibri"/>
              </a:rPr>
              <a:t>Address</a:t>
            </a:r>
          </a:p>
          <a:p>
            <a:r>
              <a:rPr lang="en-US">
                <a:cs typeface="Calibri"/>
              </a:rPr>
              <a:t>Balance</a:t>
            </a:r>
          </a:p>
          <a:p>
            <a:r>
              <a:rPr lang="en-US">
                <a:cs typeface="Calibri"/>
              </a:rPr>
              <a:t>Phone Number</a:t>
            </a:r>
          </a:p>
          <a:p>
            <a:r>
              <a:rPr lang="en-US">
                <a:cs typeface="Calibri"/>
              </a:rPr>
              <a:t>Getters and Setters</a:t>
            </a:r>
          </a:p>
          <a:p>
            <a:r>
              <a:rPr lang="en-US">
                <a:cs typeface="Calibri"/>
              </a:rPr>
              <a:t>Error Checking</a:t>
            </a:r>
          </a:p>
          <a:p>
            <a:r>
              <a:rPr lang="en-US">
                <a:cs typeface="Calibri"/>
              </a:rPr>
              <a:t>3 Overloading Constructors</a:t>
            </a:r>
          </a:p>
          <a:p>
            <a:r>
              <a:rPr lang="en-US">
                <a:cs typeface="Calibri"/>
              </a:rPr>
              <a:t>Lodge and withdraw methods to add/take from the balance</a:t>
            </a:r>
          </a:p>
        </p:txBody>
      </p:sp>
      <p:pic>
        <p:nvPicPr>
          <p:cNvPr id="5" name="Picture 4" descr="A picture containing screenshot&#10;&#10;Description generated with high confidence">
            <a:extLst>
              <a:ext uri="{FF2B5EF4-FFF2-40B4-BE49-F238E27FC236}">
                <a16:creationId xmlns:a16="http://schemas.microsoft.com/office/drawing/2014/main" id="{4FDCEB78-59F5-4F5B-AC39-6D9875605454}"/>
              </a:ext>
            </a:extLst>
          </p:cNvPr>
          <p:cNvPicPr>
            <a:picLocks noChangeAspect="1"/>
          </p:cNvPicPr>
          <p:nvPr/>
        </p:nvPicPr>
        <p:blipFill>
          <a:blip r:embed="rId2"/>
          <a:stretch>
            <a:fillRect/>
          </a:stretch>
        </p:blipFill>
        <p:spPr>
          <a:xfrm>
            <a:off x="4287986" y="2272170"/>
            <a:ext cx="7906765" cy="2212457"/>
          </a:xfrm>
          <a:prstGeom prst="rect">
            <a:avLst/>
          </a:prstGeom>
        </p:spPr>
      </p:pic>
    </p:spTree>
    <p:extLst>
      <p:ext uri="{BB962C8B-B14F-4D97-AF65-F5344CB8AC3E}">
        <p14:creationId xmlns:p14="http://schemas.microsoft.com/office/powerpoint/2010/main" val="33694940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3F7FC-69C6-4E77-BEAC-C9E5978F078B}"/>
              </a:ext>
            </a:extLst>
          </p:cNvPr>
          <p:cNvSpPr>
            <a:spLocks noGrp="1"/>
          </p:cNvSpPr>
          <p:nvPr>
            <p:ph type="title"/>
          </p:nvPr>
        </p:nvSpPr>
        <p:spPr/>
        <p:txBody>
          <a:bodyPr/>
          <a:lstStyle/>
          <a:p>
            <a:r>
              <a:rPr lang="en-IE"/>
              <a:t>Variables and Parameters</a:t>
            </a:r>
          </a:p>
        </p:txBody>
      </p:sp>
      <p:sp>
        <p:nvSpPr>
          <p:cNvPr id="3" name="Content Placeholder 2">
            <a:extLst>
              <a:ext uri="{FF2B5EF4-FFF2-40B4-BE49-F238E27FC236}">
                <a16:creationId xmlns:a16="http://schemas.microsoft.com/office/drawing/2014/main" id="{E2DEA481-E9D4-46EC-833D-AFF91EF1E3A2}"/>
              </a:ext>
            </a:extLst>
          </p:cNvPr>
          <p:cNvSpPr>
            <a:spLocks noGrp="1"/>
          </p:cNvSpPr>
          <p:nvPr>
            <p:ph idx="1"/>
          </p:nvPr>
        </p:nvSpPr>
        <p:spPr/>
        <p:txBody>
          <a:bodyPr/>
          <a:lstStyle/>
          <a:p>
            <a:r>
              <a:rPr lang="en-IE"/>
              <a:t>The “attributes” we spoke of earlier are instance variables- they can be seen by all methods in the class.</a:t>
            </a:r>
          </a:p>
          <a:p>
            <a:r>
              <a:rPr lang="en-IE"/>
              <a:t>Parameters are variables passed into the method, but they have </a:t>
            </a:r>
            <a:r>
              <a:rPr lang="en-IE" b="1" u="sng"/>
              <a:t>local scope</a:t>
            </a:r>
            <a:r>
              <a:rPr lang="en-IE"/>
              <a:t>: they are only seen inside the method! </a:t>
            </a:r>
          </a:p>
          <a:p>
            <a:endParaRPr lang="en-IE"/>
          </a:p>
        </p:txBody>
      </p:sp>
      <p:pic>
        <p:nvPicPr>
          <p:cNvPr id="4" name="Picture 3">
            <a:extLst>
              <a:ext uri="{FF2B5EF4-FFF2-40B4-BE49-F238E27FC236}">
                <a16:creationId xmlns:a16="http://schemas.microsoft.com/office/drawing/2014/main" id="{3A98A503-33E6-46E9-98C2-EB0FCF80EECC}"/>
              </a:ext>
            </a:extLst>
          </p:cNvPr>
          <p:cNvPicPr>
            <a:picLocks noChangeAspect="1"/>
          </p:cNvPicPr>
          <p:nvPr/>
        </p:nvPicPr>
        <p:blipFill>
          <a:blip r:embed="rId2"/>
          <a:stretch>
            <a:fillRect/>
          </a:stretch>
        </p:blipFill>
        <p:spPr>
          <a:xfrm>
            <a:off x="703288" y="3896362"/>
            <a:ext cx="5963477" cy="1397300"/>
          </a:xfrm>
          <a:prstGeom prst="rect">
            <a:avLst/>
          </a:prstGeom>
        </p:spPr>
      </p:pic>
      <p:sp>
        <p:nvSpPr>
          <p:cNvPr id="5" name="TextBox 4">
            <a:extLst>
              <a:ext uri="{FF2B5EF4-FFF2-40B4-BE49-F238E27FC236}">
                <a16:creationId xmlns:a16="http://schemas.microsoft.com/office/drawing/2014/main" id="{E6A24EA5-D67C-4346-AF36-C82BDA566848}"/>
              </a:ext>
            </a:extLst>
          </p:cNvPr>
          <p:cNvSpPr txBox="1"/>
          <p:nvPr/>
        </p:nvSpPr>
        <p:spPr>
          <a:xfrm>
            <a:off x="7041520" y="3815219"/>
            <a:ext cx="4687035" cy="3046988"/>
          </a:xfrm>
          <a:prstGeom prst="rect">
            <a:avLst/>
          </a:prstGeom>
          <a:noFill/>
        </p:spPr>
        <p:txBody>
          <a:bodyPr wrap="square" rtlCol="0">
            <a:spAutoFit/>
          </a:bodyPr>
          <a:lstStyle/>
          <a:p>
            <a:pPr marL="285750" indent="-285750">
              <a:buFont typeface="Arial" panose="020B0604020202020204" pitchFamily="34" charset="0"/>
              <a:buChar char="•"/>
            </a:pPr>
            <a:r>
              <a:rPr lang="en-IE" sz="2400"/>
              <a:t>‘n’ cannot be used anywhere in our code, as it only applies inside the </a:t>
            </a:r>
            <a:r>
              <a:rPr lang="en-IE" sz="2400" err="1"/>
              <a:t>setName</a:t>
            </a:r>
            <a:r>
              <a:rPr lang="en-IE" sz="2400"/>
              <a:t> method. </a:t>
            </a:r>
          </a:p>
          <a:p>
            <a:pPr marL="285750" indent="-285750">
              <a:buFont typeface="Arial" panose="020B0604020202020204" pitchFamily="34" charset="0"/>
              <a:buChar char="•"/>
            </a:pPr>
            <a:endParaRPr lang="en-IE" sz="2400"/>
          </a:p>
          <a:p>
            <a:pPr marL="285750" indent="-285750">
              <a:buFont typeface="Arial" panose="020B0604020202020204" pitchFamily="34" charset="0"/>
              <a:buChar char="•"/>
            </a:pPr>
            <a:r>
              <a:rPr lang="en-IE" sz="2400"/>
              <a:t>Here it is used to change the value of the field variable ‘name’, but once we exit </a:t>
            </a:r>
            <a:r>
              <a:rPr lang="en-IE" sz="2400" err="1"/>
              <a:t>setName</a:t>
            </a:r>
            <a:r>
              <a:rPr lang="en-IE" sz="2400"/>
              <a:t>, ‘n’ no longer exists.</a:t>
            </a:r>
          </a:p>
        </p:txBody>
      </p:sp>
    </p:spTree>
    <p:extLst>
      <p:ext uri="{BB962C8B-B14F-4D97-AF65-F5344CB8AC3E}">
        <p14:creationId xmlns:p14="http://schemas.microsoft.com/office/powerpoint/2010/main" val="63104528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C1F41-2933-4536-AD26-486F5E7AAE5D}"/>
              </a:ext>
            </a:extLst>
          </p:cNvPr>
          <p:cNvSpPr>
            <a:spLocks noGrp="1"/>
          </p:cNvSpPr>
          <p:nvPr>
            <p:ph type="title"/>
          </p:nvPr>
        </p:nvSpPr>
        <p:spPr/>
        <p:txBody>
          <a:bodyPr/>
          <a:lstStyle/>
          <a:p>
            <a:r>
              <a:rPr lang="en-IE"/>
              <a:t>Variable and Parameter naming</a:t>
            </a:r>
          </a:p>
        </p:txBody>
      </p:sp>
      <p:sp>
        <p:nvSpPr>
          <p:cNvPr id="3" name="Content Placeholder 2">
            <a:extLst>
              <a:ext uri="{FF2B5EF4-FFF2-40B4-BE49-F238E27FC236}">
                <a16:creationId xmlns:a16="http://schemas.microsoft.com/office/drawing/2014/main" id="{5E849C8A-5824-4958-8112-E6F327B31DB0}"/>
              </a:ext>
            </a:extLst>
          </p:cNvPr>
          <p:cNvSpPr>
            <a:spLocks noGrp="1"/>
          </p:cNvSpPr>
          <p:nvPr>
            <p:ph idx="1"/>
          </p:nvPr>
        </p:nvSpPr>
        <p:spPr/>
        <p:txBody>
          <a:bodyPr>
            <a:normAutofit/>
          </a:bodyPr>
          <a:lstStyle/>
          <a:p>
            <a:r>
              <a:rPr lang="en-IE"/>
              <a:t>There are different conventions for naming variables</a:t>
            </a:r>
          </a:p>
          <a:p>
            <a:r>
              <a:rPr lang="en-IE" err="1"/>
              <a:t>theName</a:t>
            </a:r>
            <a:r>
              <a:rPr lang="en-IE"/>
              <a:t>, </a:t>
            </a:r>
            <a:r>
              <a:rPr lang="en-IE" err="1"/>
              <a:t>theAddress</a:t>
            </a:r>
            <a:r>
              <a:rPr lang="en-IE"/>
              <a:t>, </a:t>
            </a:r>
            <a:r>
              <a:rPr lang="en-IE" err="1"/>
              <a:t>thePhoneNumber</a:t>
            </a:r>
            <a:endParaRPr lang="en-IE"/>
          </a:p>
          <a:p>
            <a:r>
              <a:rPr lang="en-IE"/>
              <a:t>name, address, </a:t>
            </a:r>
            <a:r>
              <a:rPr lang="en-IE" err="1"/>
              <a:t>phoneNumber</a:t>
            </a:r>
            <a:endParaRPr lang="en-IE"/>
          </a:p>
          <a:p>
            <a:endParaRPr lang="en-IE"/>
          </a:p>
          <a:p>
            <a:r>
              <a:rPr lang="en-IE"/>
              <a:t>One common convention however, is all variables must start with lower case.</a:t>
            </a:r>
          </a:p>
          <a:p>
            <a:r>
              <a:rPr lang="en-IE"/>
              <a:t>You may </a:t>
            </a:r>
            <a:r>
              <a:rPr lang="en-IE" err="1"/>
              <a:t>useCamelCase</a:t>
            </a:r>
            <a:r>
              <a:rPr lang="en-IE"/>
              <a:t> or </a:t>
            </a:r>
            <a:r>
              <a:rPr lang="en-IE" err="1"/>
              <a:t>use_underscore</a:t>
            </a:r>
            <a:r>
              <a:rPr lang="en-IE"/>
              <a:t> but you must </a:t>
            </a:r>
            <a:r>
              <a:rPr lang="en-IE" err="1"/>
              <a:t>useoneofthem</a:t>
            </a:r>
            <a:r>
              <a:rPr lang="en-IE"/>
              <a:t>! Otherwise </a:t>
            </a:r>
            <a:r>
              <a:rPr lang="en-IE" err="1"/>
              <a:t>theyaretoohardtoread</a:t>
            </a:r>
            <a:r>
              <a:rPr lang="en-IE"/>
              <a:t> and </a:t>
            </a:r>
            <a:r>
              <a:rPr lang="en-IE" err="1"/>
              <a:t>maybereadincorrectly</a:t>
            </a:r>
            <a:endParaRPr lang="en-IE"/>
          </a:p>
          <a:p>
            <a:endParaRPr lang="en-IE"/>
          </a:p>
        </p:txBody>
      </p:sp>
    </p:spTree>
    <p:extLst>
      <p:ext uri="{BB962C8B-B14F-4D97-AF65-F5344CB8AC3E}">
        <p14:creationId xmlns:p14="http://schemas.microsoft.com/office/powerpoint/2010/main" val="21737443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2106E-EE3D-40A7-B682-EDD887C87EC8}"/>
              </a:ext>
            </a:extLst>
          </p:cNvPr>
          <p:cNvSpPr>
            <a:spLocks noGrp="1"/>
          </p:cNvSpPr>
          <p:nvPr>
            <p:ph type="title"/>
          </p:nvPr>
        </p:nvSpPr>
        <p:spPr/>
        <p:txBody>
          <a:bodyPr/>
          <a:lstStyle/>
          <a:p>
            <a:r>
              <a:rPr lang="en-IE"/>
              <a:t>The ‘this’ keyword</a:t>
            </a:r>
          </a:p>
        </p:txBody>
      </p:sp>
      <p:sp>
        <p:nvSpPr>
          <p:cNvPr id="3" name="Content Placeholder 2">
            <a:extLst>
              <a:ext uri="{FF2B5EF4-FFF2-40B4-BE49-F238E27FC236}">
                <a16:creationId xmlns:a16="http://schemas.microsoft.com/office/drawing/2014/main" id="{EF3496CA-0733-40C2-AA71-C610FAD740F5}"/>
              </a:ext>
            </a:extLst>
          </p:cNvPr>
          <p:cNvSpPr>
            <a:spLocks noGrp="1"/>
          </p:cNvSpPr>
          <p:nvPr>
            <p:ph idx="1"/>
          </p:nvPr>
        </p:nvSpPr>
        <p:spPr/>
        <p:txBody>
          <a:bodyPr/>
          <a:lstStyle/>
          <a:p>
            <a:r>
              <a:rPr lang="en-IE"/>
              <a:t>When assigning values to the object </a:t>
            </a:r>
            <a:r>
              <a:rPr lang="en-IE" err="1"/>
              <a:t>theName</a:t>
            </a:r>
            <a:r>
              <a:rPr lang="en-IE"/>
              <a:t> = </a:t>
            </a:r>
            <a:r>
              <a:rPr lang="en-IE" err="1"/>
              <a:t>theName</a:t>
            </a:r>
            <a:r>
              <a:rPr lang="en-IE"/>
              <a:t> won’t work – it cannot differentiate between the instance variable and parameter.</a:t>
            </a:r>
          </a:p>
          <a:p>
            <a:endParaRPr lang="en-IE"/>
          </a:p>
          <a:p>
            <a:endParaRPr lang="en-IE"/>
          </a:p>
          <a:p>
            <a:endParaRPr lang="en-IE"/>
          </a:p>
          <a:p>
            <a:r>
              <a:rPr lang="en-IE"/>
              <a:t>‘this’ fixes that however, by explicitly stating “name of ‘this’ object is name”</a:t>
            </a:r>
          </a:p>
          <a:p>
            <a:endParaRPr lang="en-IE"/>
          </a:p>
          <a:p>
            <a:pPr marL="0" indent="0">
              <a:buNone/>
            </a:pPr>
            <a:endParaRPr lang="en-IE"/>
          </a:p>
        </p:txBody>
      </p:sp>
      <p:pic>
        <p:nvPicPr>
          <p:cNvPr id="5" name="Picture 4">
            <a:extLst>
              <a:ext uri="{FF2B5EF4-FFF2-40B4-BE49-F238E27FC236}">
                <a16:creationId xmlns:a16="http://schemas.microsoft.com/office/drawing/2014/main" id="{4693C4E9-C04A-4EE4-B22C-88FD2FC8F1FF}"/>
              </a:ext>
            </a:extLst>
          </p:cNvPr>
          <p:cNvPicPr>
            <a:picLocks noChangeAspect="1"/>
          </p:cNvPicPr>
          <p:nvPr/>
        </p:nvPicPr>
        <p:blipFill>
          <a:blip r:embed="rId2"/>
          <a:stretch>
            <a:fillRect/>
          </a:stretch>
        </p:blipFill>
        <p:spPr>
          <a:xfrm>
            <a:off x="838200" y="3231032"/>
            <a:ext cx="6314972" cy="1204977"/>
          </a:xfrm>
          <a:prstGeom prst="rect">
            <a:avLst/>
          </a:prstGeom>
        </p:spPr>
      </p:pic>
      <p:pic>
        <p:nvPicPr>
          <p:cNvPr id="6" name="Picture 5">
            <a:extLst>
              <a:ext uri="{FF2B5EF4-FFF2-40B4-BE49-F238E27FC236}">
                <a16:creationId xmlns:a16="http://schemas.microsoft.com/office/drawing/2014/main" id="{04629C0D-0A01-415F-BCC1-CAE9FC131C89}"/>
              </a:ext>
            </a:extLst>
          </p:cNvPr>
          <p:cNvPicPr>
            <a:picLocks noChangeAspect="1"/>
          </p:cNvPicPr>
          <p:nvPr/>
        </p:nvPicPr>
        <p:blipFill>
          <a:blip r:embed="rId3"/>
          <a:stretch>
            <a:fillRect/>
          </a:stretch>
        </p:blipFill>
        <p:spPr>
          <a:xfrm>
            <a:off x="2801912" y="5366349"/>
            <a:ext cx="5547610" cy="1126526"/>
          </a:xfrm>
          <a:prstGeom prst="rect">
            <a:avLst/>
          </a:prstGeom>
        </p:spPr>
      </p:pic>
    </p:spTree>
    <p:extLst>
      <p:ext uri="{BB962C8B-B14F-4D97-AF65-F5344CB8AC3E}">
        <p14:creationId xmlns:p14="http://schemas.microsoft.com/office/powerpoint/2010/main" val="26622189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464F8-2E29-466D-B595-1805BE6F6254}"/>
              </a:ext>
            </a:extLst>
          </p:cNvPr>
          <p:cNvSpPr>
            <a:spLocks noGrp="1"/>
          </p:cNvSpPr>
          <p:nvPr>
            <p:ph type="title"/>
          </p:nvPr>
        </p:nvSpPr>
        <p:spPr/>
        <p:txBody>
          <a:bodyPr/>
          <a:lstStyle/>
          <a:p>
            <a:r>
              <a:rPr lang="en-IE"/>
              <a:t>The ‘this’ keyword</a:t>
            </a:r>
          </a:p>
        </p:txBody>
      </p:sp>
      <p:sp>
        <p:nvSpPr>
          <p:cNvPr id="3" name="Content Placeholder 2">
            <a:extLst>
              <a:ext uri="{FF2B5EF4-FFF2-40B4-BE49-F238E27FC236}">
                <a16:creationId xmlns:a16="http://schemas.microsoft.com/office/drawing/2014/main" id="{C3F07852-7208-4C8A-92A2-698136EB2CD5}"/>
              </a:ext>
            </a:extLst>
          </p:cNvPr>
          <p:cNvSpPr>
            <a:spLocks noGrp="1"/>
          </p:cNvSpPr>
          <p:nvPr>
            <p:ph idx="1"/>
          </p:nvPr>
        </p:nvSpPr>
        <p:spPr/>
        <p:txBody>
          <a:bodyPr/>
          <a:lstStyle/>
          <a:p>
            <a:r>
              <a:rPr lang="en-IE"/>
              <a:t>Person p1 = new Person();</a:t>
            </a:r>
          </a:p>
          <a:p>
            <a:endParaRPr lang="en-IE"/>
          </a:p>
          <a:p>
            <a:r>
              <a:rPr lang="en-IE"/>
              <a:t>p1.setName(“Peter”);</a:t>
            </a:r>
          </a:p>
          <a:p>
            <a:endParaRPr lang="en-IE"/>
          </a:p>
          <a:p>
            <a:r>
              <a:rPr lang="en-IE"/>
              <a:t>“the name of ‘this’ Person (p1) is Peter.</a:t>
            </a:r>
          </a:p>
          <a:p>
            <a:endParaRPr lang="en-IE"/>
          </a:p>
          <a:p>
            <a:r>
              <a:rPr lang="en-IE"/>
              <a:t>Eliminates confusion between instance variables and parameters.</a:t>
            </a:r>
          </a:p>
          <a:p>
            <a:r>
              <a:rPr lang="en-IE"/>
              <a:t>Once assigned, “Peter” is now an instance variable of p1.</a:t>
            </a:r>
          </a:p>
          <a:p>
            <a:endParaRPr lang="en-IE"/>
          </a:p>
        </p:txBody>
      </p:sp>
    </p:spTree>
    <p:extLst>
      <p:ext uri="{BB962C8B-B14F-4D97-AF65-F5344CB8AC3E}">
        <p14:creationId xmlns:p14="http://schemas.microsoft.com/office/powerpoint/2010/main" val="8676197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BC268-5655-412F-A01D-4F26963869AA}"/>
              </a:ext>
            </a:extLst>
          </p:cNvPr>
          <p:cNvSpPr>
            <a:spLocks noGrp="1"/>
          </p:cNvSpPr>
          <p:nvPr>
            <p:ph type="title"/>
          </p:nvPr>
        </p:nvSpPr>
        <p:spPr/>
        <p:txBody>
          <a:bodyPr/>
          <a:lstStyle/>
          <a:p>
            <a:r>
              <a:rPr lang="en-IE"/>
              <a:t>Different variable types</a:t>
            </a:r>
          </a:p>
        </p:txBody>
      </p:sp>
      <p:sp>
        <p:nvSpPr>
          <p:cNvPr id="3" name="Content Placeholder 2">
            <a:extLst>
              <a:ext uri="{FF2B5EF4-FFF2-40B4-BE49-F238E27FC236}">
                <a16:creationId xmlns:a16="http://schemas.microsoft.com/office/drawing/2014/main" id="{47501AFA-065D-4E6F-B2AD-B32C0F518469}"/>
              </a:ext>
            </a:extLst>
          </p:cNvPr>
          <p:cNvSpPr>
            <a:spLocks noGrp="1"/>
          </p:cNvSpPr>
          <p:nvPr>
            <p:ph idx="1"/>
          </p:nvPr>
        </p:nvSpPr>
        <p:spPr/>
        <p:txBody>
          <a:bodyPr>
            <a:normAutofit lnSpcReduction="10000"/>
          </a:bodyPr>
          <a:lstStyle/>
          <a:p>
            <a:r>
              <a:rPr lang="en-IE" b="1" u="sng"/>
              <a:t>Field Variable:</a:t>
            </a:r>
            <a:r>
              <a:rPr lang="en-IE" b="1"/>
              <a:t> </a:t>
            </a:r>
            <a:r>
              <a:rPr lang="en-IE"/>
              <a:t>variables in a class, outside of methods, can be seen by all methods, do not belong to objects like instance variables</a:t>
            </a:r>
          </a:p>
          <a:p>
            <a:endParaRPr lang="en-IE"/>
          </a:p>
          <a:p>
            <a:r>
              <a:rPr lang="en-IE" b="1" u="sng"/>
              <a:t>Instance Variable:</a:t>
            </a:r>
            <a:r>
              <a:rPr lang="en-IE"/>
              <a:t> like field variables, but variables belong to the instance of an object – can be unique for each object:</a:t>
            </a:r>
          </a:p>
          <a:p>
            <a:pPr lvl="1"/>
            <a:r>
              <a:rPr lang="en-IE"/>
              <a:t>p1.getName() //”John”</a:t>
            </a:r>
          </a:p>
          <a:p>
            <a:pPr lvl="1"/>
            <a:r>
              <a:rPr lang="en-IE"/>
              <a:t>p2.getName() //”Peter”</a:t>
            </a:r>
          </a:p>
          <a:p>
            <a:pPr lvl="1"/>
            <a:endParaRPr lang="en-IE"/>
          </a:p>
          <a:p>
            <a:r>
              <a:rPr lang="en-IE" b="1" u="sng"/>
              <a:t>Class Variable: </a:t>
            </a:r>
            <a:r>
              <a:rPr lang="en-IE"/>
              <a:t>variable belongs to a class, but not a specific object. Often used as a counter – what ID is to be used for the next registration (uses static keyword. More on this later)</a:t>
            </a:r>
          </a:p>
        </p:txBody>
      </p:sp>
    </p:spTree>
    <p:extLst>
      <p:ext uri="{BB962C8B-B14F-4D97-AF65-F5344CB8AC3E}">
        <p14:creationId xmlns:p14="http://schemas.microsoft.com/office/powerpoint/2010/main" val="33209075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1889</Words>
  <Application>Microsoft Office PowerPoint</Application>
  <PresentationFormat>Widescreen</PresentationFormat>
  <Paragraphs>353</Paragraphs>
  <Slides>44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44</vt:i4>
      </vt:variant>
    </vt:vector>
  </HeadingPairs>
  <TitlesOfParts>
    <vt:vector size="48" baseType="lpstr">
      <vt:lpstr>Arial</vt:lpstr>
      <vt:lpstr>Calibri</vt:lpstr>
      <vt:lpstr>Calibri Light</vt:lpstr>
      <vt:lpstr>Office Theme</vt:lpstr>
      <vt:lpstr>Software Development 3</vt:lpstr>
      <vt:lpstr>Design Approaches</vt:lpstr>
      <vt:lpstr>What is a Class?</vt:lpstr>
      <vt:lpstr>Class Example</vt:lpstr>
      <vt:lpstr>What is an Object?</vt:lpstr>
      <vt:lpstr>What is an Object?</vt:lpstr>
      <vt:lpstr>What is an Object?</vt:lpstr>
      <vt:lpstr>Data the object stores: </vt:lpstr>
      <vt:lpstr>Our Car Objects as rows in a Database….</vt:lpstr>
      <vt:lpstr>Person Class</vt:lpstr>
      <vt:lpstr>Visibility of methods</vt:lpstr>
      <vt:lpstr>Methods</vt:lpstr>
      <vt:lpstr>Creating an Object</vt:lpstr>
      <vt:lpstr>Constructors</vt:lpstr>
      <vt:lpstr>Overloading</vt:lpstr>
      <vt:lpstr>Creating an Object</vt:lpstr>
      <vt:lpstr>Calling Methods</vt:lpstr>
      <vt:lpstr>Calling Methods</vt:lpstr>
      <vt:lpstr>Exercises</vt:lpstr>
      <vt:lpstr>Encapsulation</vt:lpstr>
      <vt:lpstr>Getters and Setters</vt:lpstr>
      <vt:lpstr>Getters and Setters</vt:lpstr>
      <vt:lpstr>Getters and Setters</vt:lpstr>
      <vt:lpstr>Getters and Setters continued</vt:lpstr>
      <vt:lpstr>Exercise</vt:lpstr>
      <vt:lpstr>Explaining what I mean…. </vt:lpstr>
      <vt:lpstr>Visibility in detail</vt:lpstr>
      <vt:lpstr>Visibility</vt:lpstr>
      <vt:lpstr>Visibility</vt:lpstr>
      <vt:lpstr>Visibility</vt:lpstr>
      <vt:lpstr>Visibility</vt:lpstr>
      <vt:lpstr>Imagine….</vt:lpstr>
      <vt:lpstr>Simple Bank Account</vt:lpstr>
      <vt:lpstr>Simple Bank Account</vt:lpstr>
      <vt:lpstr>Testing….</vt:lpstr>
      <vt:lpstr>Error Checking Lodging</vt:lpstr>
      <vt:lpstr>Error Checking Withdrawing</vt:lpstr>
      <vt:lpstr>Testing….</vt:lpstr>
      <vt:lpstr>Exercise</vt:lpstr>
      <vt:lpstr>Variables and Parameters</vt:lpstr>
      <vt:lpstr>Variable and Parameter naming</vt:lpstr>
      <vt:lpstr>The ‘this’ keyword</vt:lpstr>
      <vt:lpstr>The ‘this’ keyword</vt:lpstr>
      <vt:lpstr>Different variable types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Development 3</dc:title>
  <dc:creator>CURRAN, MARTINA</dc:creator>
  <cp:lastModifiedBy>CURRAN, MARTINA</cp:lastModifiedBy>
  <cp:revision>2</cp:revision>
  <dcterms:created xsi:type="dcterms:W3CDTF">2019-08-29T11:54:32Z</dcterms:created>
  <dcterms:modified xsi:type="dcterms:W3CDTF">2019-09-11T11:11:34Z</dcterms:modified>
</cp:coreProperties>
</file>